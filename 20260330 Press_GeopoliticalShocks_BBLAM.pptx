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6" r:id="rId3"/>
    <p:sldId id="277" r:id="rId4"/>
    <p:sldId id="278" r:id="rId5"/>
    <p:sldId id="279" r:id="rId6"/>
    <p:sldId id="275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16x9"/>
  <p:notesSz cx="6807200" cy="99393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A6B"/>
    <a:srgbClr val="FFFFFF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07FC7-0AD6-407D-AC6D-BC9740FC681C}" v="1" dt="2026-03-31T02:25:48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0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T 295" userId="51761b2db79a49e1" providerId="LiveId" clId="{A7EDF262-5755-4CED-AE35-4458901E824D}"/>
    <pc:docChg chg="custSel modSld">
      <pc:chgData name="MT 295" userId="51761b2db79a49e1" providerId="LiveId" clId="{A7EDF262-5755-4CED-AE35-4458901E824D}" dt="2026-03-31T02:32:37.838" v="12" actId="1076"/>
      <pc:docMkLst>
        <pc:docMk/>
      </pc:docMkLst>
      <pc:sldChg chg="addSp delSp modSp mod">
        <pc:chgData name="MT 295" userId="51761b2db79a49e1" providerId="LiveId" clId="{A7EDF262-5755-4CED-AE35-4458901E824D}" dt="2026-03-31T02:32:37.838" v="12" actId="1076"/>
        <pc:sldMkLst>
          <pc:docMk/>
          <pc:sldMk cId="0" sldId="256"/>
        </pc:sldMkLst>
        <pc:picChg chg="add del mod">
          <ac:chgData name="MT 295" userId="51761b2db79a49e1" providerId="LiveId" clId="{A7EDF262-5755-4CED-AE35-4458901E824D}" dt="2026-03-31T02:32:22.251" v="6" actId="478"/>
          <ac:picMkLst>
            <pc:docMk/>
            <pc:sldMk cId="0" sldId="256"/>
            <ac:picMk id="9" creationId="{1782FEAD-2B54-4D8E-2FC4-E8981B03FEBC}"/>
          </ac:picMkLst>
        </pc:picChg>
        <pc:picChg chg="add mod">
          <ac:chgData name="MT 295" userId="51761b2db79a49e1" providerId="LiveId" clId="{A7EDF262-5755-4CED-AE35-4458901E824D}" dt="2026-03-31T02:32:37.838" v="12" actId="1076"/>
          <ac:picMkLst>
            <pc:docMk/>
            <pc:sldMk cId="0" sldId="256"/>
            <ac:picMk id="11" creationId="{30EBE660-2993-A868-355E-17E9FDCB6F5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th-TH"/>
              <a:t>สัดส่วนการใช้พลังงานขั้นสุดท้าย (</a:t>
            </a:r>
            <a:r>
              <a:rPr lang="en-US"/>
              <a:t>TFEC)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TFEC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9A-4842-83FB-AA3B2AECF39B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9A-4842-83FB-AA3B2AECF39B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9A-4842-83FB-AA3B2AECF39B}"/>
              </c:ext>
            </c:extLst>
          </c:dPt>
          <c:dPt>
            <c:idx val="3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9A-4842-83FB-AA3B2AECF39B}"/>
              </c:ext>
            </c:extLst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9A-4842-83FB-AA3B2AECF39B}"/>
              </c:ext>
            </c:extLst>
          </c:dPt>
          <c:dPt>
            <c:idx val="5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59A-4842-83FB-AA3B2AECF39B}"/>
              </c:ext>
            </c:extLst>
          </c:dPt>
          <c:cat>
            <c:strRef>
              <c:f>Sheet1!$A$2:$A$7</c:f>
              <c:strCache>
                <c:ptCount val="6"/>
                <c:pt idx="0">
                  <c:v>ขนส่ง 33%</c:v>
                </c:pt>
                <c:pt idx="1">
                  <c:v>อุตสาหกรรม 29%</c:v>
                </c:pt>
                <c:pt idx="2">
                  <c:v>ที่อยู่อาศัย 13%</c:v>
                </c:pt>
                <c:pt idx="3">
                  <c:v>อื่นๆ 12%</c:v>
                </c:pt>
                <c:pt idx="4">
                  <c:v>พาณิชย์ 8%</c:v>
                </c:pt>
                <c:pt idx="5">
                  <c:v>เกษตร 5%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29</c:v>
                </c:pt>
                <c:pt idx="2">
                  <c:v>13</c:v>
                </c:pt>
                <c:pt idx="3">
                  <c:v>12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59A-4842-83FB-AA3B2AECF3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txPr>
    <a:bodyPr/>
    <a:lstStyle/>
    <a:p>
      <a:pPr>
        <a:defRPr baseline="0"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879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07DA-84D0-3CBB-4C3D-E9F7ABFF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40B47-4F46-FF90-AC17-3BD047977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0CAED-77F8-51E6-B69B-E376A6B53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318F8-205A-950F-4780-11441EF0C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54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177" tIns="53588" rIns="107177" bIns="53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177" tIns="53588" rIns="107177" bIns="53588"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 descr="Hanging light bulbs with only one light bulb turned on">
            <a:extLst>
              <a:ext uri="{FF2B5EF4-FFF2-40B4-BE49-F238E27FC236}">
                <a16:creationId xmlns:a16="http://schemas.microsoft.com/office/drawing/2014/main" id="{EB3E29C1-4489-D501-4629-27CB1D26A599}"/>
              </a:ext>
            </a:extLst>
          </p:cNvPr>
          <p:cNvSpPr/>
          <p:nvPr/>
        </p:nvSpPr>
        <p:spPr>
          <a:xfrm>
            <a:off x="3630168" y="0"/>
            <a:ext cx="5567620" cy="514022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566160" y="0"/>
            <a:ext cx="6400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</a:t>
            </a:r>
            <a:endParaRPr lang="en-US" sz="1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581DE7D-1B1F-E58C-7FE7-1D43950FBC4F}"/>
              </a:ext>
            </a:extLst>
          </p:cNvPr>
          <p:cNvGrpSpPr/>
          <p:nvPr/>
        </p:nvGrpSpPr>
        <p:grpSpPr>
          <a:xfrm>
            <a:off x="5759928" y="3840480"/>
            <a:ext cx="3063240" cy="685800"/>
            <a:chOff x="365760" y="3840480"/>
            <a:chExt cx="3063240" cy="685800"/>
          </a:xfrm>
        </p:grpSpPr>
        <p:sp>
          <p:nvSpPr>
            <p:cNvPr id="7" name="Text 5"/>
            <p:cNvSpPr/>
            <p:nvPr/>
          </p:nvSpPr>
          <p:spPr>
            <a:xfrm>
              <a:off x="365760" y="3840480"/>
              <a:ext cx="3063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Prepared by: Chief Economist, BBL Asset Management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365760" y="4251960"/>
              <a:ext cx="3063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มีนาคม 2569  |  March 2026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F19950D4-ED39-481E-66A7-122D31A34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4389120"/>
            <a:ext cx="1947849" cy="751104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47685DCE-EDF4-7F78-2825-C66C2CF6AC50}"/>
              </a:ext>
            </a:extLst>
          </p:cNvPr>
          <p:cNvGrpSpPr/>
          <p:nvPr/>
        </p:nvGrpSpPr>
        <p:grpSpPr>
          <a:xfrm>
            <a:off x="5698456" y="1490472"/>
            <a:ext cx="3076956" cy="1481328"/>
            <a:chOff x="365760" y="1490472"/>
            <a:chExt cx="3076956" cy="1481328"/>
          </a:xfrm>
        </p:grpSpPr>
        <p:sp>
          <p:nvSpPr>
            <p:cNvPr id="6" name="Text 4"/>
            <p:cNvSpPr/>
            <p:nvPr/>
          </p:nvSpPr>
          <p:spPr>
            <a:xfrm>
              <a:off x="379476" y="1874520"/>
              <a:ext cx="30632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th-TH" sz="14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แก้เกมเศรษฐกิจสู่วิธีลงทุนอย่างไรให้รอด </a:t>
              </a:r>
              <a:endPara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Text 4">
              <a:extLst>
                <a:ext uri="{FF2B5EF4-FFF2-40B4-BE49-F238E27FC236}">
                  <a16:creationId xmlns:a16="http://schemas.microsoft.com/office/drawing/2014/main" id="{24130B4A-1C6F-15FB-FE41-D615991C019A}"/>
                </a:ext>
              </a:extLst>
            </p:cNvPr>
            <p:cNvSpPr/>
            <p:nvPr/>
          </p:nvSpPr>
          <p:spPr>
            <a:xfrm>
              <a:off x="365760" y="1490472"/>
              <a:ext cx="30632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th-TH" sz="2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สงครามลามถึงพอร์ต</a:t>
              </a:r>
              <a:endPara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0EBE660-2993-A868-355E-17E9FDCB6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832" y="3031912"/>
            <a:ext cx="1494368" cy="1494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00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How Markets Navigate Geopolitical Shocks</a:t>
            </a:r>
          </a:p>
        </p:txBody>
      </p:sp>
      <p:sp>
        <p:nvSpPr>
          <p:cNvPr id="5" name="Text Subtitle"/>
          <p:cNvSpPr/>
          <p:nvPr/>
        </p:nvSpPr>
        <p:spPr>
          <a:xfrm>
            <a:off x="320040" y="650000"/>
            <a:ext cx="60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554A0"/>
                </a:solidFill>
                <a:latin typeface="Calibri" pitchFamily="34" charset="0"/>
              </a:rPr>
              <a:t>The 3-Phase Response Framework</a:t>
            </a:r>
          </a:p>
        </p:txBody>
      </p:sp>
      <p:sp>
        <p:nvSpPr>
          <p:cNvPr id="6" name="Shape Line"/>
          <p:cNvSpPr/>
          <p:nvPr/>
        </p:nvSpPr>
        <p:spPr>
          <a:xfrm>
            <a:off x="182880" y="970000"/>
            <a:ext cx="8778240" cy="18288"/>
          </a:xfrm>
          <a:prstGeom prst="rect">
            <a:avLst/>
          </a:prstGeom>
          <a:solidFill>
            <a:srgbClr val="255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Card1Bg"/>
          <p:cNvSpPr/>
          <p:nvPr/>
        </p:nvSpPr>
        <p:spPr>
          <a:xfrm>
            <a:off x="182880" y="104000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1Bar"/>
          <p:cNvSpPr/>
          <p:nvPr/>
        </p:nvSpPr>
        <p:spPr>
          <a:xfrm>
            <a:off x="182880" y="1040000"/>
            <a:ext cx="2834640" cy="91440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1Num"/>
          <p:cNvSpPr/>
          <p:nvPr/>
        </p:nvSpPr>
        <p:spPr>
          <a:xfrm>
            <a:off x="320040" y="117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3C67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13" name="Card1Label"/>
          <p:cNvSpPr/>
          <p:nvPr/>
        </p:nvSpPr>
        <p:spPr>
          <a:xfrm>
            <a:off x="320040" y="1897560"/>
            <a:ext cx="1188720" cy="256032"/>
          </a:xfrm>
          <a:prstGeom prst="rect">
            <a:avLst/>
          </a:prstGeom>
          <a:solidFill>
            <a:srgbClr val="EF3C67"/>
          </a:solidFill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FLEE</a:t>
            </a:r>
          </a:p>
        </p:txBody>
      </p:sp>
      <p:sp>
        <p:nvSpPr>
          <p:cNvPr id="14" name="Card1Title"/>
          <p:cNvSpPr/>
          <p:nvPr/>
        </p:nvSpPr>
        <p:spPr>
          <a:xfrm>
            <a:off x="320040" y="2230000"/>
            <a:ext cx="2500000" cy="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</a:rPr>
              <a:t>Markets Sell First</a:t>
            </a:r>
          </a:p>
        </p:txBody>
      </p:sp>
      <p:sp>
        <p:nvSpPr>
          <p:cNvPr id="15" name="Card1Div"/>
          <p:cNvSpPr/>
          <p:nvPr/>
        </p:nvSpPr>
        <p:spPr>
          <a:xfrm>
            <a:off x="320040" y="3040000"/>
            <a:ext cx="25000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ard1Body"/>
          <p:cNvSpPr/>
          <p:nvPr/>
        </p:nvSpPr>
        <p:spPr>
          <a:xfrm>
            <a:off x="320040" y="3080000"/>
            <a:ext cx="25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Indiscriminate risk-off. No distinction between strong &amp; weak countries.</a:t>
            </a:r>
          </a:p>
        </p:txBody>
      </p:sp>
      <p:sp>
        <p:nvSpPr>
          <p:cNvPr id="17" name="Card1Duration"/>
          <p:cNvSpPr/>
          <p:nvPr/>
        </p:nvSpPr>
        <p:spPr>
          <a:xfrm>
            <a:off x="320040" y="4750000"/>
            <a:ext cx="13716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0–72 hrs</a:t>
            </a:r>
          </a:p>
        </p:txBody>
      </p:sp>
      <p:sp>
        <p:nvSpPr>
          <p:cNvPr id="20" name="Card2Bg"/>
          <p:cNvSpPr/>
          <p:nvPr/>
        </p:nvSpPr>
        <p:spPr>
          <a:xfrm>
            <a:off x="3154680" y="104000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ard2Bar"/>
          <p:cNvSpPr/>
          <p:nvPr/>
        </p:nvSpPr>
        <p:spPr>
          <a:xfrm>
            <a:off x="3154680" y="1040000"/>
            <a:ext cx="2834640" cy="914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2Num"/>
          <p:cNvSpPr/>
          <p:nvPr/>
        </p:nvSpPr>
        <p:spPr>
          <a:xfrm>
            <a:off x="3291840" y="117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600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23" name="Card2Label"/>
          <p:cNvSpPr/>
          <p:nvPr/>
        </p:nvSpPr>
        <p:spPr>
          <a:xfrm>
            <a:off x="3291840" y="1897560"/>
            <a:ext cx="1188720" cy="256032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FEAR</a:t>
            </a:r>
          </a:p>
        </p:txBody>
      </p:sp>
      <p:sp>
        <p:nvSpPr>
          <p:cNvPr id="24" name="Card2Title"/>
          <p:cNvSpPr/>
          <p:nvPr/>
        </p:nvSpPr>
        <p:spPr>
          <a:xfrm>
            <a:off x="3291840" y="2230000"/>
            <a:ext cx="2500000" cy="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</a:rPr>
              <a:t>Markets Price Tail Risk</a:t>
            </a:r>
          </a:p>
        </p:txBody>
      </p:sp>
      <p:sp>
        <p:nvSpPr>
          <p:cNvPr id="25" name="Card2Div"/>
          <p:cNvSpPr/>
          <p:nvPr/>
        </p:nvSpPr>
        <p:spPr>
          <a:xfrm>
            <a:off x="3291840" y="3040000"/>
            <a:ext cx="25000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Card2Body"/>
          <p:cNvSpPr/>
          <p:nvPr/>
        </p:nvSpPr>
        <p:spPr>
          <a:xfrm>
            <a:off x="3291840" y="3080000"/>
            <a:ext cx="25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Differentiation begins. Oil disruption, sanctions, safe-haven flows priced in.</a:t>
            </a:r>
          </a:p>
        </p:txBody>
      </p:sp>
      <p:sp>
        <p:nvSpPr>
          <p:cNvPr id="27" name="Card2Duration"/>
          <p:cNvSpPr/>
          <p:nvPr/>
        </p:nvSpPr>
        <p:spPr>
          <a:xfrm>
            <a:off x="3291840" y="4750000"/>
            <a:ext cx="137160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Days–Weeks</a:t>
            </a:r>
          </a:p>
        </p:txBody>
      </p:sp>
      <p:sp>
        <p:nvSpPr>
          <p:cNvPr id="30" name="Card3Bg"/>
          <p:cNvSpPr/>
          <p:nvPr/>
        </p:nvSpPr>
        <p:spPr>
          <a:xfrm>
            <a:off x="6126480" y="104000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Card3Bar"/>
          <p:cNvSpPr/>
          <p:nvPr/>
        </p:nvSpPr>
        <p:spPr>
          <a:xfrm>
            <a:off x="6126480" y="1040000"/>
            <a:ext cx="28346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3Num"/>
          <p:cNvSpPr/>
          <p:nvPr/>
        </p:nvSpPr>
        <p:spPr>
          <a:xfrm>
            <a:off x="6263640" y="1177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33" name="Card3Label"/>
          <p:cNvSpPr/>
          <p:nvPr/>
        </p:nvSpPr>
        <p:spPr>
          <a:xfrm>
            <a:off x="6263640" y="1897560"/>
            <a:ext cx="1371600" cy="256032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NORMALIZE</a:t>
            </a:r>
          </a:p>
        </p:txBody>
      </p:sp>
      <p:sp>
        <p:nvSpPr>
          <p:cNvPr id="34" name="Card3Title"/>
          <p:cNvSpPr/>
          <p:nvPr/>
        </p:nvSpPr>
        <p:spPr>
          <a:xfrm>
            <a:off x="6263640" y="2230000"/>
            <a:ext cx="2500000" cy="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</a:rPr>
              <a:t>New Macro Backdrop Set</a:t>
            </a:r>
          </a:p>
        </p:txBody>
      </p:sp>
      <p:sp>
        <p:nvSpPr>
          <p:cNvPr id="35" name="Card3Div"/>
          <p:cNvSpPr/>
          <p:nvPr/>
        </p:nvSpPr>
        <p:spPr>
          <a:xfrm>
            <a:off x="6263640" y="3040000"/>
            <a:ext cx="250000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Card3Body"/>
          <p:cNvSpPr/>
          <p:nvPr/>
        </p:nvSpPr>
        <p:spPr>
          <a:xfrm>
            <a:off x="6263640" y="3080000"/>
            <a:ext cx="25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Tension becomes the base case. Winners and losers diverge on fundamentals.</a:t>
            </a:r>
          </a:p>
        </p:txBody>
      </p:sp>
      <p:sp>
        <p:nvSpPr>
          <p:cNvPr id="37" name="Card3Duration"/>
          <p:cNvSpPr/>
          <p:nvPr/>
        </p:nvSpPr>
        <p:spPr>
          <a:xfrm>
            <a:off x="6263640" y="4750000"/>
            <a:ext cx="155448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</a:rPr>
              <a:t>Weeks–Months</a:t>
            </a:r>
          </a:p>
        </p:txBody>
      </p:sp>
      <p:sp>
        <p:nvSpPr>
          <p:cNvPr id="40" name="Footer"/>
          <p:cNvSpPr/>
          <p:nvPr/>
        </p:nvSpPr>
        <p:spPr>
          <a:xfrm>
            <a:off x="182880" y="508000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</a:rPr>
              <a:t>Historical reference: Abqaiq strikes (2019), Soleimani assassination (2020), Gulf conflict cycles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769DC5-F282-7282-32B3-77F2020FA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55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haseTag"/>
          <p:cNvSpPr/>
          <p:nvPr/>
        </p:nvSpPr>
        <p:spPr>
          <a:xfrm>
            <a:off x="182880" y="0"/>
            <a:ext cx="160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PHASE 1 — FLEE</a:t>
            </a:r>
          </a:p>
        </p:txBody>
      </p:sp>
      <p:sp>
        <p:nvSpPr>
          <p:cNvPr id="5" name="MainTitle"/>
          <p:cNvSpPr/>
          <p:nvPr/>
        </p:nvSpPr>
        <p:spPr>
          <a:xfrm>
            <a:off x="182880" y="650000"/>
            <a:ext cx="87782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</a:rPr>
              <a:t>Markets Sell First, Ask Questions Later</a:t>
            </a:r>
          </a:p>
        </p:txBody>
      </p:sp>
      <p:sp>
        <p:nvSpPr>
          <p:cNvPr id="6" name="Subtitle"/>
          <p:cNvSpPr/>
          <p:nvPr/>
        </p:nvSpPr>
        <p:spPr>
          <a:xfrm>
            <a:off x="182880" y="1030000"/>
            <a:ext cx="877824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</a:rPr>
              <a:t>Blind panic: 48–72 hour window of indiscriminate selling</a:t>
            </a:r>
          </a:p>
        </p:txBody>
      </p:sp>
      <p:sp>
        <p:nvSpPr>
          <p:cNvPr id="7" name="Divider"/>
          <p:cNvSpPr/>
          <p:nvPr/>
        </p:nvSpPr>
        <p:spPr>
          <a:xfrm>
            <a:off x="182880" y="1330000"/>
            <a:ext cx="8778240" cy="18288"/>
          </a:xfrm>
          <a:prstGeom prst="rect">
            <a:avLst/>
          </a:prstGeom>
          <a:solidFill>
            <a:srgbClr val="EF3C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LeftCardBg"/>
          <p:cNvSpPr/>
          <p:nvPr/>
        </p:nvSpPr>
        <p:spPr>
          <a:xfrm>
            <a:off x="182880" y="1400000"/>
            <a:ext cx="4206480" cy="3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LeftCardHeader"/>
          <p:cNvSpPr/>
          <p:nvPr/>
        </p:nvSpPr>
        <p:spPr>
          <a:xfrm>
            <a:off x="320040" y="1450000"/>
            <a:ext cx="39322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</a:rPr>
              <a:t>What Happens</a:t>
            </a:r>
          </a:p>
        </p:txBody>
      </p:sp>
      <p:sp>
        <p:nvSpPr>
          <p:cNvPr id="12" name="LeftItem1"/>
          <p:cNvSpPr/>
          <p:nvPr/>
        </p:nvSpPr>
        <p:spPr>
          <a:xfrm>
            <a:off x="320040" y="1820000"/>
            <a:ext cx="3932280" cy="620000"/>
          </a:xfrm>
          <a:prstGeom prst="rect">
            <a:avLst/>
          </a:prstGeom>
          <a:noFill/>
          <a:ln w="9144">
            <a:solidFill>
              <a:srgbClr val="E2E8F0"/>
            </a:solidFill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3C67"/>
                </a:solidFill>
                <a:latin typeface="Calibri" pitchFamily="34" charset="0"/>
              </a:rPr>
              <a:t>↓ EM FX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Currencies depreciate sharply across the board</a:t>
            </a:r>
          </a:p>
        </p:txBody>
      </p:sp>
      <p:sp>
        <p:nvSpPr>
          <p:cNvPr id="13" name="LeftItem2"/>
          <p:cNvSpPr/>
          <p:nvPr/>
        </p:nvSpPr>
        <p:spPr>
          <a:xfrm>
            <a:off x="320040" y="2460000"/>
            <a:ext cx="3932280" cy="620000"/>
          </a:xfrm>
          <a:prstGeom prst="rect">
            <a:avLst/>
          </a:prstGeom>
          <a:noFill/>
          <a:ln w="9144">
            <a:solidFill>
              <a:srgbClr val="E2E8F0"/>
            </a:solidFill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3C67"/>
                </a:solidFill>
                <a:latin typeface="Calibri" pitchFamily="34" charset="0"/>
              </a:rPr>
              <a:t>↑ Credit Spreads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EM sovereign and corporate spreads widen</a:t>
            </a:r>
          </a:p>
        </p:txBody>
      </p:sp>
      <p:sp>
        <p:nvSpPr>
          <p:cNvPr id="14" name="LeftItem3"/>
          <p:cNvSpPr/>
          <p:nvPr/>
        </p:nvSpPr>
        <p:spPr>
          <a:xfrm>
            <a:off x="320040" y="3100000"/>
            <a:ext cx="3932280" cy="620000"/>
          </a:xfrm>
          <a:prstGeom prst="rect">
            <a:avLst/>
          </a:prstGeom>
          <a:noFill/>
          <a:ln w="9144">
            <a:solidFill>
              <a:srgbClr val="E2E8F0"/>
            </a:solidFill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3C67"/>
                </a:solidFill>
                <a:latin typeface="Calibri" pitchFamily="34" charset="0"/>
              </a:rPr>
              <a:t>↓ Equities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Risk assets sold without fundamental analysis</a:t>
            </a:r>
          </a:p>
        </p:txBody>
      </p:sp>
      <p:sp>
        <p:nvSpPr>
          <p:cNvPr id="15" name="LeftItem4"/>
          <p:cNvSpPr/>
          <p:nvPr/>
        </p:nvSpPr>
        <p:spPr>
          <a:xfrm>
            <a:off x="320040" y="3740000"/>
            <a:ext cx="3932280" cy="620000"/>
          </a:xfrm>
          <a:prstGeom prst="rect">
            <a:avLst/>
          </a:prstGeom>
          <a:noFill/>
          <a:ln w="9144">
            <a:solidFill>
              <a:srgbClr val="E2E8F0"/>
            </a:solidFill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</a:rPr>
              <a:t>↑ USD / Gold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Classic safe havens absorb inflows</a:t>
            </a:r>
          </a:p>
        </p:txBody>
      </p:sp>
      <p:sp>
        <p:nvSpPr>
          <p:cNvPr id="20" name="RightCardBg"/>
          <p:cNvSpPr/>
          <p:nvPr/>
        </p:nvSpPr>
        <p:spPr>
          <a:xfrm>
            <a:off x="4663440" y="1400000"/>
            <a:ext cx="4297680" cy="3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InsightBox"/>
          <p:cNvSpPr/>
          <p:nvPr/>
        </p:nvSpPr>
        <p:spPr>
          <a:xfrm>
            <a:off x="4800600" y="1450000"/>
            <a:ext cx="4023360" cy="1450000"/>
          </a:xfrm>
          <a:prstGeom prst="rect">
            <a:avLst/>
          </a:prstGeom>
          <a:solidFill>
            <a:srgbClr val="FFF1F4"/>
          </a:solidFill>
          <a:ln w="12700">
            <a:solidFill>
              <a:srgbClr val="EF3C67"/>
            </a:solidFill>
            <a:prstDash val="solid"/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F3C67"/>
                </a:solidFill>
                <a:latin typeface="Calibri" pitchFamily="34" charset="0"/>
              </a:rPr>
              <a:t>KEY INSIGHT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</a:rPr>
              <a:t>No country is spared in Phase 1. Fundamentals don’t matter yet. The only trade is short EM, long USD.</a:t>
            </a:r>
          </a:p>
        </p:txBody>
      </p:sp>
      <p:sp>
        <p:nvSpPr>
          <p:cNvPr id="22" name="WatchHeader"/>
          <p:cNvSpPr/>
          <p:nvPr/>
        </p:nvSpPr>
        <p:spPr>
          <a:xfrm>
            <a:off x="4800600" y="2980000"/>
            <a:ext cx="40233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</a:rPr>
              <a:t>What to Watch</a:t>
            </a:r>
          </a:p>
        </p:txBody>
      </p:sp>
      <p:sp>
        <p:nvSpPr>
          <p:cNvPr id="23" name="WatchBody"/>
          <p:cNvSpPr/>
          <p:nvPr/>
        </p:nvSpPr>
        <p:spPr>
          <a:xfrm>
            <a:off x="4800600" y="3330000"/>
            <a:ext cx="402336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2554A0"/>
                </a:solidFill>
                <a:latin typeface="Calibri" pitchFamily="34" charset="0"/>
              </a:rPr>
              <a:t>Timing: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</a:rPr>
              <a:t>VIX spike + EM ETF outflows &gt;$2bn/day signal Phase 1 onset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2554A0"/>
                </a:solidFill>
                <a:latin typeface="Calibri" pitchFamily="34" charset="0"/>
              </a:rPr>
              <a:t>Duration: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</a:rPr>
              <a:t>Phase ends when oil price finds a short-term range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2554A0"/>
                </a:solidFill>
                <a:latin typeface="Calibri" pitchFamily="34" charset="0"/>
              </a:rPr>
              <a:t>Entry: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</a:rPr>
              <a:t>CDS spreads peak → start screening for Phase 2 differentiation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0D100F-4E8B-7C47-D7D5-64CBD1B2D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4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haseTag"/>
          <p:cNvSpPr/>
          <p:nvPr/>
        </p:nvSpPr>
        <p:spPr>
          <a:xfrm>
            <a:off x="182880" y="0"/>
            <a:ext cx="170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PHASE 2 — FEAR</a:t>
            </a:r>
          </a:p>
        </p:txBody>
      </p:sp>
      <p:sp>
        <p:nvSpPr>
          <p:cNvPr id="5" name="MainTitle"/>
          <p:cNvSpPr/>
          <p:nvPr/>
        </p:nvSpPr>
        <p:spPr>
          <a:xfrm>
            <a:off x="182880" y="650000"/>
            <a:ext cx="87782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</a:rPr>
              <a:t>Markets Price the Tail Risk</a:t>
            </a:r>
          </a:p>
        </p:txBody>
      </p:sp>
      <p:sp>
        <p:nvSpPr>
          <p:cNvPr id="6" name="Subtitle"/>
          <p:cNvSpPr/>
          <p:nvPr/>
        </p:nvSpPr>
        <p:spPr>
          <a:xfrm>
            <a:off x="182880" y="1030000"/>
            <a:ext cx="877824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</a:rPr>
              <a:t>Differentiation begins — fundamentals start to matter</a:t>
            </a:r>
          </a:p>
        </p:txBody>
      </p:sp>
      <p:sp>
        <p:nvSpPr>
          <p:cNvPr id="7" name="Divider"/>
          <p:cNvSpPr/>
          <p:nvPr/>
        </p:nvSpPr>
        <p:spPr>
          <a:xfrm>
            <a:off x="182880" y="1330000"/>
            <a:ext cx="8778240" cy="18288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Card1Bg"/>
          <p:cNvSpPr/>
          <p:nvPr/>
        </p:nvSpPr>
        <p:spPr>
          <a:xfrm>
            <a:off x="182880" y="1400000"/>
            <a:ext cx="4206480" cy="1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1Bar"/>
          <p:cNvSpPr/>
          <p:nvPr/>
        </p:nvSpPr>
        <p:spPr>
          <a:xfrm>
            <a:off x="182880" y="1400000"/>
            <a:ext cx="4206480" cy="54864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ard1Content"/>
          <p:cNvSpPr/>
          <p:nvPr/>
        </p:nvSpPr>
        <p:spPr>
          <a:xfrm>
            <a:off x="320040" y="1490000"/>
            <a:ext cx="3932280" cy="14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</a:rPr>
              <a:t>Oil Supply Disruption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Strait of Hormuz handles ~21% of global oil trade. Any blockade risk sends Brent toward $120–150/bbl.</a:t>
            </a:r>
          </a:p>
        </p:txBody>
      </p:sp>
      <p:sp>
        <p:nvSpPr>
          <p:cNvPr id="20" name="Card2Bg"/>
          <p:cNvSpPr/>
          <p:nvPr/>
        </p:nvSpPr>
        <p:spPr>
          <a:xfrm>
            <a:off x="4663440" y="1400000"/>
            <a:ext cx="4297680" cy="1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ard2Bar"/>
          <p:cNvSpPr/>
          <p:nvPr/>
        </p:nvSpPr>
        <p:spPr>
          <a:xfrm>
            <a:off x="4663440" y="1400000"/>
            <a:ext cx="4297680" cy="54864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Card2Content"/>
          <p:cNvSpPr/>
          <p:nvPr/>
        </p:nvSpPr>
        <p:spPr>
          <a:xfrm>
            <a:off x="4800600" y="1490000"/>
            <a:ext cx="4023360" cy="14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</a:rPr>
              <a:t>Secondary Sanctions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Countries with Iran trade exposure face capital flow reversal and USD funding pressure.</a:t>
            </a:r>
          </a:p>
        </p:txBody>
      </p:sp>
      <p:sp>
        <p:nvSpPr>
          <p:cNvPr id="30" name="Card3Bg"/>
          <p:cNvSpPr/>
          <p:nvPr/>
        </p:nvSpPr>
        <p:spPr>
          <a:xfrm>
            <a:off x="182880" y="3100000"/>
            <a:ext cx="4206480" cy="1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Card3Bar"/>
          <p:cNvSpPr/>
          <p:nvPr/>
        </p:nvSpPr>
        <p:spPr>
          <a:xfrm>
            <a:off x="182880" y="3100000"/>
            <a:ext cx="4206480" cy="54864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Card3Content"/>
          <p:cNvSpPr/>
          <p:nvPr/>
        </p:nvSpPr>
        <p:spPr>
          <a:xfrm>
            <a:off x="320040" y="3190000"/>
            <a:ext cx="3932280" cy="15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</a:rPr>
              <a:t>Safe Haven Compression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USD rally. EM currencies with weak external buffers face outsized depreciation.</a:t>
            </a:r>
          </a:p>
        </p:txBody>
      </p:sp>
      <p:sp>
        <p:nvSpPr>
          <p:cNvPr id="40" name="Card4Bg"/>
          <p:cNvSpPr/>
          <p:nvPr/>
        </p:nvSpPr>
        <p:spPr>
          <a:xfrm>
            <a:off x="4663440" y="3100000"/>
            <a:ext cx="4297680" cy="17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Card4Bar"/>
          <p:cNvSpPr/>
          <p:nvPr/>
        </p:nvSpPr>
        <p:spPr>
          <a:xfrm>
            <a:off x="4663440" y="3100000"/>
            <a:ext cx="4297680" cy="54864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Card4Content"/>
          <p:cNvSpPr/>
          <p:nvPr/>
        </p:nvSpPr>
        <p:spPr>
          <a:xfrm>
            <a:off x="4800600" y="3190000"/>
            <a:ext cx="4023360" cy="15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</a:rPr>
              <a:t>Contagion vs. Differentiation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Markets begin separating energy exporters from importers. FX reserves and CAD matter.</a:t>
            </a:r>
          </a:p>
        </p:txBody>
      </p:sp>
      <p:sp>
        <p:nvSpPr>
          <p:cNvPr id="50" name="Footer"/>
          <p:cNvSpPr/>
          <p:nvPr/>
        </p:nvSpPr>
        <p:spPr>
          <a:xfrm>
            <a:off x="182880" y="4940000"/>
            <a:ext cx="8778240" cy="228600"/>
          </a:xfrm>
          <a:prstGeom prst="rect">
            <a:avLst/>
          </a:prstGeom>
          <a:solidFill>
            <a:srgbClr val="FFF3E6"/>
          </a:solidFill>
          <a:ln w="9144">
            <a:solidFill>
              <a:srgbClr val="FF660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Strait of Hormuz closure: IMF estimates a 30-day blockade would reduce global oil supply by ~14 mb/d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02165A-6224-7731-F5A1-F51A5DD39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4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haseTag"/>
          <p:cNvSpPr/>
          <p:nvPr/>
        </p:nvSpPr>
        <p:spPr>
          <a:xfrm>
            <a:off x="182880" y="0"/>
            <a:ext cx="2000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PHASE 3 — NORMALIZE</a:t>
            </a:r>
          </a:p>
        </p:txBody>
      </p:sp>
      <p:sp>
        <p:nvSpPr>
          <p:cNvPr id="5" name="MainTitle"/>
          <p:cNvSpPr/>
          <p:nvPr/>
        </p:nvSpPr>
        <p:spPr>
          <a:xfrm>
            <a:off x="182880" y="650000"/>
            <a:ext cx="87782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</a:rPr>
              <a:t>A New Macro Backdrop Emerges</a:t>
            </a:r>
          </a:p>
        </p:txBody>
      </p:sp>
      <p:sp>
        <p:nvSpPr>
          <p:cNvPr id="6" name="Subtitle"/>
          <p:cNvSpPr/>
          <p:nvPr/>
        </p:nvSpPr>
        <p:spPr>
          <a:xfrm>
            <a:off x="182880" y="1030000"/>
            <a:ext cx="877824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</a:rPr>
              <a:t>Tension becomes the base case — country divergence widens decisively</a:t>
            </a:r>
          </a:p>
        </p:txBody>
      </p:sp>
      <p:sp>
        <p:nvSpPr>
          <p:cNvPr id="7" name="InsightBar"/>
          <p:cNvSpPr/>
          <p:nvPr/>
        </p:nvSpPr>
        <p:spPr>
          <a:xfrm>
            <a:off x="182880" y="1360000"/>
            <a:ext cx="8778240" cy="300000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9488"/>
                </a:solidFill>
                <a:latin typeface="Calibri" pitchFamily="34" charset="0"/>
              </a:rPr>
              <a:t>The tension is no longer the news — it is the environment.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  Markets now anchor on the new inflation + growth equilibrium. This is where country selection alpha lives.</a:t>
            </a:r>
          </a:p>
        </p:txBody>
      </p:sp>
      <p:sp>
        <p:nvSpPr>
          <p:cNvPr id="10" name="Card1Bg"/>
          <p:cNvSpPr/>
          <p:nvPr/>
        </p:nvSpPr>
        <p:spPr>
          <a:xfrm>
            <a:off x="182880" y="1730000"/>
            <a:ext cx="2834640" cy="30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1Bar"/>
          <p:cNvSpPr/>
          <p:nvPr/>
        </p:nvSpPr>
        <p:spPr>
          <a:xfrm>
            <a:off x="182880" y="1730000"/>
            <a:ext cx="2834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1Content"/>
          <p:cNvSpPr/>
          <p:nvPr/>
        </p:nvSpPr>
        <p:spPr>
          <a:xfrm>
            <a:off x="320040" y="1840000"/>
            <a:ext cx="2560320" cy="28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</a:rPr>
              <a:t>Inflation Anchor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New oil price floor sets import cost structure. Central bank credibility and FX pass-through determine inflation trajectory per country.</a:t>
            </a:r>
          </a:p>
        </p:txBody>
      </p:sp>
      <p:sp>
        <p:nvSpPr>
          <p:cNvPr id="20" name="Card2Bg"/>
          <p:cNvSpPr/>
          <p:nvPr/>
        </p:nvSpPr>
        <p:spPr>
          <a:xfrm>
            <a:off x="3154680" y="1730000"/>
            <a:ext cx="2834640" cy="30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ard2Bar"/>
          <p:cNvSpPr/>
          <p:nvPr/>
        </p:nvSpPr>
        <p:spPr>
          <a:xfrm>
            <a:off x="3154680" y="1730000"/>
            <a:ext cx="2834640" cy="73152"/>
          </a:xfrm>
          <a:prstGeom prst="rect">
            <a:avLst/>
          </a:prstGeom>
          <a:solidFill>
            <a:srgbClr val="2554A0"/>
          </a:solidFill>
          <a:ln w="12700">
            <a:solidFill>
              <a:srgbClr val="255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2Content"/>
          <p:cNvSpPr/>
          <p:nvPr/>
        </p:nvSpPr>
        <p:spPr>
          <a:xfrm>
            <a:off x="3291840" y="1840000"/>
            <a:ext cx="2560320" cy="28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</a:rPr>
              <a:t>Growth Divergence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Energy exporters run fiscal surpluses, accelerate spending. Energy importers face stagflationary squeeze. GDP growth paths bifurcate.</a:t>
            </a:r>
          </a:p>
        </p:txBody>
      </p:sp>
      <p:sp>
        <p:nvSpPr>
          <p:cNvPr id="30" name="Card3Bg"/>
          <p:cNvSpPr/>
          <p:nvPr/>
        </p:nvSpPr>
        <p:spPr>
          <a:xfrm>
            <a:off x="6126480" y="1730000"/>
            <a:ext cx="2834640" cy="30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Card3Bar"/>
          <p:cNvSpPr/>
          <p:nvPr/>
        </p:nvSpPr>
        <p:spPr>
          <a:xfrm>
            <a:off x="6126480" y="1730000"/>
            <a:ext cx="283464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3Content"/>
          <p:cNvSpPr/>
          <p:nvPr/>
        </p:nvSpPr>
        <p:spPr>
          <a:xfrm>
            <a:off x="6263640" y="1840000"/>
            <a:ext cx="2560320" cy="28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</a:rPr>
              <a:t>Policy Space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Countries with FX reserves, low fiscal deficit, and low external debt retain rate flexibility. Others face twin deficits and IMF risk.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DFBD4E-EADB-0394-4581-9BB4305E6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9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FAC61-291F-CDCF-A740-AC774324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4FC3CB-71AA-9C22-A4BA-22A6FF9EEA18}"/>
              </a:ext>
            </a:extLst>
          </p:cNvPr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B78FBB-7446-5031-2759-42C1C055735C}"/>
              </a:ext>
            </a:extLst>
          </p:cNvPr>
          <p:cNvSpPr/>
          <p:nvPr/>
        </p:nvSpPr>
        <p:spPr>
          <a:xfrm>
            <a:off x="3566160" y="0"/>
            <a:ext cx="6400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3BE745-1567-4FF1-FAC4-CD874FFB7D28}"/>
              </a:ext>
            </a:extLst>
          </p:cNvPr>
          <p:cNvSpPr/>
          <p:nvPr/>
        </p:nvSpPr>
        <p:spPr>
          <a:xfrm>
            <a:off x="365760" y="320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4F1A51C-DC67-5A36-D15A-89C08E159A1A}"/>
              </a:ext>
            </a:extLst>
          </p:cNvPr>
          <p:cNvSpPr/>
          <p:nvPr/>
        </p:nvSpPr>
        <p:spPr>
          <a:xfrm>
            <a:off x="3886200" y="411480"/>
            <a:ext cx="2057400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0CDE515-C400-620A-33AD-74A3B911EBE7}"/>
              </a:ext>
            </a:extLst>
          </p:cNvPr>
          <p:cNvSpPr/>
          <p:nvPr/>
        </p:nvSpPr>
        <p:spPr>
          <a:xfrm>
            <a:off x="3886200" y="411480"/>
            <a:ext cx="20574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5A35358-E583-3FEB-E220-9FD2E2AC245D}"/>
              </a:ext>
            </a:extLst>
          </p:cNvPr>
          <p:cNvSpPr/>
          <p:nvPr/>
        </p:nvSpPr>
        <p:spPr>
          <a:xfrm>
            <a:off x="3886200" y="5760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$158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35D60E-F2F0-E34B-5835-D3DF90B87877}"/>
              </a:ext>
            </a:extLst>
          </p:cNvPr>
          <p:cNvSpPr/>
          <p:nvPr/>
        </p:nvSpPr>
        <p:spPr>
          <a:xfrm>
            <a:off x="3886200" y="121615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ราคาน้ำมันดิบดูไบ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B745A80-668D-9B77-49DA-4EA7C555D87B}"/>
              </a:ext>
            </a:extLst>
          </p:cNvPr>
          <p:cNvSpPr/>
          <p:nvPr/>
        </p:nvSpPr>
        <p:spPr>
          <a:xfrm>
            <a:off x="3886200" y="1828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ดอลลาร์/บาร์เรล</a:t>
            </a:r>
            <a:endParaRPr lang="en-US" sz="8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1742B05-49EE-0D54-1FA6-1D4D1E23CB5A}"/>
              </a:ext>
            </a:extLst>
          </p:cNvPr>
          <p:cNvSpPr/>
          <p:nvPr/>
        </p:nvSpPr>
        <p:spPr>
          <a:xfrm>
            <a:off x="6446520" y="411480"/>
            <a:ext cx="2057400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79DC663-115F-968C-19B1-61D98BB6AADD}"/>
              </a:ext>
            </a:extLst>
          </p:cNvPr>
          <p:cNvSpPr/>
          <p:nvPr/>
        </p:nvSpPr>
        <p:spPr>
          <a:xfrm>
            <a:off x="6446520" y="411480"/>
            <a:ext cx="20574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2E47E1A-E554-9193-9C01-6635DC208811}"/>
              </a:ext>
            </a:extLst>
          </p:cNvPr>
          <p:cNvSpPr/>
          <p:nvPr/>
        </p:nvSpPr>
        <p:spPr>
          <a:xfrm>
            <a:off x="6446520" y="5760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6–6.5%</a:t>
            </a:r>
            <a:endParaRPr lang="en-US" sz="2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7900772-1CC8-EF85-3E89-F6ABDCD02271}"/>
              </a:ext>
            </a:extLst>
          </p:cNvPr>
          <p:cNvSpPr/>
          <p:nvPr/>
        </p:nvSpPr>
        <p:spPr>
          <a:xfrm>
            <a:off x="6446520" y="121615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นำเข้าพลังงาน/GDP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FDA4896-7976-697E-7EEE-1E79448C0735}"/>
              </a:ext>
            </a:extLst>
          </p:cNvPr>
          <p:cNvSpPr/>
          <p:nvPr/>
        </p:nvSpPr>
        <p:spPr>
          <a:xfrm>
            <a:off x="6446520" y="1828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สูงสุดในเอเชีย</a:t>
            </a:r>
            <a:endParaRPr lang="en-US" sz="8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DC8A804-6A0A-9C8B-3D24-6D62E11448D2}"/>
              </a:ext>
            </a:extLst>
          </p:cNvPr>
          <p:cNvSpPr/>
          <p:nvPr/>
        </p:nvSpPr>
        <p:spPr>
          <a:xfrm>
            <a:off x="3886200" y="2514600"/>
            <a:ext cx="2057400" cy="18288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236B77B-B37B-6E32-DAA0-F0A7D8247381}"/>
              </a:ext>
            </a:extLst>
          </p:cNvPr>
          <p:cNvSpPr/>
          <p:nvPr/>
        </p:nvSpPr>
        <p:spPr>
          <a:xfrm>
            <a:off x="3886200" y="2514600"/>
            <a:ext cx="20574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DB1392E-0F92-AB06-7531-6F8953628E98}"/>
              </a:ext>
            </a:extLst>
          </p:cNvPr>
          <p:cNvSpPr/>
          <p:nvPr/>
        </p:nvSpPr>
        <p:spPr>
          <a:xfrm>
            <a:off x="3886200" y="26791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2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0ABAE6B-1702-D22B-C29F-FB4AAF1E4479}"/>
              </a:ext>
            </a:extLst>
          </p:cNvPr>
          <p:cNvSpPr/>
          <p:nvPr/>
        </p:nvSpPr>
        <p:spPr>
          <a:xfrm>
            <a:off x="3886200" y="331927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น้ำมันจากตอ.กลาง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DA51311-1E77-851C-03D4-B3C8C1E71E74}"/>
              </a:ext>
            </a:extLst>
          </p:cNvPr>
          <p:cNvSpPr/>
          <p:nvPr/>
        </p:nvSpPr>
        <p:spPr>
          <a:xfrm>
            <a:off x="3886200" y="39319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ของนำเข้าทั้งหมด</a:t>
            </a:r>
            <a:endParaRPr lang="en-US" sz="8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D603F43-9D07-9D5D-BEBB-CAC295C868CB}"/>
              </a:ext>
            </a:extLst>
          </p:cNvPr>
          <p:cNvSpPr/>
          <p:nvPr/>
        </p:nvSpPr>
        <p:spPr>
          <a:xfrm>
            <a:off x="6446520" y="2514600"/>
            <a:ext cx="2057400" cy="18288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2C1A727-55D9-216E-2CB3-65145A318E1C}"/>
              </a:ext>
            </a:extLst>
          </p:cNvPr>
          <p:cNvSpPr/>
          <p:nvPr/>
        </p:nvSpPr>
        <p:spPr>
          <a:xfrm>
            <a:off x="6446520" y="2514600"/>
            <a:ext cx="20574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964B518-ED12-57CE-DB36-814C128F4A7F}"/>
              </a:ext>
            </a:extLst>
          </p:cNvPr>
          <p:cNvSpPr/>
          <p:nvPr/>
        </p:nvSpPr>
        <p:spPr>
          <a:xfrm>
            <a:off x="6446520" y="26791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28,109</a:t>
            </a:r>
            <a:endParaRPr lang="en-US" sz="2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8580B6C-5305-51A2-7E17-31CA386C94B2}"/>
              </a:ext>
            </a:extLst>
          </p:cNvPr>
          <p:cNvSpPr/>
          <p:nvPr/>
        </p:nvSpPr>
        <p:spPr>
          <a:xfrm>
            <a:off x="6446520" y="331927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กองทุนน้ำมันฯ ติดลบ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A85F3A9-D60B-4DEB-FED3-389BFDFDC745}"/>
              </a:ext>
            </a:extLst>
          </p:cNvPr>
          <p:cNvSpPr/>
          <p:nvPr/>
        </p:nvSpPr>
        <p:spPr>
          <a:xfrm>
            <a:off x="6446520" y="39319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ล้านบาท (23 มี.ค.)</a:t>
            </a:r>
            <a:endParaRPr lang="en-US" sz="8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CF98199-1D89-2110-6B8B-A387F51A875F}"/>
              </a:ext>
            </a:extLst>
          </p:cNvPr>
          <p:cNvSpPr/>
          <p:nvPr/>
        </p:nvSpPr>
        <p:spPr>
          <a:xfrm>
            <a:off x="3749040" y="48920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Maybank Research | DEDE | Thai Oil Fund | The Star | Thairath English | Bangkok Biz News</a:t>
            </a:r>
            <a:endParaRPr lang="en-US" sz="7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F287133-ECDB-8288-262D-7736F02CB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4389120"/>
            <a:ext cx="1947849" cy="751104"/>
          </a:xfrm>
          <a:prstGeom prst="rect">
            <a:avLst/>
          </a:prstGeom>
        </p:spPr>
      </p:pic>
      <p:sp>
        <p:nvSpPr>
          <p:cNvPr id="34" name="Text 4">
            <a:extLst>
              <a:ext uri="{FF2B5EF4-FFF2-40B4-BE49-F238E27FC236}">
                <a16:creationId xmlns:a16="http://schemas.microsoft.com/office/drawing/2014/main" id="{4579743B-6848-922D-B066-FF0FFC0E1830}"/>
              </a:ext>
            </a:extLst>
          </p:cNvPr>
          <p:cNvSpPr/>
          <p:nvPr/>
        </p:nvSpPr>
        <p:spPr>
          <a:xfrm>
            <a:off x="365760" y="149047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โจทย์ใหญ่ของไทย</a:t>
            </a: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141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สารบัญ  |  Agenda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7772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8138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บทนำและสถานการณ์ภูมิรัฐศาสตร์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Shock รอบใหม่ – ราคาน้ำมันแตะ $158/bbl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7772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8138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ความเปราะบางเชิงโครงสร้างของไทย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078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โครงสร้างพลังงาน TFEC และการพึ่งพาฮอร์มุซ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1399032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1399032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2880" y="139903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14356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วิกฤตภายในประเทศ: Supply ขาดแคลน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17007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ปัญหาราคา 2 ระดับ และ Panic Buying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1399032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399032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39903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14356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สถานะการเงินและภาระหนี้สาธารณะ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17007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กองทุนน้ำมันฯ + หนี้ กฟผ. รวม 93,000 ล้านบาท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2020824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2020824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" y="202082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20574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มาตรการตอบสนองภาครัฐ (มี.ค. 2569)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23225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นโยบายฉุกเฉิน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020824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020824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202082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20574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ราคาพลังงานเปรียบเทียบ ASEAN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23225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 8 ประเทศ + LNG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2642616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82880" y="2642616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2880" y="264261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26791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ความเปราะบางมหภาค ASEAN-6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29443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Vulnerability Screening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642616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63440" y="2642616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264261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20640" y="26791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น้ำมันสำรองเชิงยุทธศาสตร์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29443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Reserve 7 ประเทศ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2880" y="3264408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82880" y="3264408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82880" y="326440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" y="3300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ไทม์ไลน์มาตรการรายประเทศ ASEAN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3566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/ ID / MY / PH / SG / VN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3264408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663440" y="3264408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63440" y="326440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20640" y="3300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ประมาณการ GDP &amp; เงินเฟ้อ (Maybank)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20640" y="3566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ASEAN-6 Revised Forecasts 2026-2027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3886200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82880" y="3886200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82880" y="38862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0080" y="39227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ทิศทางดอกเบี้ยนโยบาย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" y="41879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Easing Cycle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3886200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663440" y="3886200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663440" y="38862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120640" y="39227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ช่องทางส่งผ่านผลกระทบ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120640" y="41879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Channels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82880" y="4507992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82880" y="4507992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82880" y="450799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40080" y="45445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Scorecard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40080" y="48097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K-Shaped Impact: Winners vs Losers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663440" y="4507992"/>
            <a:ext cx="4343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663440" y="4507992"/>
            <a:ext cx="3840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663440" y="450799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120640" y="45445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มุมมองการลงทุน &amp; ข้อเสนอแนะ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120640" y="48097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Perspective + Policy Rec</a:t>
            </a:r>
            <a:endParaRPr lang="en-US" sz="850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F7F9DB6E-31BE-2758-86D5-B7AB7B490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บทนำ: Oil Shock รอบใหม่ (มีนาคม 2569)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68096"/>
            <a:ext cx="4846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0972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ก.พ.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44752" y="1088136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83080" y="9326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ปฏิบัติการทางทหาร – จุดแตกหักในตะวันออกกลาง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10972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ต้น มี.ค.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44752" y="1956816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83080" y="18013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ช่องแคบฮอร์มุซ: น้ำมัน 20% ของโลกผ่านเส้นทางนี้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10972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กลาง มี.ค.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44752" y="2825496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83080" y="26700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ราคาน้ำมันดูไบพุ่ง</a:t>
            </a:r>
            <a:r>
              <a:rPr lang="th-TH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สูงสุด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$170/bbl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10972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520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ปลาย มี.ค.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44752" y="3694176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83080" y="35387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สหรัฐฯ เสนอแผน 15 ข้อเพื่อหยุดยิง 1 เดือน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777240"/>
            <a:ext cx="3749040" cy="41148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13716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521208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ดอลลาร์/บาร์เรล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(ราคาน้ำมันดิบดูไบ)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3566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ระดับสูงสุดนับตั้งแต่ปี 2565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ก่อให้เกิด Stagflationary Shock ทั่วภูมิภาค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4389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ไม่แน่นอนสูงยังคงอยู่ แม้จะมีความพยายามเจรจาหยุดยิง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255340D-47DA-CDB1-1765-F1445FA5E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ความเปราะบางของไทย: </a:t>
            </a: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โครงสร้างพลังงาน</a:t>
            </a:r>
            <a:endParaRPr lang="en-US" sz="17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156994173"/>
              </p:ext>
            </p:extLst>
          </p:nvPr>
        </p:nvGraphicFramePr>
        <p:xfrm>
          <a:off x="182880" y="749808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023360" y="822960"/>
            <a:ext cx="4937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023360" y="822960"/>
            <a:ext cx="64008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60520" y="896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  ก๊าซธรรมชาติในการผลิตไฟฟ้า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8778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23360" y="1572768"/>
            <a:ext cx="4937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023360" y="1572768"/>
            <a:ext cx="64008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6052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🛢️  น้ำมันดิบจากตะวันออกกลาง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16276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023360" y="2322576"/>
            <a:ext cx="4937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023360" y="2322576"/>
            <a:ext cx="64008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6052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  ผ่านช่องแคบฮอร์มุซ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23774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023360" y="3072384"/>
            <a:ext cx="4937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023360" y="3072384"/>
            <a:ext cx="64008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60520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ดุลพลังงาน / GDP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0" y="31272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−5.5%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023360" y="3822192"/>
            <a:ext cx="4937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023360" y="3822192"/>
            <a:ext cx="64008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16052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มูลค่านำเข้าพลังงาน / GDP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0" y="3877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6–6.5%</a:t>
            </a:r>
            <a:endParaRPr lang="en-US" sz="1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A3C8C4C-D8BE-9C3B-3FDA-B24E3C398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วิกฤตภายในประเทศ: Supply ขาดแคลนและราคาบิดเบือน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29768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Supply Chain Disruption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ปั๊มน้ำมันปิดตัว – ดีเซลขาดตลาดหนัก (กรุงเทพฯ–นครสวรรค์)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Panic Buying: ราคาโลก vs ราคาตรึง → แรงจูงใจสำรองเกิน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ผู้ค้า ม.7 (รายใหญ่) vs ม.10 (รายย่อย): ราคาขายส่งไม่ควบคุม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42900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รถบรรทุกหันเติมน้ำมันปั๊มทั่วไปแทนคลังน้ำมัน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97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29768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โครงสร้างราคาที่บิดเบือน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573250"/>
              </p:ext>
            </p:extLst>
          </p:nvPr>
        </p:nvGraphicFramePr>
        <p:xfrm>
          <a:off x="4800600" y="1371600"/>
          <a:ext cx="4069080" cy="1005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ชนิด</a:t>
                      </a:r>
                      <a:endParaRPr lang="en-US" sz="900" baseline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ราคาจริง</a:t>
                      </a:r>
                      <a:endParaRPr lang="en-US" sz="900" baseline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ราคาควรเป็น</a:t>
                      </a:r>
                      <a:endParaRPr lang="en-US" sz="900" baseline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ส่วนต่าง</a:t>
                      </a:r>
                      <a:endParaRPr lang="en-US" sz="900" baseline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แก๊สโซฮอล์ 95</a:t>
                      </a:r>
                      <a:endParaRPr lang="en-US" sz="11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33.50</a:t>
                      </a:r>
                      <a:endParaRPr lang="en-US" sz="11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30.42</a:t>
                      </a:r>
                      <a:endParaRPr lang="en-US" sz="11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−0.73</a:t>
                      </a:r>
                      <a:endParaRPr lang="en-US" sz="11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ดีเซล ★</a:t>
                      </a:r>
                      <a:endParaRPr lang="en-US" sz="11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31.14</a:t>
                      </a:r>
                      <a:endParaRPr lang="en-US" sz="11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70.00</a:t>
                      </a:r>
                      <a:endParaRPr lang="en-US" sz="11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~39 บ.</a:t>
                      </a:r>
                      <a:endParaRPr lang="en-US" sz="11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800600" y="24871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ดีเซล: รัฐอุดหนุน ~39 บาท/ลิตร กองทุนน้ำมันฯ เสียวันละ 2,000–2,500 ล้านบาท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00600" y="31546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กฎเหล็ก: เมื่อราคาตลาดโลก ≠ ราคาขายปลีก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ระบบจะสร้างแรงจูงใจให้เกิดการบิดเบือนตลาดและขาดแคลนอย่างหลีกเลี่ยงไม่ได้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2880" y="4645152"/>
            <a:ext cx="8778240" cy="4114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0040" y="4681728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วิกฤตราคา 2 ระดับ: ระบบโลจิสติกส์สับสน รถบรรทุกขาดน้ำมัน ห่วงโซ่อุปทานทั้งประเทศเสี่ยงหยุดชะงัก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A8B268-20C1-F7BE-72F1-7C7D9CADB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สถานะการเงินและภาระหนี้สาธารณะ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7889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914400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28,109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" y="1645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ล้านบาท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920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กองทุนน้ำมันฯ ติดลบ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2585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ณ 23 มี.ค. 2569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" y="253288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เสียวันละ 2,000–2,500 ล้านบาท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หรือเดือนละ ~75,000 ล้านบาท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77724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777240"/>
            <a:ext cx="27889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914400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154680" y="1645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ล้านบาท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1920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หนี้ กฟผ. ค้างจ่าย 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22585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ค่าไฟฟ้าส่วน Fuel Tariff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54680" y="253288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หากรัฐไม่รับภาระ ค่าไฟ พ.ค.–ส.ค.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อาจปรับขึ้น 3.95–4.80 สต./หน่วย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777240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777240"/>
            <a:ext cx="27889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914400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93,000+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26480" y="1645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ล้านบาท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920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ภาระสะสมรวม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2585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กองทุนน้ำมัน + หนี้ กฟผ.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253288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กำลังกลายเป็น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Regressive Tax ต่อคนรุ่นอนาคต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3218688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" y="3218688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2735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พ.ร.ก. ค้ำประกันเงินกู้กองทุนน้ำมันฯ วงเงิน 1.5 แสนล้านบาท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3611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สถานะ: ติดล็อกรัฐธรรมนูญ มาตรา 169 – รัฐบาลรักษาการห้ามสร้างภาระผูกพันต่อ ครม. ชุดต่อไป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931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กระทรวงการคลังกำลังศึกษาทางเลือก: (1) ลดภาษีสรรพสามิต  (2) รอรัฐบาลชุดใหม่ออก พ.ร.ก.</a:t>
            </a:r>
            <a:endParaRPr lang="en-US" sz="10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4D60175-6A3D-EACF-6227-B39184F49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มาตรการฉุกเฉินภาครัฐไทย – มีนาคม 2569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600200" y="777240"/>
            <a:ext cx="0" cy="40233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" y="832104"/>
            <a:ext cx="135331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" y="83210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03-04 มี.ค.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90472" y="87782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0" y="804672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0" y="804672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65960" y="868680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ธปท. ย้ำ Wait and See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1243584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รองผู้ว่าฯ ย้ำนโยบาย 'Fairly Accommodative' และงดลดดอกเบี้ยเว้นแต่เกิด Big Shock  วิกฤตฉุด GDP 0.1–0.2%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1856232"/>
            <a:ext cx="135331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" y="185623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มี.ค.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90472" y="1901952"/>
            <a:ext cx="219456" cy="21945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0" y="182880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28800" y="1828800"/>
            <a:ext cx="64008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65960" y="189280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คุมราคาสินค้า 59 รายการ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2267712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กระทรวงพาณิชย์ควบคุมบะหมี่กึ่งสำเร็จรูป นม อาหารสัตว์ และสินค้าจำเป็น 59 รายการ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" y="2880360"/>
            <a:ext cx="135331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" y="28803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มี.ค.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90472" y="2926080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0" y="2852928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0" y="2852928"/>
            <a:ext cx="6400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65960" y="2916936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ศึกษา พ.ร.ก. เงินกู้กองทุนน้ำมันฯ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65960" y="3291840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กระทรวงการคลังศึกษากฎหมายพิเศษเพื่อกู้เงินเสริมสภาพคล่องและศึกษาลดภาษีสรรพสามิต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" y="3904488"/>
            <a:ext cx="135331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" y="390448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23-24 มี.ค.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490472" y="395020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0" y="3877056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0" y="3877056"/>
            <a:ext cx="6400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65960" y="3941064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ลดสำรองน้ำมัน 3% → 1% + รถบรรทุก 24 ชม.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65960" y="4315968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ประชาชนต่อคิวเติมดีเซล  รัฐลดสัดส่วนสำรองตามกฎหมาย  คาดปกติใน 1 สัปดาห์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A80A3C5-66DC-DA08-784E-37F5C203F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ราคาเชื้อเพลิงและ LNG ในอาเซียน (มีนาคม 2569)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ประเทศ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691640" y="7498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เบนซิน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(บาท/ลิตร)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34640" y="7498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ดีเซล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(บาท/ลิตร)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51960" y="7498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(USD/MMBtu)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0" y="749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กลไกอุดหนุน / หมายเหตุ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1115568"/>
            <a:ext cx="8778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1704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  สิงคโปร์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91640" y="11704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/>
              <a:t>87.9</a:t>
            </a:r>
          </a:p>
        </p:txBody>
      </p:sp>
      <p:sp>
        <p:nvSpPr>
          <p:cNvPr id="13" name="Text 11"/>
          <p:cNvSpPr/>
          <p:nvPr/>
        </p:nvSpPr>
        <p:spPr>
          <a:xfrm>
            <a:off x="2834640" y="11704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/>
              <a:t>99.5</a:t>
            </a:r>
          </a:p>
        </p:txBody>
      </p:sp>
      <p:sp>
        <p:nvSpPr>
          <p:cNvPr id="14" name="Text 12"/>
          <p:cNvSpPr/>
          <p:nvPr/>
        </p:nvSpPr>
        <p:spPr>
          <a:xfrm>
            <a:off x="4251960" y="11704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~19.50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1170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ราคาตลาดเสรีสูงสุด  |  ช่วยเหลือผ่าน U-Save Rebate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1536192"/>
            <a:ext cx="8778240" cy="39319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1591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🇱🇦  ลาว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159105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/>
              <a:t>62.23</a:t>
            </a:r>
          </a:p>
        </p:txBody>
      </p:sp>
      <p:sp>
        <p:nvSpPr>
          <p:cNvPr id="19" name="Text 17"/>
          <p:cNvSpPr/>
          <p:nvPr/>
        </p:nvSpPr>
        <p:spPr>
          <a:xfrm>
            <a:off x="2834640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/>
              <a:t>64.01</a:t>
            </a:r>
          </a:p>
        </p:txBody>
      </p:sp>
      <p:sp>
        <p:nvSpPr>
          <p:cNvPr id="20" name="Text 18"/>
          <p:cNvSpPr/>
          <p:nvPr/>
        </p:nvSpPr>
        <p:spPr>
          <a:xfrm>
            <a:off x="4251960" y="1591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15910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วิกฤตน้ำมันขาดแคลนรุนแรง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1956816"/>
            <a:ext cx="8778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  ฟิลิปปินส์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91640" y="20116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/>
              <a:t>51.41</a:t>
            </a:r>
          </a:p>
        </p:txBody>
      </p:sp>
      <p:sp>
        <p:nvSpPr>
          <p:cNvPr id="25" name="Text 23"/>
          <p:cNvSpPr/>
          <p:nvPr/>
        </p:nvSpPr>
        <p:spPr>
          <a:xfrm>
            <a:off x="2834640" y="2011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/>
              <a:t>64.49</a:t>
            </a:r>
          </a:p>
        </p:txBody>
      </p:sp>
      <p:sp>
        <p:nvSpPr>
          <p:cNvPr id="26" name="Text 24"/>
          <p:cNvSpPr/>
          <p:nvPr/>
        </p:nvSpPr>
        <p:spPr>
          <a:xfrm>
            <a:off x="425196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~21.00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2011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ราคาผันผวนสูง  |  เสี่ยงกลุ่มขนส่งหยุดงาน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2377440"/>
            <a:ext cx="8778240" cy="39319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" y="2432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  เวียดนาม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91640" y="24323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834640" y="2432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51960" y="24323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~18.50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32120" y="24323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อุดหนุนผ่าน Stabilization Fund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2798064"/>
            <a:ext cx="8778240" cy="393192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82880" y="2798064"/>
            <a:ext cx="54864" cy="393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8600" y="2852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🇹🇭  ไทย ★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691640" y="28529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34640" y="28254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29.94–38.94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251960" y="2852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~19.00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32120" y="28529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กองทุนน้ำมันฯ ชดเชย ~39 บ./ลิตร  |  ราคาจริง 70.00 บ.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82880" y="3218688"/>
            <a:ext cx="8778240" cy="39319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28600" y="3273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  มาเลเซีย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691640" y="3273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27.06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834640" y="32735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39.94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251960" y="32735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32120" y="3273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ตรึง RON95 ที่ 1.99 </a:t>
            </a:r>
            <a:r>
              <a:rPr lang="en-US" sz="9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ริงกิต</a:t>
            </a:r>
            <a:r>
              <a:rPr lang="th-TH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หรือ ประมาณ </a:t>
            </a: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</a:t>
            </a:r>
            <a:r>
              <a:rPr lang="th-TH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บาท แต่จำกัดการเติม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82880" y="3639312"/>
            <a:ext cx="8778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28600" y="3694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 อินโดนีเซีย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691640" y="369417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834640" y="3694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28.11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251960" y="3694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32120" y="36941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อุดหนุนหนัก  |  เสี่ยงขาดดุลงบประมาณเกิน 3% GDP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82880" y="4059936"/>
            <a:ext cx="8778240" cy="39319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28600" y="4114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🇧🇳  บรูไน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691640" y="4114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13.45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834640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7.87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251960" y="4114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532120" y="4114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ต่ำสุดในฐานะผู้ผลิตน้ำมัน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82880" y="499846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ราคาก๊าซ LNG อ้างอิงดัชนี JKM (Japan/Korea Marker) สำหรับการนำเข้าในภูมิภาคเอเชีย  |  ข้อมูล ณ 26 มีนาคม 2569</a:t>
            </a:r>
            <a:endParaRPr lang="en-US" sz="75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E661A1C4-4C7E-74B6-7929-2728F6BFE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ความเปราะบางมหภาค ASEAN-6 (Macro Vulnerability Screening)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118286"/>
              </p:ext>
            </p:extLst>
          </p:nvPr>
        </p:nvGraphicFramePr>
        <p:xfrm>
          <a:off x="182880" y="777240"/>
          <a:ext cx="7772400" cy="347472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ประเทศ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Oil+Gas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 Primary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ก๊าซ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ในไฟฟ้า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ดุล O&amp;G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 GDP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 GDP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พึ่งพา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ฮอร์มุซ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ระดับ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ความเสี่ยง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ฟิลิปปินส์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46%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~15%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-2.6%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-3.9%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40–70%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🔴 สูง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B3A6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ไทย ★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81%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45–60%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-5.5%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+2.4%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40–70%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🟡 </a:t>
                      </a:r>
                      <a:r>
                        <a:rPr lang="en-US" sz="1000" baseline="0" dirty="0" err="1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กลาง-สูง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สิงคโปร์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~95%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+0.3%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+15.6%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ทางอ้อม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🟡 กลาง-สูง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อินโดนีเซีย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~20%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-1.4%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ทางอ้อม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🟡 กลาง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เวียดนาม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~30%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~20%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+3.3%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ทางอ้อม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🟡 กลาง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มาเลเซีย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~40%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+1.1%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+2.0%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ทางอ้อม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🟢 ต่ำ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82880" y="4389120"/>
            <a:ext cx="8778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4462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 มาเลเซีย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4681728"/>
            <a:ext cx="1828800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Haven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0" y="4462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อินโดนีเซีย</a:t>
            </a:r>
            <a:endParaRPr lang="en-US" sz="1100" dirty="0"/>
          </a:p>
        </p:txBody>
      </p:sp>
      <p:sp>
        <p:nvSpPr>
          <p:cNvPr id="4" name="Shape 7"/>
          <p:cNvSpPr/>
          <p:nvPr/>
        </p:nvSpPr>
        <p:spPr>
          <a:xfrm>
            <a:off x="2560320" y="4681728"/>
            <a:ext cx="1828800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60320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0" y="4462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🇹🇭 ไทย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4681728"/>
            <a:ext cx="18288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0" y="4681728"/>
            <a:ext cx="1828800" cy="256032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49440" y="4462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 ฟิลิปปินส์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49440" y="4681728"/>
            <a:ext cx="18288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49440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E94DF83-F21E-AC2E-7AF1-D95C24E59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น้ำมันสำรองเชิงยุทธศาสตร์ (Strategic Reserve)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82880" y="8046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🇯🇵 ญี่ปุ่น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20240" y="896112"/>
            <a:ext cx="685800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20240" y="896112"/>
            <a:ext cx="685800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2119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วัน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" y="13807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เกาหลีใต้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472184"/>
            <a:ext cx="685800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20240" y="1472184"/>
            <a:ext cx="561600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09392" y="1490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วัน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" y="19568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🇹🇭 ไทย 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2048256"/>
            <a:ext cx="685800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20240" y="2048256"/>
            <a:ext cx="175500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8392" y="2066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วัน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" y="25328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 ฟิลิปปินส์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2624328"/>
            <a:ext cx="685800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20240" y="2624328"/>
            <a:ext cx="175500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48392" y="2642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วัน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 สิงคโปร์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3200400"/>
            <a:ext cx="685800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20240" y="3200400"/>
            <a:ext cx="108000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73392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วัน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" y="36850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อินโดนีเซีย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20240" y="3776472"/>
            <a:ext cx="685800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20240" y="3776472"/>
            <a:ext cx="59400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87392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วัน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" y="42611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 เวียดนาม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0240" y="4352544"/>
            <a:ext cx="685800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920240" y="4352544"/>
            <a:ext cx="48600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79392" y="4370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วัน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" y="4754880"/>
            <a:ext cx="877824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7914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ไทยลดสำรอง 3% → 1% เพื่อเพิ่มสภาพคล่องหน้าปั๊ม แต่ลดความสามารถรับมือ Shock ในอนาคต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8767C59-0532-44A3-86E0-A2C233E51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ไทม์ไลน์มาตรการรายประเทศ ASEAN (มีนาคม 2569)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297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86868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อินโดนีเซีย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 แทรกแซง Spot/NDF พยุงรูเปียห์ (2 มี.ค.)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" y="1399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คง BI Rate 4.75% (18 มี.ค.)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" y="16093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ยอมรับอาจเกินขาดดุล 3% GDP (13 มี.ค.)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18196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WFH 1 วัน/สัปดาห์ + Hybrid เรียน (เม.ย.)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2167128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2880" y="2167128"/>
            <a:ext cx="4297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225856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 มาเลเซีย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" y="2578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ตลาดหุ้น Safe Haven ของภูมิภาค (18 มี.ค.)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27889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ตรึง RON95 ที่ 1.99 ริงกิต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" y="2999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รัฐบาล 4 วัน/สัปดาห์ + WFH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" y="32095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ห้ามเดินทางต่างประเทศที่ไม่จำเป็น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557016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" y="3557016"/>
            <a:ext cx="4297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" y="364845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 ฟิลิปปินส์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" y="39684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BSP พร้อมขึ้นดอกเบี้ยหาก oil &gt; $100 (6–10 มี.ค.)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" y="41788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เพิ่มสต็อกสำรองเป็น 70 วัน (18–19 มี.ค.)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" y="4389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เร่งนำเข้าปุ๋ยจากจีนทดแทนตอ.กลาง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2608" y="45994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20+ กลุ่มขนส่งเตรียมหยุดงาน 26–27 มี.ค.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777240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777240"/>
            <a:ext cx="4297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86868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 สิงคโปร์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1188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 ติดตามสถานการณ์ (2–13 มี.ค.)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1399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Inflation พุ่ง 1.4% สูงสุดตั้งแต่ปี 2024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73168" y="16093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เพิ่ม U-Save Rebate 1.5 เท่าปกติ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18196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เตรียมช่วยเหลือครัวเรือนและธุรกิจ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167128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2167128"/>
            <a:ext cx="429768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73168" y="225856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 เวียดนาม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3168" y="2578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70–80% Supplier ขอขึ้นราคาสินค้า (สูงสุดในรอบหลายปี)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73168" y="2826495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Stabilization Fund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พยุงราคาน้ำมัน</a:t>
            </a:r>
            <a:r>
              <a:rPr lang="th-TH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th-TH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เป็นกองทุนที่บริหารจัดการผ่านบัญชีของบริษัทผู้ค้าน้ำมันรายใหญ่ (เช่น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Petrolimex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th-TH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ภายใต้การควบคุมของรัฐบาล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73168" y="309597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ส่งออกน้ำมันดิบสู่โรงกลั่นในประเทศก่อน</a:t>
            </a:r>
            <a:endParaRPr lang="en-US" sz="9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F5A363B-351B-D308-BAA8-9F9E280B8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ประมาณการ GDP และเงินเฟ้อ ASEAN-6 (Maybank Research)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5486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1381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Stagflationary Shock: ASEAN-6 GDP เฉลี่ยปรับลงสู่ 4.5% (จาก 4.8%)  | 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เงินเฟ้อเฉลี่ย</a:t>
            </a:r>
            <a:r>
              <a:rPr lang="th-TH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ขึ้นสู่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2.7% (จาก 2.2%)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4846320" cy="320040"/>
          </a:xfrm>
          <a:prstGeom prst="rect">
            <a:avLst/>
          </a:prstGeom>
          <a:solidFill>
            <a:srgbClr val="1B3A6B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2026F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847392"/>
              </p:ext>
            </p:extLst>
          </p:nvPr>
        </p:nvGraphicFramePr>
        <p:xfrm>
          <a:off x="182880" y="1737360"/>
          <a:ext cx="4846320" cy="278892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ประเทศ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2568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เดิม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ใหม่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Δ (ppt)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2570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เวียดนาม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7.6%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7.2%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ฟิลิปปินส์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4.4%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4.5%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ไทย ★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2.4%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2.1%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1.8%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-0.3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0D948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2.5%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อินโดนีเซีย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5.1%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5.2%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5.2%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สิงคโปร์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3.6%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3.4%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มาเลเซีย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5.2%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5.1%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-0.2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4.7%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ASEAN-6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4.8%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4.5%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-0.3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0D948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4.7%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212080" y="1417320"/>
            <a:ext cx="3749040" cy="320040"/>
          </a:xfrm>
          <a:prstGeom prst="rect">
            <a:avLst/>
          </a:prstGeom>
          <a:solidFill>
            <a:srgbClr val="0D9488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1208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2026F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771042"/>
              </p:ext>
            </p:extLst>
          </p:nvPr>
        </p:nvGraphicFramePr>
        <p:xfrm>
          <a:off x="5212080" y="1737360"/>
          <a:ext cx="3749040" cy="235566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ประเทศ</a:t>
                      </a:r>
                      <a:endParaRPr lang="en-US" sz="8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2568</a:t>
                      </a:r>
                      <a:endParaRPr lang="en-US" sz="8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เดิม</a:t>
                      </a:r>
                      <a:endParaRPr lang="en-US" sz="8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ใหม่</a:t>
                      </a:r>
                      <a:endParaRPr lang="en-US" sz="8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Δ</a:t>
                      </a:r>
                      <a:endParaRPr lang="en-US" sz="8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น้ำหนัก</a:t>
                      </a:r>
                      <a:endParaRPr lang="en-US" sz="7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พลังงาน</a:t>
                      </a:r>
                      <a:endParaRPr lang="en-US" sz="7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ไทย ★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+0.8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11.9%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อินโดนีเซีย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2.8%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3.3%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+0.5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11.5%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ฟิลิปปินส์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1.7%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2.8%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3.3%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+0.5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9.1%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เวียดนาม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3.3%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3.7%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4.1%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+0.4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10.0%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สิงคโปร์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0.9%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1.6%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1.8%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+0.2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3.8%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มาเลเซีย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1.4%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1.7%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1.8%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+0.1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9.0%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212080" y="439753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ไทยมีการส่งผ่านราคาพลังงาน (Pass-through) สูงสุด เนื่องจากน้ำหนักพลังงานในตะกร้า CPI </a:t>
            </a:r>
            <a:r>
              <a:rPr lang="th-TH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อยู่ที่</a:t>
            </a: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11.9%</a:t>
            </a:r>
            <a:endParaRPr lang="en-US" sz="9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DAD070-E920-B487-979B-1C553B884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ทิศทางอัตราดอกเบี้ยนโยบาย: Pause Easing Cycle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8778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6400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 ฟิลิปปินส์ (BSP)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ปัจจุบัน: 4.25%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896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เดิม: 4.00% → ใหม่: 4.50%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188720"/>
            <a:ext cx="100584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188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+25bps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8961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มีโอกาสขึ้นดอกเบี้ยสกัดเงินเฟ้อ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609344"/>
            <a:ext cx="8778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2880" y="1609344"/>
            <a:ext cx="64008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700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อินโดนีเซีย (BI)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1993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ปัจจุบัน: 4.75%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1700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เดิม: 4.25% → ใหม่: 4.75%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1993392"/>
            <a:ext cx="1005840" cy="219456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0" y="1993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1700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เน้นแทรกแซงตลาดเงิน Spot/NDF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414016"/>
            <a:ext cx="8778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2880" y="2414016"/>
            <a:ext cx="64008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5054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🇹🇭 ไทย (ธปท.)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27980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ปัจจุบัน: 1.00%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2505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เดิม: 1.00% → ใหม่: 1.00%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2798064"/>
            <a:ext cx="1005840" cy="219456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0" y="27980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25054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and See – งดลดดอกเบี้ยเว้นแต่ Big Shock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218688"/>
            <a:ext cx="8778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3218688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 มาเลเซีย (BNM)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36027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ปัจจุบัน: 2.75%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เดิม: 2.75% → ใหม่: 2.75%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926080" y="3602736"/>
            <a:ext cx="1005840" cy="219456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926080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3310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คงอัตราสนับสนุนการเติบโต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4023360"/>
            <a:ext cx="8778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82880" y="4023360"/>
            <a:ext cx="64008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 เวียดนาม (SBV)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4407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ปัจจุบัน: 4.50%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608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เดิม: 4.50% → ใหม่: 4.50%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26080" y="4407408"/>
            <a:ext cx="1005840" cy="219456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926080" y="44074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928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เฝ้าระวังค้าปลีกและราคาอาหาร</a:t>
            </a:r>
            <a:endParaRPr lang="en-US" sz="1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94AA058-6FA1-9ED3-060B-0BE19E780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4 ช่องทางการส่งผ่านผลกระทบ (Transmission Channels)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64008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896112"/>
            <a:ext cx="123444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896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ทันที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868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ต้นทุนเชื้อเพลิงโดยตรง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32588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สายการบิน: JP-8 = 25–35% ต้นทุน (Surcharge ชดเชย 70–85%)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ขนส่ง/3PL: ดีเซล = 30–40% ต้นทุน (Margin ถูกบีบ)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14884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Tanker: ได้ประโยชน์จาก Freight Rate พุ่ง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777240"/>
            <a:ext cx="64008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00600" y="86868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89520" y="896112"/>
            <a:ext cx="123444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0" y="896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สัปดาห์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868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วัตถุดิบปิโตรเคมี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32588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พลาสติก/PVC: Naphtha +8-12% ต่อน้ำมัน $10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17373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Fashion: Polyester + ค่าระวางตู้คอนเทนเนอร์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14884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บรรจุภัณฑ์และก่อสร้าง: ต้นทุนวัตถุดิบพุ่ง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278892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278892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108960" y="2907792"/>
            <a:ext cx="123444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08960" y="2907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ทันที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2880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เกษตรและ Biofuel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33375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กลไก Biofuel Floor: น้ำมันแพง → ข้าวโพด/ปาล์ม/ถั่วเหลืองแพง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374904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ปุ๋ยยูเรีย: ก๊าซแพง → ปุ๋ยพุ่ง → อาหาร Second-round Effect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416052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ไทยนำเข้าปุ๋ยยูเรียจากตอ.กลาง 74%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78892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2788920"/>
            <a:ext cx="64008" cy="1874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2880360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589520" y="2907792"/>
            <a:ext cx="1234440" cy="27432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589520" y="2907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 เดือน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57800" y="2880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ค่าไฟฟ้าและสาธารณูปโภค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33375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Center / โรงน้ำแข็ง: รับผลกระทบผ่านค่า Ft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374904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ศูนย์การค้า / โรงแรม: ค่าไฟเป็นต้นทุนอันดับต้น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416052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หนี้ กฟผ. 65,000 ล้านบาท → ค่าไฟอาจขึ้น 3.95–4.80 สต./หน่วย</a:t>
            </a:r>
            <a:endParaRPr lang="en-US" sz="9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0B0A029-6926-AE06-E325-F1548C566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Sector Scorecard: K-Shaped Impact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032014"/>
              </p:ext>
            </p:extLst>
          </p:nvPr>
        </p:nvGraphicFramePr>
        <p:xfrm>
          <a:off x="182880" y="777240"/>
          <a:ext cx="8778240" cy="4069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กลุ่มอุตสาหกรรม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ความอ่อนไหว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ผลักต้นทุน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Inventory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baseline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ผลสุทธิ</a:t>
                      </a:r>
                      <a:endParaRPr lang="en-US" sz="9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E&amp;P / ผู้ผลิตน้ำมัน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วิกฤต(+)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เต็มที่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มี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🟢 ได้ประโยชน์สูงสุด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สินค้าเกษตร (Biofuel)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สูง(+)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เต็มที่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3–6 ด.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🟢 ได้ประโยชน์เชิงโครงสร้าง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Branded Pharma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ต่ำ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เต็มที่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3–6 ด.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🟢 ปลอดภัย / เติบโต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Discount Retail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ปานกลาง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บางส่วน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4–6 ส.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🟢 แรงหนุน Trade-down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โลจิสติกส์ / 3PL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สูง(−)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60–70%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ไม่มี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🟡 Margin ถูกบีบ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สายการบิน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วิกฤต(−)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70–85%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ไม่มี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🟡 </a:t>
                      </a:r>
                      <a:r>
                        <a:rPr lang="en-US" sz="1000" b="1" baseline="0" dirty="0" err="1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ต้นทุนพุ่ง</a:t>
                      </a:r>
                      <a:r>
                        <a:rPr lang="en-US" sz="1000" b="1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000" b="1" baseline="0" dirty="0" err="1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แต่</a:t>
                      </a:r>
                      <a:r>
                        <a:rPr lang="th-TH" sz="1000" b="1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000" b="1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Pass-on </a:t>
                      </a:r>
                      <a:r>
                        <a:rPr lang="th-TH" sz="1000" b="1" baseline="0" dirty="0">
                          <a:solidFill>
                            <a:srgbClr val="D9770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ได้บ้าง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Fixed-bid Contractor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สูง(−)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ไม่ได้เลย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ไม่มี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🔴 Margin ติดลบ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Premium Grocery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ปานกลาง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ปานกลาง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aseline="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ไม่มี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🔴 </a:t>
                      </a:r>
                      <a:r>
                        <a:rPr lang="th-TH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คนอาจจะ </a:t>
                      </a:r>
                      <a:r>
                        <a:rPr lang="en-US" sz="1000" b="1" baseline="0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Switch </a:t>
                      </a:r>
                      <a:endParaRPr lang="en-US" sz="1000" baseline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93776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ความอ่อนไหวต่อน้ำมัน ≠ ความเสี่ยง  |  ธุรกิจที่มี Inventory &gt; 60 วัน คือ 'กันชน' ต่อ Oil Shock 2 เดือน</a:t>
            </a:r>
            <a:endParaRPr lang="en-US" sz="9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F91E6-F4CD-7ED8-EDF0-7D3360B59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13B  ผลกระทบรายสาขาอุตสาหกรรม (Sectoral Deep Dive)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697096"/>
            <a:ext cx="8778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697096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770248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7885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ปิโตรเคมีและการผลิต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1725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ไทยและสิงคโปร์เสี่ยงสูงสุด – พึ่งพาก๊าซ/วัตถุดิบจากอ่าวเปอร์เซีย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4194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พลาสติก สิ่งทอสังเคราะห์: ต้นทุน Naphtha พุ่งตาม Crude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6663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โรงกลั่น: Margin ได้รับผลกระทบทั้ง Feedstock และ Freight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068696"/>
            <a:ext cx="8778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2880" y="2068696"/>
            <a:ext cx="64008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14184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1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21601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การเกษตรและปุ๋ย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25441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ไทยนำเข้าปุ๋ยยูเรียจากตะวันออกกลาง 74% – เสี่ยง Second-round Effect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27910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ฟิลิปปินส์เร่งนำเข้าปุ๋ยจากจีนทดแทน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" y="30379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Biofuel Floor: ข้าวโพด ปาล์ม ถั่วเหลืองได้รับ Price Support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440296"/>
            <a:ext cx="8778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2880" y="3440296"/>
            <a:ext cx="64008" cy="12618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51344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513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35317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การท่องเที่ยว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39157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Gulf Hubs (Dubai/Doha) เบี่ยงเส้นทางบิน → ค่าตั๋วพุ่ง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" y="4162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ไทยเสี่ยงสูง: นักท่องเที่ยวยุโรปและตะวันออกกลางลด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" y="44095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โรงแรม: ค่าไฟสูงขึ้น + Demand ลดลง = Double Hit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4733212"/>
            <a:ext cx="877824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476978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Second-round Effect จากราคาปุ๋ยและอาหารคือความเสี่ยงที่ตลาดยังไม่ได้ Price-in ครบ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6023831-C1A7-1CC0-B599-48D79D806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มุมมองการลงทุน (Investment Perspective)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677348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677348"/>
            <a:ext cx="27432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8419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 มาเลเซีย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271708"/>
            <a:ext cx="246888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2717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HAVEN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28908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6831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Energy Exporter – ได้ประโยชน์ราคาน้ำมันสูง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62502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5793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ริงกิตแข็ง – ดึงดูดเงินทุนต่างชาติ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521132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4754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ตลาดหุ้น Outperform ภูมิภาค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36392" y="677348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36392" y="677348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46120" y="8419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อินโดนีเซีย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1271708"/>
            <a:ext cx="246888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12717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73552" y="172890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7872" y="16831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</a:t>
            </a:r>
            <a:r>
              <a:rPr lang="th-TH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มีสัดส่วนสูงใน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– Diversified economy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73552" y="26250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47872" y="25793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ตลาดหุ้น Priced-in ปัจจัยลบแล้วมาก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73552" y="352113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47872" y="34754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 ถ่านหิน 25% ช่วยลดการพึ่งพา LNG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9904" y="677348"/>
            <a:ext cx="3063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9904" y="677348"/>
            <a:ext cx="30632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9632" y="8419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🇹🇭 ไทย / ฟิลิปปินส์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99632" y="1271708"/>
            <a:ext cx="2788920" cy="292608"/>
          </a:xfrm>
          <a:prstGeom prst="rect">
            <a:avLst/>
          </a:prstGeom>
          <a:gradFill>
            <a:gsLst>
              <a:gs pos="0">
                <a:srgbClr val="C00000"/>
              </a:gs>
              <a:gs pos="63000">
                <a:schemeClr val="accent2">
                  <a:lumMod val="60000"/>
                  <a:lumOff val="40000"/>
                </a:schemeClr>
              </a:gs>
              <a:gs pos="33000">
                <a:schemeClr val="accent2"/>
              </a:gs>
              <a:gs pos="100000">
                <a:srgbClr val="FFC000"/>
              </a:gs>
            </a:gsLst>
            <a:lin ang="10800000" scaled="0"/>
          </a:gra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99632" y="12717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SELECTED/VULNERABLE ★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27064" y="1728908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01384" y="168318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Deficit + ภาระหนี้อุดหนุนพลังงานสะสม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27064" y="262502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01384" y="25793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ต่ำ</a:t>
            </a:r>
            <a:r>
              <a:rPr lang="th-TH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เมื่อเทียบ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ภูมิภาค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เงินเฟ้อ Pass-through สูง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27064" y="3521132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01384" y="347541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ความเสี่ยงการเมือง: พ.ร.ก. ติดล็อก + ประท้วงขนส่ง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82880" y="4697404"/>
            <a:ext cx="8778240" cy="4114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4733980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ไทย: เฝ้าระวัง 3 ตัวชี้วัด – (1) สถานะกองทุนน้ำมันฯ  (2) ค่าไฟรอบ พ.ค.–ส.ค.  (3) ความคืบหน้า พ.ร.ก. กู้เงิน</a:t>
            </a:r>
            <a:endParaRPr lang="en-US" sz="1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517D5A5-1FF4-870E-0C1C-4B39EC2A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  ข้อเสนอแนะเชิงนโยบาย: 3 ทางออกที่ยั่งยืน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677348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677348"/>
            <a:ext cx="2834640" cy="73152"/>
          </a:xfrm>
          <a:prstGeom prst="rect">
            <a:avLst/>
          </a:prstGeom>
          <a:solidFill>
            <a:srgbClr val="2554A0"/>
          </a:solidFill>
          <a:ln w="12700">
            <a:solidFill>
              <a:srgbClr val="255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814508"/>
            <a:ext cx="475488" cy="475488"/>
          </a:xfrm>
          <a:prstGeom prst="rect">
            <a:avLst/>
          </a:prstGeom>
          <a:solidFill>
            <a:srgbClr val="2554A0"/>
          </a:solidFill>
          <a:ln w="12700">
            <a:solidFill>
              <a:srgbClr val="255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8145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8327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" y="14271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กระจายแหล่งนำเข้า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" y="1957508"/>
            <a:ext cx="2606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2048948"/>
            <a:ext cx="2606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เร่งทำสัญญา LNG ระยะยาวกับแหล่งที่ไม่ผ่านช่องแคบฮอร์มุซ เช่น Alaska LNG และออสเตรเลีย เพื่อลดความเสี่ยงจากราคา Spot และภูมิรัฐศาสตร์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677348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2968" y="677348"/>
            <a:ext cx="2834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82696" y="814508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82696" y="8145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58768" y="8327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82696" y="14271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เร่งพลังงานสะอาด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82696" y="1957508"/>
            <a:ext cx="2606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82696" y="2048948"/>
            <a:ext cx="2606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ส่งเสริม Solar Rooftop และ Battery Storage เพื่อลดการพึ่งพาก๊าซ 55–60% ในการผลิตไฟฟ้า ลดต้นทุนพลังงานไทยในระยะยาว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677348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63056" y="677348"/>
            <a:ext cx="28346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2784" y="814508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72784" y="8145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48856" y="8327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72784" y="14271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ปฏิรูปกองทุนน้ำมันฯ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2784" y="1957508"/>
            <a:ext cx="2606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72784" y="2048948"/>
            <a:ext cx="2606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แยกบัญชีเชื้อเพลิงให้ชัดเจน + ใช้ Windfall Tax ในช่วงที่ผู้ประกอบการกำไรสูง เป็นกันชนแทนการกู้เงิน ป้องกัน Regressive Tax ต่อรุ่นอนาคต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4689720"/>
            <a:ext cx="8778240" cy="4114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4726296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รูปแบบการบริหารแบบ 'ตรึงราคา–กู้หนี้–ตรึงราคา' กำลังถึงทางตัน  ต้องปฏิรูปเชิงโครงสร้างโดยเร็ว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EDDC633-E327-8733-C169-B7305030A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247" y="-42444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749040" y="0"/>
            <a:ext cx="6400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ความอ่อนไหวต่อน้ำมัน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ความเสี่ยง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28346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"Oil Sensitivity ≠ Oil Risk"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3310128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K-Shaped Impact: กลุ่ม Upstream Energy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เกษตร และ Discount Retail ได้ประโยชน์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ขณะที่ Fixed-bid Contractor และ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Consumer เสี่ยง Margin ติดลบ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77640" y="3840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ปัจจัยที่นักลงทุนต้องติดตาม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77640" y="914400"/>
            <a:ext cx="4937760" cy="111556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50792" y="987552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50792" y="987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1005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สถานะกองทุนน้ำมันฯ และ พ.ร.ก.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13716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กองทุนติดลบ 28,109 ล้านบาท 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 1.5 แสนล้านฯ ยังติดล็อก ม.169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77640" y="2194560"/>
            <a:ext cx="4937760" cy="111556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50792" y="2267712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50792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ค่าไฟฟ้ารอบ พ.ค.–ส.ค. 2569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651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หนี้ กฟผ. 65,000 ล้านบาท 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อาจปรับขึ้น 3.95–4.80 สต./หน่วย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77640" y="3474720"/>
            <a:ext cx="4937760" cy="111556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50792" y="3547872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50792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3566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ระยะเวลาวิกฤตช่องแคบฮอร์มุซ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9319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น้ำมัน +10% → GDP ไทย −0.3 ถึง −0.5 ppt 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สถานการณ์สงบ = Recovery ทันที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0" y="4892040"/>
            <a:ext cx="5212080" cy="1828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31920" y="49103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Maybank Research | DEDE | Thai Oil Fund | The Star | Thairath English | Bangkok Biz News | BBL AM</a:t>
            </a:r>
            <a:endParaRPr lang="en-US" sz="7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575556F-7F51-569F-D24B-ED1BDD2C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4389120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3141</Words>
  <Application>Microsoft Office PowerPoint</Application>
  <PresentationFormat>On-screen Show (16:9)</PresentationFormat>
  <Paragraphs>644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MT 295</cp:lastModifiedBy>
  <cp:revision>4</cp:revision>
  <cp:lastPrinted>2026-03-31T02:25:56Z</cp:lastPrinted>
  <dcterms:created xsi:type="dcterms:W3CDTF">2026-03-25T08:00:46Z</dcterms:created>
  <dcterms:modified xsi:type="dcterms:W3CDTF">2026-03-31T02:32:48Z</dcterms:modified>
</cp:coreProperties>
</file>