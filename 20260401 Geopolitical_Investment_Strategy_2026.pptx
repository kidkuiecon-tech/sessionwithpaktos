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4" r:id="rId18"/>
    <p:sldId id="273" r:id="rId19"/>
    <p:sldId id="275" r:id="rId20"/>
    <p:sldId id="276" r:id="rId21"/>
  </p:sldIdLst>
  <p:sldSz cx="9144000" cy="5143500" type="screen16x9"/>
  <p:notesSz cx="6807200" cy="993933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F3C67"/>
    <a:srgbClr val="61D09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65EB71A-3988-481E-9E7C-4D8F94B165B4}" v="13" dt="2026-04-01T08:40:21.17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00" autoAdjust="0"/>
    <p:restoredTop sz="94404" autoAdjust="0"/>
  </p:normalViewPr>
  <p:slideViewPr>
    <p:cSldViewPr snapToGrid="0" snapToObjects="1">
      <p:cViewPr varScale="1">
        <p:scale>
          <a:sx n="88" d="100"/>
          <a:sy n="88" d="100"/>
        </p:scale>
        <p:origin x="420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28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T 295" userId="51761b2db79a49e1" providerId="LiveId" clId="{A7EDF262-5755-4CED-AE35-4458901E824D}"/>
    <pc:docChg chg="undo custSel modSld">
      <pc:chgData name="MT 295" userId="51761b2db79a49e1" providerId="LiveId" clId="{A7EDF262-5755-4CED-AE35-4458901E824D}" dt="2026-04-01T08:46:18.605" v="65" actId="404"/>
      <pc:docMkLst>
        <pc:docMk/>
      </pc:docMkLst>
      <pc:sldChg chg="modSp mod">
        <pc:chgData name="MT 295" userId="51761b2db79a49e1" providerId="LiveId" clId="{A7EDF262-5755-4CED-AE35-4458901E824D}" dt="2026-04-01T08:14:26.377" v="8" actId="14100"/>
        <pc:sldMkLst>
          <pc:docMk/>
          <pc:sldMk cId="0" sldId="257"/>
        </pc:sldMkLst>
        <pc:spChg chg="mod">
          <ac:chgData name="MT 295" userId="51761b2db79a49e1" providerId="LiveId" clId="{A7EDF262-5755-4CED-AE35-4458901E824D}" dt="2026-04-01T08:14:12.371" v="4" actId="1036"/>
          <ac:spMkLst>
            <pc:docMk/>
            <pc:sldMk cId="0" sldId="257"/>
            <ac:spMk id="5" creationId="{00000000-0000-0000-0000-000000000000}"/>
          </ac:spMkLst>
        </pc:spChg>
        <pc:graphicFrameChg chg="modGraphic">
          <ac:chgData name="MT 295" userId="51761b2db79a49e1" providerId="LiveId" clId="{A7EDF262-5755-4CED-AE35-4458901E824D}" dt="2026-04-01T08:14:26.377" v="8" actId="14100"/>
          <ac:graphicFrameMkLst>
            <pc:docMk/>
            <pc:sldMk cId="0" sldId="257"/>
            <ac:graphicFrameMk id="7" creationId="{00000000-0000-0000-0000-000000000000}"/>
          </ac:graphicFrameMkLst>
        </pc:graphicFrameChg>
      </pc:sldChg>
      <pc:sldChg chg="addSp modSp mod">
        <pc:chgData name="MT 295" userId="51761b2db79a49e1" providerId="LiveId" clId="{A7EDF262-5755-4CED-AE35-4458901E824D}" dt="2026-04-01T08:14:59.384" v="19" actId="20577"/>
        <pc:sldMkLst>
          <pc:docMk/>
          <pc:sldMk cId="0" sldId="259"/>
        </pc:sldMkLst>
        <pc:spChg chg="add mod">
          <ac:chgData name="MT 295" userId="51761b2db79a49e1" providerId="LiveId" clId="{A7EDF262-5755-4CED-AE35-4458901E824D}" dt="2026-04-01T08:14:40.124" v="9"/>
          <ac:spMkLst>
            <pc:docMk/>
            <pc:sldMk cId="0" sldId="259"/>
            <ac:spMk id="12" creationId="{6D2E7EE4-B570-10D6-112A-89FCF2AFB0B2}"/>
          </ac:spMkLst>
        </pc:spChg>
        <pc:spChg chg="add mod">
          <ac:chgData name="MT 295" userId="51761b2db79a49e1" providerId="LiveId" clId="{A7EDF262-5755-4CED-AE35-4458901E824D}" dt="2026-04-01T08:14:59.384" v="19" actId="20577"/>
          <ac:spMkLst>
            <pc:docMk/>
            <pc:sldMk cId="0" sldId="259"/>
            <ac:spMk id="13" creationId="{210C2E43-1099-1978-E0C7-007478D9EE2C}"/>
          </ac:spMkLst>
        </pc:spChg>
      </pc:sldChg>
      <pc:sldChg chg="modSp mod">
        <pc:chgData name="MT 295" userId="51761b2db79a49e1" providerId="LiveId" clId="{A7EDF262-5755-4CED-AE35-4458901E824D}" dt="2026-04-01T08:14:12.645" v="5" actId="1076"/>
        <pc:sldMkLst>
          <pc:docMk/>
          <pc:sldMk cId="0" sldId="261"/>
        </pc:sldMkLst>
        <pc:spChg chg="mod">
          <ac:chgData name="MT 295" userId="51761b2db79a49e1" providerId="LiveId" clId="{A7EDF262-5755-4CED-AE35-4458901E824D}" dt="2026-04-01T08:14:12.645" v="5" actId="1076"/>
          <ac:spMkLst>
            <pc:docMk/>
            <pc:sldMk cId="0" sldId="261"/>
            <ac:spMk id="37" creationId="{00000000-0000-0000-0000-000000000000}"/>
          </ac:spMkLst>
        </pc:spChg>
      </pc:sldChg>
      <pc:sldChg chg="modSp mod">
        <pc:chgData name="MT 295" userId="51761b2db79a49e1" providerId="LiveId" clId="{A7EDF262-5755-4CED-AE35-4458901E824D}" dt="2026-04-01T08:46:18.605" v="65" actId="404"/>
        <pc:sldMkLst>
          <pc:docMk/>
          <pc:sldMk cId="0" sldId="269"/>
        </pc:sldMkLst>
        <pc:spChg chg="mod">
          <ac:chgData name="MT 295" userId="51761b2db79a49e1" providerId="LiveId" clId="{A7EDF262-5755-4CED-AE35-4458901E824D}" dt="2026-04-01T08:45:38.874" v="60" actId="207"/>
          <ac:spMkLst>
            <pc:docMk/>
            <pc:sldMk cId="0" sldId="269"/>
            <ac:spMk id="59" creationId="{00000000-0000-0000-0000-000000000000}"/>
          </ac:spMkLst>
        </pc:spChg>
        <pc:spChg chg="mod">
          <ac:chgData name="MT 295" userId="51761b2db79a49e1" providerId="LiveId" clId="{A7EDF262-5755-4CED-AE35-4458901E824D}" dt="2026-04-01T08:46:02.079" v="63" actId="207"/>
          <ac:spMkLst>
            <pc:docMk/>
            <pc:sldMk cId="0" sldId="269"/>
            <ac:spMk id="60" creationId="{00000000-0000-0000-0000-000000000000}"/>
          </ac:spMkLst>
        </pc:spChg>
        <pc:spChg chg="mod">
          <ac:chgData name="MT 295" userId="51761b2db79a49e1" providerId="LiveId" clId="{A7EDF262-5755-4CED-AE35-4458901E824D}" dt="2026-04-01T08:45:48.575" v="61" actId="207"/>
          <ac:spMkLst>
            <pc:docMk/>
            <pc:sldMk cId="0" sldId="269"/>
            <ac:spMk id="74" creationId="{00000000-0000-0000-0000-000000000000}"/>
          </ac:spMkLst>
        </pc:spChg>
        <pc:spChg chg="mod">
          <ac:chgData name="MT 295" userId="51761b2db79a49e1" providerId="LiveId" clId="{A7EDF262-5755-4CED-AE35-4458901E824D}" dt="2026-04-01T08:45:48.575" v="61" actId="207"/>
          <ac:spMkLst>
            <pc:docMk/>
            <pc:sldMk cId="0" sldId="269"/>
            <ac:spMk id="76" creationId="{00000000-0000-0000-0000-000000000000}"/>
          </ac:spMkLst>
        </pc:spChg>
        <pc:spChg chg="mod">
          <ac:chgData name="MT 295" userId="51761b2db79a49e1" providerId="LiveId" clId="{A7EDF262-5755-4CED-AE35-4458901E824D}" dt="2026-04-01T08:45:33.012" v="59" actId="20577"/>
          <ac:spMkLst>
            <pc:docMk/>
            <pc:sldMk cId="0" sldId="269"/>
            <ac:spMk id="104" creationId="{00000000-0000-0000-0000-000000000000}"/>
          </ac:spMkLst>
        </pc:spChg>
        <pc:spChg chg="mod">
          <ac:chgData name="MT 295" userId="51761b2db79a49e1" providerId="LiveId" clId="{A7EDF262-5755-4CED-AE35-4458901E824D}" dt="2026-04-01T08:46:11.988" v="64" actId="207"/>
          <ac:spMkLst>
            <pc:docMk/>
            <pc:sldMk cId="0" sldId="269"/>
            <ac:spMk id="122" creationId="{00000000-0000-0000-0000-000000000000}"/>
          </ac:spMkLst>
        </pc:spChg>
        <pc:spChg chg="mod">
          <ac:chgData name="MT 295" userId="51761b2db79a49e1" providerId="LiveId" clId="{A7EDF262-5755-4CED-AE35-4458901E824D}" dt="2026-04-01T08:46:18.605" v="65" actId="404"/>
          <ac:spMkLst>
            <pc:docMk/>
            <pc:sldMk cId="0" sldId="269"/>
            <ac:spMk id="138" creationId="{00000000-0000-0000-0000-000000000000}"/>
          </ac:spMkLst>
        </pc:spChg>
      </pc:sldChg>
      <pc:sldChg chg="addSp modSp">
        <pc:chgData name="MT 295" userId="51761b2db79a49e1" providerId="LiveId" clId="{A7EDF262-5755-4CED-AE35-4458901E824D}" dt="2026-04-01T08:15:26.387" v="21"/>
        <pc:sldMkLst>
          <pc:docMk/>
          <pc:sldMk cId="1772737228" sldId="271"/>
        </pc:sldMkLst>
        <pc:spChg chg="add mod">
          <ac:chgData name="MT 295" userId="51761b2db79a49e1" providerId="LiveId" clId="{A7EDF262-5755-4CED-AE35-4458901E824D}" dt="2026-04-01T08:15:14.964" v="20"/>
          <ac:spMkLst>
            <pc:docMk/>
            <pc:sldMk cId="1772737228" sldId="271"/>
            <ac:spMk id="12" creationId="{D3FE81F8-F0FB-39F6-91D0-FFB5B3919B81}"/>
          </ac:spMkLst>
        </pc:spChg>
        <pc:spChg chg="add mod">
          <ac:chgData name="MT 295" userId="51761b2db79a49e1" providerId="LiveId" clId="{A7EDF262-5755-4CED-AE35-4458901E824D}" dt="2026-04-01T08:15:26.387" v="21"/>
          <ac:spMkLst>
            <pc:docMk/>
            <pc:sldMk cId="1772737228" sldId="271"/>
            <ac:spMk id="13" creationId="{B362E8E1-0A9A-99AD-2092-A57F70D45DF2}"/>
          </ac:spMkLst>
        </pc:spChg>
      </pc:sldChg>
      <pc:sldChg chg="addSp modSp mod">
        <pc:chgData name="MT 295" userId="51761b2db79a49e1" providerId="LiveId" clId="{A7EDF262-5755-4CED-AE35-4458901E824D}" dt="2026-04-01T08:15:36.791" v="39" actId="20577"/>
        <pc:sldMkLst>
          <pc:docMk/>
          <pc:sldMk cId="455729904" sldId="272"/>
        </pc:sldMkLst>
        <pc:spChg chg="mod">
          <ac:chgData name="MT 295" userId="51761b2db79a49e1" providerId="LiveId" clId="{A7EDF262-5755-4CED-AE35-4458901E824D}" dt="2026-04-01T08:15:36.791" v="39" actId="20577"/>
          <ac:spMkLst>
            <pc:docMk/>
            <pc:sldMk cId="455729904" sldId="272"/>
            <ac:spMk id="6" creationId="{70D2BCED-2F76-3E46-75CC-D249A520FDA5}"/>
          </ac:spMkLst>
        </pc:spChg>
        <pc:spChg chg="add mod">
          <ac:chgData name="MT 295" userId="51761b2db79a49e1" providerId="LiveId" clId="{A7EDF262-5755-4CED-AE35-4458901E824D}" dt="2026-04-01T08:15:27.575" v="22"/>
          <ac:spMkLst>
            <pc:docMk/>
            <pc:sldMk cId="455729904" sldId="272"/>
            <ac:spMk id="9" creationId="{9E9BB50F-A58D-35EF-C1A6-8035D3862E59}"/>
          </ac:spMkLst>
        </pc:spChg>
      </pc:sldChg>
      <pc:sldChg chg="addSp modSp">
        <pc:chgData name="MT 295" userId="51761b2db79a49e1" providerId="LiveId" clId="{A7EDF262-5755-4CED-AE35-4458901E824D}" dt="2026-04-01T08:15:42.466" v="41"/>
        <pc:sldMkLst>
          <pc:docMk/>
          <pc:sldMk cId="3791192765" sldId="273"/>
        </pc:sldMkLst>
        <pc:spChg chg="add mod">
          <ac:chgData name="MT 295" userId="51761b2db79a49e1" providerId="LiveId" clId="{A7EDF262-5755-4CED-AE35-4458901E824D}" dt="2026-04-01T08:15:42.466" v="41"/>
          <ac:spMkLst>
            <pc:docMk/>
            <pc:sldMk cId="3791192765" sldId="273"/>
            <ac:spMk id="12" creationId="{D1ACA0B3-48B9-EB80-B79D-9B8E77F8769D}"/>
          </ac:spMkLst>
        </pc:spChg>
      </pc:sldChg>
      <pc:sldChg chg="addSp modSp">
        <pc:chgData name="MT 295" userId="51761b2db79a49e1" providerId="LiveId" clId="{A7EDF262-5755-4CED-AE35-4458901E824D}" dt="2026-04-01T08:15:40.686" v="40"/>
        <pc:sldMkLst>
          <pc:docMk/>
          <pc:sldMk cId="2163284980" sldId="274"/>
        </pc:sldMkLst>
        <pc:spChg chg="add mod">
          <ac:chgData name="MT 295" userId="51761b2db79a49e1" providerId="LiveId" clId="{A7EDF262-5755-4CED-AE35-4458901E824D}" dt="2026-04-01T08:15:40.686" v="40"/>
          <ac:spMkLst>
            <pc:docMk/>
            <pc:sldMk cId="2163284980" sldId="274"/>
            <ac:spMk id="11" creationId="{793C10EA-3C6B-CBAC-5455-CDF987B4C3F2}"/>
          </ac:spMkLst>
        </pc:spChg>
      </pc:sldChg>
      <pc:sldChg chg="addSp modSp">
        <pc:chgData name="MT 295" userId="51761b2db79a49e1" providerId="LiveId" clId="{A7EDF262-5755-4CED-AE35-4458901E824D}" dt="2026-04-01T08:15:43.607" v="42"/>
        <pc:sldMkLst>
          <pc:docMk/>
          <pc:sldMk cId="3984425889" sldId="275"/>
        </pc:sldMkLst>
        <pc:spChg chg="add mod">
          <ac:chgData name="MT 295" userId="51761b2db79a49e1" providerId="LiveId" clId="{A7EDF262-5755-4CED-AE35-4458901E824D}" dt="2026-04-01T08:15:43.607" v="42"/>
          <ac:spMkLst>
            <pc:docMk/>
            <pc:sldMk cId="3984425889" sldId="275"/>
            <ac:spMk id="9" creationId="{776FB59E-5E1A-C178-71FB-B31052838509}"/>
          </ac:spMkLst>
        </pc:spChg>
      </pc:sldChg>
      <pc:sldChg chg="addSp modSp">
        <pc:chgData name="MT 295" userId="51761b2db79a49e1" providerId="LiveId" clId="{A7EDF262-5755-4CED-AE35-4458901E824D}" dt="2026-04-01T08:15:44.907" v="43"/>
        <pc:sldMkLst>
          <pc:docMk/>
          <pc:sldMk cId="4278957976" sldId="276"/>
        </pc:sldMkLst>
        <pc:spChg chg="add mod">
          <ac:chgData name="MT 295" userId="51761b2db79a49e1" providerId="LiveId" clId="{A7EDF262-5755-4CED-AE35-4458901E824D}" dt="2026-04-01T08:15:44.907" v="43"/>
          <ac:spMkLst>
            <pc:docMk/>
            <pc:sldMk cId="4278957976" sldId="276"/>
            <ac:spMk id="11" creationId="{B37B90F7-9FE1-AD3C-4992-5B9A975AB619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663342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7177" tIns="53588" rIns="107177" bIns="53588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7177" tIns="53588" rIns="107177" bIns="53588"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7177" tIns="53588" rIns="107177" bIns="53588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7177" tIns="53588" rIns="107177" bIns="53588"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7177" tIns="53588" rIns="107177" bIns="53588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7177" tIns="53588" rIns="107177" bIns="53588"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7177" tIns="53588" rIns="107177" bIns="53588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7177" tIns="53588" rIns="107177" bIns="53588"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7177" tIns="53588" rIns="107177" bIns="53588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7177" tIns="53588" rIns="107177" bIns="53588"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7177" tIns="53588" rIns="107177" bIns="53588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7177" tIns="53588" rIns="107177" bIns="53588"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7177" tIns="53588" rIns="107177" bIns="53588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7177" tIns="53588" rIns="107177" bIns="53588"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7177" tIns="53588" rIns="107177" bIns="53588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7177" tIns="53588" rIns="107177" bIns="53588"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7177" tIns="53588" rIns="107177" bIns="53588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7177" tIns="53588" rIns="107177" bIns="53588"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7177" tIns="53588" rIns="107177" bIns="53588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7177" tIns="53588" rIns="107177" bIns="53588"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7177" tIns="53588" rIns="107177" bIns="53588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7177" tIns="53588" rIns="107177" bIns="53588"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7177" tIns="53588" rIns="107177" bIns="53588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7177" tIns="53588" rIns="107177" bIns="53588"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7177" tIns="53588" rIns="107177" bIns="53588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7177" tIns="53588" rIns="107177" bIns="53588"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7177" tIns="53588" rIns="107177" bIns="53588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7177" tIns="53588" rIns="107177" bIns="53588"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5E3073-49EB-79A9-FF88-98ED58D8EB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36E847-AAA6-AC77-89D3-CAB6842986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274B9CB-F64A-3E7F-AF15-340862F251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lIns="107177" tIns="53588" rIns="107177" bIns="53588"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988CD4-15B5-F8EF-7B07-207195422CE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lIns="107177" tIns="53588" rIns="107177" bIns="53588"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189429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F7A671-9524-6A20-1284-76B999F74E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7AD95D-9556-8A2F-47EF-F27140D87C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3FEBF0-A4FA-F5AD-A797-F37B48AEF2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lIns="107177" tIns="53588" rIns="107177" bIns="53588"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0321C4-132C-6765-9015-481EEF29CF6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lIns="107177" tIns="53588" rIns="107177" bIns="53588"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368154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A975CD-84D5-8AAB-969E-181D0BCB2A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F3DB51-7F8F-81CA-818C-91465EC3A9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16D1C8-E6F9-8B18-5C51-EA80649E26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lIns="107177" tIns="53588" rIns="107177" bIns="53588"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F37309-4607-E17E-880E-9BD65737905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lIns="107177" tIns="53588" rIns="107177" bIns="53588"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48720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C8D3D8-9927-85DE-442A-E62B8F42A2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1FC6FD-F723-66E4-7251-48812BE257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1FB3A3-A39A-6DFB-0DC1-9DA65E886A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lIns="107177" tIns="53588" rIns="107177" bIns="53588"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BD9BB7-9996-349A-BD15-DE53940BAF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lIns="107177" tIns="53588" rIns="107177" bIns="53588"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90172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AEDF24-925C-4461-881B-0A54BE5A40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A49D69-05D5-2C53-5C34-4A57C72006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5F43A2-5FCF-E387-490D-51B576DE61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lIns="107177" tIns="53588" rIns="107177" bIns="53588"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B8C75F-564F-474F-EB9C-1C5967D393A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lIns="107177" tIns="53588" rIns="107177" bIns="53588"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978661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53353B-89B8-D4F7-EBA0-01969C12E7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6B4DB3-9778-2A4A-19D7-6BDBCFE4E3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3F987E-436D-9E5E-527B-81EB839BC5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lIns="107177" tIns="53588" rIns="107177" bIns="53588"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37EBF5-2FDD-CE26-5032-DF9D91D48A1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lIns="107177" tIns="53588" rIns="107177" bIns="53588"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20274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emf"/><Relationship Id="rId4" Type="http://schemas.openxmlformats.org/officeDocument/2006/relationships/oleObject" Target="https://d.docs.live.net/51761b2db79a49e1/ACER/Desktop/18052020%20USB%20Drive/BBLAM/Database/2019%20Database/20230102%20MSCI%20World%20Cross%20Country%20Cross%20Sector.xlsx!CHG%20PCT%202026%20YTD!R20C2:R36C14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emf"/><Relationship Id="rId4" Type="http://schemas.openxmlformats.org/officeDocument/2006/relationships/oleObject" Target="https://d.docs.live.net/51761b2db79a49e1/ACER/Desktop/18052020%20USB%20Drive/BBLAM/Database/2019%20Database/ASEAN%20Data%20Base/20260127%20For%20ASEAN_%20C-Overview_Revamp.xlsx!GDP%20Revamp!R43C4:R74C20" TargetMode="Externa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emf"/><Relationship Id="rId4" Type="http://schemas.openxmlformats.org/officeDocument/2006/relationships/oleObject" Target="https://d.docs.live.net/51761b2db79a49e1/ACER/Desktop/18052020%20USB%20Drive/BBLAM/Database/2019%20Database/ASEAN%20Data%20Base/20260127%20For%20ASEAN_%20C-Overview_Revamp.xlsx!Inflation_PMI!Print_Area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emf"/><Relationship Id="rId4" Type="http://schemas.openxmlformats.org/officeDocument/2006/relationships/oleObject" Target="https://d.docs.live.net/51761b2db79a49e1/ACER/Desktop/18052020%20USB%20Drive/BBLAM/Database/2019%20Database/ASEAN%20Data%20Base/20260127%20For%20ASEAN_%20C-Overview_Revamp.xlsx!Inflation_PMI!R94C4:R117C17" TargetMode="Externa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emf"/><Relationship Id="rId4" Type="http://schemas.openxmlformats.org/officeDocument/2006/relationships/oleObject" Target="https://d.docs.live.net/51761b2db79a49e1/ACER/Desktop/18052020%20USB%20Drive/BBLAM/Database/2019%20Database/ASEAN%20Data%20Base/20260127%20For%20ASEAN_%20C-Overview_Revamp.xlsx!Inflation_PMI!R145C4:R168C17" TargetMode="Externa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emf"/><Relationship Id="rId4" Type="http://schemas.openxmlformats.org/officeDocument/2006/relationships/oleObject" Target="https://d.docs.live.net/51761b2db79a49e1/ACER/Desktop/18052020%20USB%20Drive/BBLAM/Database/2019%20Database/ASEAN%20Data%20Base/20260127%20For%20ASEAN_%20C-Overview_Revamp.xlsx!Inflation_PMI!R195C4:R218C17" TargetMode="Externa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emf"/><Relationship Id="rId4" Type="http://schemas.openxmlformats.org/officeDocument/2006/relationships/oleObject" Target="https://d.docs.live.net/51761b2db79a49e1/ACER/Desktop/18052020%20USB%20Drive/BBLAM/Database/2019%20Database/ASEAN%20Data%20Base/20260127%20For%20ASEAN_%20C-Overview_Revamp.xlsx!Exports!Print_Area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0064FF"/>
          </a:solidFill>
          <a:ln w="12700">
            <a:solidFill>
              <a:srgbClr val="0064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320040" y="0"/>
            <a:ext cx="109728" cy="5143500"/>
          </a:xfrm>
          <a:prstGeom prst="rect">
            <a:avLst/>
          </a:prstGeom>
          <a:solidFill>
            <a:srgbClr val="7A0334"/>
          </a:solidFill>
          <a:ln w="12700">
            <a:solidFill>
              <a:srgbClr val="7A033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132320" y="-548640"/>
            <a:ext cx="2926080" cy="2926080"/>
          </a:xfrm>
          <a:prstGeom prst="ellipse">
            <a:avLst/>
          </a:prstGeom>
          <a:solidFill>
            <a:srgbClr val="0064FF">
              <a:alpha val="20000"/>
            </a:srgbClr>
          </a:solidFill>
          <a:ln w="12700">
            <a:solidFill>
              <a:srgbClr val="0064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772400" y="3200400"/>
            <a:ext cx="1828800" cy="1828800"/>
          </a:xfrm>
          <a:prstGeom prst="ellipse">
            <a:avLst/>
          </a:prstGeom>
          <a:solidFill>
            <a:srgbClr val="7A0334">
              <a:alpha val="25000"/>
            </a:srgbClr>
          </a:solidFill>
          <a:ln w="12700">
            <a:solidFill>
              <a:srgbClr val="7A0334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640080"/>
            <a:ext cx="7772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NAVIGATING THE STORM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640080" y="1417320"/>
            <a:ext cx="74980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A8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US-Originated Geopolitical Tensions</a:t>
            </a:r>
            <a:endParaRPr lang="en-US" sz="2200" dirty="0"/>
          </a:p>
          <a:p>
            <a:pPr marL="0" indent="0">
              <a:buNone/>
            </a:pPr>
            <a:r>
              <a:rPr lang="en-US" sz="2200" dirty="0">
                <a:solidFill>
                  <a:srgbClr val="A8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Investment Strategy 2025–2026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640080" y="2651760"/>
            <a:ext cx="1645920" cy="54864"/>
          </a:xfrm>
          <a:prstGeom prst="rect">
            <a:avLst/>
          </a:prstGeom>
          <a:solidFill>
            <a:srgbClr val="EF3C67"/>
          </a:solidFill>
          <a:ln w="12700">
            <a:solidFill>
              <a:srgbClr val="EF3C6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40080" y="283464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709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Venezuela · Greenland · Iran · Tariffs · Market Outlook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3931920"/>
            <a:ext cx="2560320" cy="384048"/>
          </a:xfrm>
          <a:prstGeom prst="roundRect">
            <a:avLst>
              <a:gd name="adj" fmla="val 23810"/>
            </a:avLst>
          </a:prstGeom>
          <a:solidFill>
            <a:srgbClr val="0064FF">
              <a:alpha val="70000"/>
            </a:srgbClr>
          </a:solidFill>
          <a:ln w="12700">
            <a:solidFill>
              <a:srgbClr val="0064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40080" y="3931920"/>
            <a:ext cx="2560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Top-Down Analysis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474720" y="3931920"/>
            <a:ext cx="2560320" cy="384048"/>
          </a:xfrm>
          <a:prstGeom prst="roundRect">
            <a:avLst>
              <a:gd name="adj" fmla="val 23810"/>
            </a:avLst>
          </a:prstGeom>
          <a:solidFill>
            <a:srgbClr val="7A0334">
              <a:alpha val="70000"/>
            </a:srgbClr>
          </a:solidFill>
          <a:ln w="12700">
            <a:solidFill>
              <a:srgbClr val="7A033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474720" y="3931920"/>
            <a:ext cx="2560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Bottom-Up Insights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309360" y="3931920"/>
            <a:ext cx="2560320" cy="384048"/>
          </a:xfrm>
          <a:prstGeom prst="roundRect">
            <a:avLst>
              <a:gd name="adj" fmla="val 23810"/>
            </a:avLst>
          </a:prstGeom>
          <a:solidFill>
            <a:srgbClr val="9E50CC">
              <a:alpha val="70000"/>
            </a:srgbClr>
          </a:solidFill>
          <a:ln w="12700">
            <a:solidFill>
              <a:srgbClr val="9E50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309360" y="3931920"/>
            <a:ext cx="2560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Barbell Strategy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0" y="475488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56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Professional &amp; Institutional Clients Only</a:t>
            </a:r>
            <a:endParaRPr lang="en-US" sz="900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0DDBFD89-DA35-5942-657B-FF1C9CB890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0" y="4379328"/>
            <a:ext cx="1947849" cy="75110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9144000" cy="45720"/>
          </a:xfrm>
          <a:prstGeom prst="rect">
            <a:avLst/>
          </a:prstGeom>
          <a:solidFill>
            <a:srgbClr val="EF3C67"/>
          </a:solidFill>
          <a:ln w="12700">
            <a:solidFill>
              <a:srgbClr val="EF3C6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20040" y="0"/>
            <a:ext cx="8503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 of US-Originated Tensions  |  Dec 2025 – Mar 2026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60D1E"/>
          </a:solidFill>
          <a:ln w="12700">
            <a:solidFill>
              <a:srgbClr val="060D1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4892040"/>
            <a:ext cx="859536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5566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Brookings, CNN, Reuters, WEF, Wikipedia (2026)</a:t>
            </a:r>
            <a:endParaRPr lang="en-US" sz="78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5782641"/>
              </p:ext>
            </p:extLst>
          </p:nvPr>
        </p:nvGraphicFramePr>
        <p:xfrm>
          <a:off x="1" y="521208"/>
          <a:ext cx="9143999" cy="4434840"/>
        </p:xfrm>
        <a:graphic>
          <a:graphicData uri="http://schemas.openxmlformats.org/drawingml/2006/table">
            <a:tbl>
              <a:tblPr/>
              <a:tblGrid>
                <a:gridCol w="10369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201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68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42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3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3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DETAILS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11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 Dec 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Iran Protests Erupt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Mass protests begin at Tehran's Grand Bazaar after rial collapses past 1.4M/USD; inflation &gt;40%. Protests spread nationally — calls for regime change intensify.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11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 Dec 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 Naval Buildup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 launches largest military buildup in the southern Caribbean in decades. Naval task force deployed near Venezuela begins intercepting boats alleged to traffic narcotics.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11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Jan 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Trump warns Iran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Trump posts on Truth Social: Iran is 'locked and loaded' warning — 'if Iran violently kills peaceful protesters, the US will come to their rescue.' Threatens military intervention.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11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Jan 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Operation Absolute Resolve — Venezuela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 special forces strike Venezuelan military bases and extract President Nicolás Maduro from a Caracas safe house. Maduro faces narco-terrorism charges from 2020 US DOJ indictment. VP Delcy Rodríguez installed as interim leader.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11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5–8 Jan 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Greenland Escalation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Trump revives annexation push: 'We need Greenland — we need it for defense.' Denmark deploys military to Greenland; Danish PM warns 'a US invasion would mean the end of NATO.' NATO allies deploy to Arctic.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11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8–9 Jan 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Iran Crackdown / US Threats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Iran government crackdown on protests — human rights groups estimate 2,500–12,000 killed in two nights. Trump: 'help is on the way.' G7 foreign ministers warn of 'additional restrictive measures.'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11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 Jan 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Iran Tariff Threat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Trump announces 25% secondary tariff on all countries that do business with Iran. Sanctions executive order signed Feb 9. Primarily impacts Iraq and Iran; China / UAE / Turkey seen as better able to pivot.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11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 Feb 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US–Indonesia Trade Deal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 &amp; Indonesia finalize deal at 19% reciprocal tariff (down from threatened 32%) — signals selective US trade engagement amid broader geopolitical posture.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11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 Feb 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Operation Epic Fury — Iran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Joint US-Israeli airstrikes on Iranian leadership and military infrastructure. Supreme Leader Khamenei killed. Iran retaliates by disrupting Strait of Hormuz traffic. Brent crude surges 15% overnight.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11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1–4 Mar 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Global Market Shock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Oil reaches $119 WTI before settling ~$100. KOSPI drops 12% in one day (circuit breaker triggered). Thai SET drops 8%. Strait of Hormuz effectively impaired. Flights grounded from Dubai. Gold surges.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711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 2026 (ongoing)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Stagflation Risk Rises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Brent up ~50% YTD. Fed holds rates; Yellen warns tariffs push inflation to ≥3%. ECB in 'genuine dilemma.' Goldman Sachs: gasoline could reach $3.50/gal in US if Hormuz stays shut &gt;weeks.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1A1E0337-A7C6-7FC3-D529-313414BDF7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2863" y="-137808"/>
            <a:ext cx="1947849" cy="75110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9144000" cy="45720"/>
          </a:xfrm>
          <a:prstGeom prst="rect">
            <a:avLst/>
          </a:prstGeom>
          <a:solidFill>
            <a:srgbClr val="0064FF"/>
          </a:solidFill>
          <a:ln w="12700">
            <a:solidFill>
              <a:srgbClr val="0064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20040" y="0"/>
            <a:ext cx="8503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 Equity Return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60D1E"/>
          </a:solidFill>
          <a:ln w="12700">
            <a:solidFill>
              <a:srgbClr val="060D1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BC5280C-4D24-D614-A887-9A2A42ECBA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2863" y="-137808"/>
            <a:ext cx="1947849" cy="751104"/>
          </a:xfrm>
          <a:prstGeom prst="rect">
            <a:avLst/>
          </a:prstGeom>
        </p:spPr>
      </p:pic>
      <p:graphicFrame>
        <p:nvGraphicFramePr>
          <p:cNvPr id="11" name="Object 10">
            <a:extLst>
              <a:ext uri="{FF2B5EF4-FFF2-40B4-BE49-F238E27FC236}">
                <a16:creationId xmlns:a16="http://schemas.microsoft.com/office/drawing/2014/main" id="{1FD7F735-2921-1825-93AC-484CF937BB9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14725358"/>
              </p:ext>
            </p:extLst>
          </p:nvPr>
        </p:nvGraphicFramePr>
        <p:xfrm>
          <a:off x="267377" y="613296"/>
          <a:ext cx="8556583" cy="416687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4" imgW="11880741" imgH="5784749" progId="Excel.Sheet.12">
                  <p:link updateAutomatic="1"/>
                </p:oleObj>
              </mc:Choice>
              <mc:Fallback>
                <p:oleObj name="Worksheet" r:id="rId4" imgW="11880741" imgH="5784749" progId="Excel.Sheet.12">
                  <p:link updateAutomatic="1"/>
                  <p:pic>
                    <p:nvPicPr>
                      <p:cNvPr id="11" name="Object 10">
                        <a:extLst>
                          <a:ext uri="{FF2B5EF4-FFF2-40B4-BE49-F238E27FC236}">
                            <a16:creationId xmlns:a16="http://schemas.microsoft.com/office/drawing/2014/main" id="{1FD7F735-2921-1825-93AC-484CF937BB9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267377" y="613296"/>
                        <a:ext cx="8556583" cy="416687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Text 4">
            <a:extLst>
              <a:ext uri="{FF2B5EF4-FFF2-40B4-BE49-F238E27FC236}">
                <a16:creationId xmlns:a16="http://schemas.microsoft.com/office/drawing/2014/main" id="{210C2E43-1099-1978-E0C7-007478D9EE2C}"/>
              </a:ext>
            </a:extLst>
          </p:cNvPr>
          <p:cNvSpPr/>
          <p:nvPr/>
        </p:nvSpPr>
        <p:spPr>
          <a:xfrm>
            <a:off x="274320" y="4892040"/>
            <a:ext cx="859536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5566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Bloomberg</a:t>
            </a:r>
            <a:endParaRPr lang="en-US" sz="78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7A0334"/>
          </a:solidFill>
          <a:ln w="12700">
            <a:solidFill>
              <a:srgbClr val="7A033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74320" y="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OBSERVATIONS TO PORTFOLIO ACTION  |  The Full Logical Framework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70F22"/>
          </a:solidFill>
          <a:ln w="12700">
            <a:solidFill>
              <a:srgbClr val="070F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74320" y="4892040"/>
            <a:ext cx="859536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566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Strategy | Confidential — For Professional Clients Only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164592" y="52120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100" dirty="0">
                <a:solidFill>
                  <a:srgbClr val="557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— WHAT HAPPENED?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64592" y="731520"/>
            <a:ext cx="8814816" cy="475488"/>
          </a:xfrm>
          <a:prstGeom prst="rect">
            <a:avLst/>
          </a:prstGeom>
          <a:solidFill>
            <a:srgbClr val="7A0334"/>
          </a:solidFill>
          <a:ln w="12700">
            <a:solidFill>
              <a:srgbClr val="7A0334"/>
            </a:solidFill>
            <a:prstDash val="solid"/>
          </a:ln>
          <a:effectLst>
            <a:outerShdw blurRad="101600" dist="381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74320" y="731520"/>
            <a:ext cx="41148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 US-Originated Geopolitical Shocks  (Dec 2025 – Mar 2026)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89120" y="813816"/>
            <a:ext cx="1463040" cy="310896"/>
          </a:xfrm>
          <a:prstGeom prst="roundRect">
            <a:avLst>
              <a:gd name="adj" fmla="val 20588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47C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407408" y="813816"/>
            <a:ext cx="142646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🇻🇪  Venezuela Invasion  (Jan 3)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5961888" y="813816"/>
            <a:ext cx="1463040" cy="310896"/>
          </a:xfrm>
          <a:prstGeom prst="roundRect">
            <a:avLst>
              <a:gd name="adj" fmla="val 20588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47C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980176" y="813816"/>
            <a:ext cx="142646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🧊  Greenland Annexation Push  (Jan 5–8)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7534656" y="813816"/>
            <a:ext cx="1463040" cy="310896"/>
          </a:xfrm>
          <a:prstGeom prst="roundRect">
            <a:avLst>
              <a:gd name="adj" fmla="val 20588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47C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552944" y="813816"/>
            <a:ext cx="142646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🇮🇷  Iran Strikes + Hormuz  (Feb 28)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64592" y="1481328"/>
            <a:ext cx="4114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100" dirty="0">
                <a:solidFill>
                  <a:srgbClr val="557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— HOW DO WE READ THE SITUATION?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164592" y="1673352"/>
            <a:ext cx="4315968" cy="1316736"/>
          </a:xfrm>
          <a:prstGeom prst="rect">
            <a:avLst/>
          </a:prstGeom>
          <a:solidFill>
            <a:srgbClr val="0A1535"/>
          </a:solidFill>
          <a:ln w="19050">
            <a:solidFill>
              <a:srgbClr val="0064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164592" y="1673352"/>
            <a:ext cx="4315968" cy="310896"/>
          </a:xfrm>
          <a:prstGeom prst="rect">
            <a:avLst/>
          </a:prstGeom>
          <a:solidFill>
            <a:srgbClr val="0064FF"/>
          </a:solidFill>
          <a:ln w="12700">
            <a:solidFill>
              <a:srgbClr val="0064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256032" y="1673352"/>
            <a:ext cx="4133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TOP-DOWN ANALYSIS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256032" y="2066544"/>
            <a:ext cx="45720" cy="182880"/>
          </a:xfrm>
          <a:prstGeom prst="rect">
            <a:avLst/>
          </a:prstGeom>
          <a:solidFill>
            <a:srgbClr val="0064FF"/>
          </a:solidFill>
          <a:ln w="12700">
            <a:solidFill>
              <a:srgbClr val="0064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393192" y="2029968"/>
            <a:ext cx="1417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b="1" dirty="0">
                <a:solidFill>
                  <a:srgbClr val="006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Macro Data</a:t>
            </a:r>
            <a:endParaRPr lang="en-US" sz="880" dirty="0"/>
          </a:p>
        </p:txBody>
      </p:sp>
      <p:sp>
        <p:nvSpPr>
          <p:cNvPr id="23" name="Text 21"/>
          <p:cNvSpPr/>
          <p:nvPr/>
        </p:nvSpPr>
        <p:spPr>
          <a:xfrm>
            <a:off x="1837944" y="2029968"/>
            <a:ext cx="2514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99AA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GDP, CPI, trade deficit, rates — lagged; doesn't fully reflect tension yet</a:t>
            </a:r>
            <a:endParaRPr lang="en-US" sz="780" dirty="0"/>
          </a:p>
        </p:txBody>
      </p:sp>
      <p:sp>
        <p:nvSpPr>
          <p:cNvPr id="24" name="Shape 22"/>
          <p:cNvSpPr/>
          <p:nvPr/>
        </p:nvSpPr>
        <p:spPr>
          <a:xfrm>
            <a:off x="256032" y="2359152"/>
            <a:ext cx="45720" cy="182880"/>
          </a:xfrm>
          <a:prstGeom prst="rect">
            <a:avLst/>
          </a:prstGeom>
          <a:solidFill>
            <a:srgbClr val="FF6600"/>
          </a:solidFill>
          <a:ln w="12700">
            <a:solidFill>
              <a:srgbClr val="FF66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393192" y="2322576"/>
            <a:ext cx="1417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b="1" dirty="0">
                <a:solidFill>
                  <a:srgbClr val="FF6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Geopolitical Risk</a:t>
            </a:r>
            <a:endParaRPr lang="en-US" sz="880" dirty="0"/>
          </a:p>
        </p:txBody>
      </p:sp>
      <p:sp>
        <p:nvSpPr>
          <p:cNvPr id="26" name="Text 24"/>
          <p:cNvSpPr/>
          <p:nvPr/>
        </p:nvSpPr>
        <p:spPr>
          <a:xfrm>
            <a:off x="1837944" y="2322576"/>
            <a:ext cx="2514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99AA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Depends on ONE person (US President) — scenario-based, not modelable</a:t>
            </a:r>
            <a:endParaRPr lang="en-US" sz="780" dirty="0"/>
          </a:p>
        </p:txBody>
      </p:sp>
      <p:sp>
        <p:nvSpPr>
          <p:cNvPr id="27" name="Shape 25"/>
          <p:cNvSpPr/>
          <p:nvPr/>
        </p:nvSpPr>
        <p:spPr>
          <a:xfrm>
            <a:off x="256032" y="2651760"/>
            <a:ext cx="45720" cy="182880"/>
          </a:xfrm>
          <a:prstGeom prst="rect">
            <a:avLst/>
          </a:prstGeom>
          <a:solidFill>
            <a:srgbClr val="F47C99"/>
          </a:solidFill>
          <a:ln w="12700">
            <a:solidFill>
              <a:srgbClr val="F47C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393192" y="2615184"/>
            <a:ext cx="1417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b="1" dirty="0">
                <a:solidFill>
                  <a:srgbClr val="F47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📈 Market Expectations</a:t>
            </a:r>
            <a:endParaRPr lang="en-US" sz="880" dirty="0"/>
          </a:p>
        </p:txBody>
      </p:sp>
      <p:sp>
        <p:nvSpPr>
          <p:cNvPr id="29" name="Text 27"/>
          <p:cNvSpPr/>
          <p:nvPr/>
        </p:nvSpPr>
        <p:spPr>
          <a:xfrm>
            <a:off x="1837944" y="2615184"/>
            <a:ext cx="2514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99AA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What is market pricing? What does market fear?</a:t>
            </a:r>
            <a:endParaRPr lang="en-US" sz="780" dirty="0"/>
          </a:p>
        </p:txBody>
      </p:sp>
      <p:sp>
        <p:nvSpPr>
          <p:cNvPr id="30" name="Shape 28"/>
          <p:cNvSpPr/>
          <p:nvPr/>
        </p:nvSpPr>
        <p:spPr>
          <a:xfrm>
            <a:off x="4663440" y="1673352"/>
            <a:ext cx="4315968" cy="1316736"/>
          </a:xfrm>
          <a:prstGeom prst="rect">
            <a:avLst/>
          </a:prstGeom>
          <a:solidFill>
            <a:srgbClr val="0A1535"/>
          </a:solidFill>
          <a:ln w="19050">
            <a:solidFill>
              <a:srgbClr val="FF6600"/>
            </a:solidFill>
            <a:prstDash val="solid"/>
          </a:ln>
          <a:effectLst>
            <a:outerShdw blurRad="101600" dist="381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4663440" y="1673352"/>
            <a:ext cx="4315968" cy="310896"/>
          </a:xfrm>
          <a:prstGeom prst="rect">
            <a:avLst/>
          </a:prstGeom>
          <a:solidFill>
            <a:srgbClr val="FF6600"/>
          </a:solidFill>
          <a:ln w="12700">
            <a:solidFill>
              <a:srgbClr val="FF66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4754880" y="1673352"/>
            <a:ext cx="4133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BOTTOM-UP ANALYSIS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4754880" y="2066544"/>
            <a:ext cx="45720" cy="182880"/>
          </a:xfrm>
          <a:prstGeom prst="rect">
            <a:avLst/>
          </a:prstGeom>
          <a:solidFill>
            <a:srgbClr val="FF6600"/>
          </a:solidFill>
          <a:ln w="12700">
            <a:solidFill>
              <a:srgbClr val="FF66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4892040" y="2029968"/>
            <a:ext cx="1508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b="1" dirty="0">
                <a:solidFill>
                  <a:srgbClr val="FF6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🏭 Sectors / Companies</a:t>
            </a:r>
            <a:endParaRPr lang="en-US" sz="880" dirty="0"/>
          </a:p>
        </p:txBody>
      </p:sp>
      <p:sp>
        <p:nvSpPr>
          <p:cNvPr id="35" name="Text 33"/>
          <p:cNvSpPr/>
          <p:nvPr/>
        </p:nvSpPr>
        <p:spPr>
          <a:xfrm>
            <a:off x="6428232" y="2029968"/>
            <a:ext cx="2423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BBC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Pricing power? Cost pass-through? Inventory buffers? Policy tailwinds?</a:t>
            </a:r>
            <a:endParaRPr lang="en-US" sz="780" dirty="0"/>
          </a:p>
        </p:txBody>
      </p:sp>
      <p:sp>
        <p:nvSpPr>
          <p:cNvPr id="36" name="Shape 34"/>
          <p:cNvSpPr/>
          <p:nvPr/>
        </p:nvSpPr>
        <p:spPr>
          <a:xfrm>
            <a:off x="4754880" y="2359152"/>
            <a:ext cx="45720" cy="182880"/>
          </a:xfrm>
          <a:prstGeom prst="rect">
            <a:avLst/>
          </a:prstGeom>
          <a:solidFill>
            <a:srgbClr val="61D09C"/>
          </a:solidFill>
          <a:ln w="12700">
            <a:solidFill>
              <a:srgbClr val="61D09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4892040" y="2322576"/>
            <a:ext cx="1508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b="1" dirty="0">
                <a:solidFill>
                  <a:srgbClr val="61D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🌏 Country Selection</a:t>
            </a:r>
            <a:endParaRPr lang="en-US" sz="880" dirty="0"/>
          </a:p>
        </p:txBody>
      </p:sp>
      <p:sp>
        <p:nvSpPr>
          <p:cNvPr id="38" name="Text 36"/>
          <p:cNvSpPr/>
          <p:nvPr/>
        </p:nvSpPr>
        <p:spPr>
          <a:xfrm>
            <a:off x="6428232" y="2322576"/>
            <a:ext cx="2423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BBC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Currency stable? Current acct surplus? FX reserves adequate? Own resources?</a:t>
            </a:r>
            <a:endParaRPr lang="en-US" sz="780" dirty="0"/>
          </a:p>
        </p:txBody>
      </p:sp>
      <p:sp>
        <p:nvSpPr>
          <p:cNvPr id="39" name="Shape 37"/>
          <p:cNvSpPr/>
          <p:nvPr/>
        </p:nvSpPr>
        <p:spPr>
          <a:xfrm>
            <a:off x="4754880" y="2651760"/>
            <a:ext cx="45720" cy="182880"/>
          </a:xfrm>
          <a:prstGeom prst="rect">
            <a:avLst/>
          </a:prstGeom>
          <a:solidFill>
            <a:srgbClr val="9E50CC"/>
          </a:solidFill>
          <a:ln w="12700">
            <a:solidFill>
              <a:srgbClr val="9E50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4892040" y="2615184"/>
            <a:ext cx="1508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b="1" dirty="0">
                <a:solidFill>
                  <a:srgbClr val="9E5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💎 Hidden Gems</a:t>
            </a:r>
            <a:endParaRPr lang="en-US" sz="880" dirty="0"/>
          </a:p>
        </p:txBody>
      </p:sp>
      <p:sp>
        <p:nvSpPr>
          <p:cNvPr id="41" name="Text 39"/>
          <p:cNvSpPr/>
          <p:nvPr/>
        </p:nvSpPr>
        <p:spPr>
          <a:xfrm>
            <a:off x="6428232" y="2615184"/>
            <a:ext cx="2423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BBC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Undervalued by macro noise — fundamentally strong amid disruption</a:t>
            </a:r>
            <a:endParaRPr lang="en-US" sz="780" dirty="0"/>
          </a:p>
        </p:txBody>
      </p:sp>
      <p:sp>
        <p:nvSpPr>
          <p:cNvPr id="51" name="Text 49"/>
          <p:cNvSpPr/>
          <p:nvPr/>
        </p:nvSpPr>
        <p:spPr>
          <a:xfrm>
            <a:off x="164592" y="3392424"/>
            <a:ext cx="5029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100" dirty="0">
                <a:solidFill>
                  <a:srgbClr val="557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— HOW DO WE GET TO RESULTS?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164592" y="3566160"/>
            <a:ext cx="4315968" cy="1078992"/>
          </a:xfrm>
          <a:prstGeom prst="rect">
            <a:avLst/>
          </a:prstGeom>
          <a:solidFill>
            <a:srgbClr val="0A1535"/>
          </a:solidFill>
          <a:ln w="19050">
            <a:solidFill>
              <a:srgbClr val="EF3C67"/>
            </a:solidFill>
            <a:prstDash val="solid"/>
          </a:ln>
          <a:effectLst>
            <a:outerShdw blurRad="101600" dist="381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164592" y="3566160"/>
            <a:ext cx="4315968" cy="310896"/>
          </a:xfrm>
          <a:prstGeom prst="rect">
            <a:avLst/>
          </a:prstGeom>
          <a:solidFill>
            <a:srgbClr val="EF3C67"/>
          </a:solidFill>
          <a:ln w="12700">
            <a:solidFill>
              <a:srgbClr val="EF3C6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256032" y="3566160"/>
            <a:ext cx="4133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 SHORT-TERM  |  ใจกลางความขัดแย้ง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256032" y="3950208"/>
            <a:ext cx="45720" cy="201168"/>
          </a:xfrm>
          <a:prstGeom prst="rect">
            <a:avLst/>
          </a:prstGeom>
          <a:solidFill>
            <a:srgbClr val="EF3C67"/>
          </a:solidFill>
          <a:ln w="12700">
            <a:solidFill>
              <a:srgbClr val="EF3C6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Text 54"/>
          <p:cNvSpPr/>
          <p:nvPr/>
        </p:nvSpPr>
        <p:spPr>
          <a:xfrm>
            <a:off x="384048" y="393192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b="1" dirty="0">
                <a:solidFill>
                  <a:srgbClr val="EF3C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Sectors / Companies</a:t>
            </a:r>
            <a:endParaRPr lang="en-US" sz="880" dirty="0"/>
          </a:p>
        </p:txBody>
      </p:sp>
      <p:sp>
        <p:nvSpPr>
          <p:cNvPr id="57" name="Text 55"/>
          <p:cNvSpPr/>
          <p:nvPr/>
        </p:nvSpPr>
        <p:spPr>
          <a:xfrm>
            <a:off x="1709928" y="3931920"/>
            <a:ext cx="26334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C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Pricing power · Pass-through ability · Large inventory buffers · Policy tailwinds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256032" y="4242816"/>
            <a:ext cx="45720" cy="201168"/>
          </a:xfrm>
          <a:prstGeom prst="rect">
            <a:avLst/>
          </a:prstGeom>
          <a:solidFill>
            <a:srgbClr val="EF3C67"/>
          </a:solidFill>
          <a:ln w="12700">
            <a:solidFill>
              <a:srgbClr val="EF3C6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Text 57"/>
          <p:cNvSpPr/>
          <p:nvPr/>
        </p:nvSpPr>
        <p:spPr>
          <a:xfrm>
            <a:off x="384048" y="4224528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b="1" dirty="0">
                <a:solidFill>
                  <a:srgbClr val="EF3C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Countries</a:t>
            </a:r>
            <a:endParaRPr lang="en-US" sz="880" dirty="0"/>
          </a:p>
        </p:txBody>
      </p:sp>
      <p:sp>
        <p:nvSpPr>
          <p:cNvPr id="60" name="Text 58"/>
          <p:cNvSpPr/>
          <p:nvPr/>
        </p:nvSpPr>
        <p:spPr>
          <a:xfrm>
            <a:off x="1709928" y="4224528"/>
            <a:ext cx="26334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C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Currency stability · Current account surplus · Sound FX reserves · Own resources</a:t>
            </a:r>
            <a:endParaRPr lang="en-US" sz="800" dirty="0"/>
          </a:p>
        </p:txBody>
      </p:sp>
      <p:sp>
        <p:nvSpPr>
          <p:cNvPr id="61" name="Text 59"/>
          <p:cNvSpPr/>
          <p:nvPr/>
        </p:nvSpPr>
        <p:spPr>
          <a:xfrm>
            <a:off x="256032" y="4544568"/>
            <a:ext cx="4069080" cy="82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8866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Baskets:  B-Basic  ·  B-Short Term Plus  ·  B-China</a:t>
            </a:r>
            <a:endParaRPr lang="en-US" sz="750" dirty="0"/>
          </a:p>
        </p:txBody>
      </p:sp>
      <p:sp>
        <p:nvSpPr>
          <p:cNvPr id="62" name="Shape 60"/>
          <p:cNvSpPr/>
          <p:nvPr/>
        </p:nvSpPr>
        <p:spPr>
          <a:xfrm>
            <a:off x="4663440" y="3566160"/>
            <a:ext cx="4315968" cy="1078992"/>
          </a:xfrm>
          <a:prstGeom prst="rect">
            <a:avLst/>
          </a:prstGeom>
          <a:solidFill>
            <a:srgbClr val="0A1535"/>
          </a:solidFill>
          <a:ln w="19050">
            <a:solidFill>
              <a:srgbClr val="9E50CC"/>
            </a:solidFill>
            <a:prstDash val="solid"/>
          </a:ln>
          <a:effectLst>
            <a:outerShdw blurRad="101600" dist="381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3" name="Shape 61"/>
          <p:cNvSpPr/>
          <p:nvPr/>
        </p:nvSpPr>
        <p:spPr>
          <a:xfrm>
            <a:off x="4663440" y="3566160"/>
            <a:ext cx="4315968" cy="310896"/>
          </a:xfrm>
          <a:prstGeom prst="rect">
            <a:avLst/>
          </a:prstGeom>
          <a:solidFill>
            <a:srgbClr val="9E50CC"/>
          </a:solidFill>
          <a:ln w="12700">
            <a:solidFill>
              <a:srgbClr val="9E50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Text 62"/>
          <p:cNvSpPr/>
          <p:nvPr/>
        </p:nvSpPr>
        <p:spPr>
          <a:xfrm>
            <a:off x="4754880" y="3566160"/>
            <a:ext cx="4133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 LONG-TERM  |  After the Storm Clears</a:t>
            </a:r>
            <a:endParaRPr lang="en-US" sz="1050" dirty="0"/>
          </a:p>
        </p:txBody>
      </p:sp>
      <p:sp>
        <p:nvSpPr>
          <p:cNvPr id="65" name="Shape 63"/>
          <p:cNvSpPr/>
          <p:nvPr/>
        </p:nvSpPr>
        <p:spPr>
          <a:xfrm>
            <a:off x="4754880" y="3950208"/>
            <a:ext cx="45720" cy="201168"/>
          </a:xfrm>
          <a:prstGeom prst="rect">
            <a:avLst/>
          </a:prstGeom>
          <a:solidFill>
            <a:srgbClr val="9E50CC"/>
          </a:solidFill>
          <a:ln w="12700">
            <a:solidFill>
              <a:srgbClr val="9E50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Text 64"/>
          <p:cNvSpPr/>
          <p:nvPr/>
        </p:nvSpPr>
        <p:spPr>
          <a:xfrm>
            <a:off x="4882896" y="393192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b="1" dirty="0">
                <a:solidFill>
                  <a:srgbClr val="9E5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Inflation Lingers</a:t>
            </a:r>
            <a:endParaRPr lang="en-US" sz="880" dirty="0"/>
          </a:p>
        </p:txBody>
      </p:sp>
      <p:sp>
        <p:nvSpPr>
          <p:cNvPr id="67" name="Text 65"/>
          <p:cNvSpPr/>
          <p:nvPr/>
        </p:nvSpPr>
        <p:spPr>
          <a:xfrm>
            <a:off x="6199632" y="39319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A9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War consumes capital → supply chain disruption → structural inflation floor rises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4754880" y="4242816"/>
            <a:ext cx="45720" cy="201168"/>
          </a:xfrm>
          <a:prstGeom prst="rect">
            <a:avLst/>
          </a:prstGeom>
          <a:solidFill>
            <a:srgbClr val="9E50CC"/>
          </a:solidFill>
          <a:ln w="12700">
            <a:solidFill>
              <a:srgbClr val="9E50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Text 67"/>
          <p:cNvSpPr/>
          <p:nvPr/>
        </p:nvSpPr>
        <p:spPr>
          <a:xfrm>
            <a:off x="4882896" y="4224528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b="1" dirty="0">
                <a:solidFill>
                  <a:srgbClr val="9E5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Rates Stay Higher</a:t>
            </a:r>
            <a:endParaRPr lang="en-US" sz="880" dirty="0"/>
          </a:p>
        </p:txBody>
      </p:sp>
      <p:sp>
        <p:nvSpPr>
          <p:cNvPr id="70" name="Text 68"/>
          <p:cNvSpPr/>
          <p:nvPr/>
        </p:nvSpPr>
        <p:spPr>
          <a:xfrm>
            <a:off x="6199632" y="4224528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A9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Fed on hold · New governor (May 2026) inherits the stagflation complexity</a:t>
            </a:r>
            <a:endParaRPr lang="en-US" sz="800" dirty="0"/>
          </a:p>
        </p:txBody>
      </p:sp>
      <p:sp>
        <p:nvSpPr>
          <p:cNvPr id="71" name="Text 69"/>
          <p:cNvSpPr/>
          <p:nvPr/>
        </p:nvSpPr>
        <p:spPr>
          <a:xfrm>
            <a:off x="4754880" y="4544568"/>
            <a:ext cx="4069080" cy="82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7766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Baskets:  B-CNnext  ·  B-USAlpha  ·  B-Innotech  ·  B-Gold</a:t>
            </a:r>
            <a:endParaRPr lang="en-US" sz="750" dirty="0"/>
          </a:p>
        </p:txBody>
      </p:sp>
      <p:sp>
        <p:nvSpPr>
          <p:cNvPr id="72" name="Shape 70"/>
          <p:cNvSpPr/>
          <p:nvPr/>
        </p:nvSpPr>
        <p:spPr>
          <a:xfrm>
            <a:off x="4224528" y="3749040"/>
            <a:ext cx="694944" cy="530352"/>
          </a:xfrm>
          <a:prstGeom prst="ellipse">
            <a:avLst/>
          </a:prstGeom>
          <a:solidFill>
            <a:srgbClr val="101E3A"/>
          </a:solidFill>
          <a:ln w="15240">
            <a:solidFill>
              <a:srgbClr val="4455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3" name="Text 71"/>
          <p:cNvSpPr/>
          <p:nvPr/>
        </p:nvSpPr>
        <p:spPr>
          <a:xfrm>
            <a:off x="4224528" y="3776472"/>
            <a:ext cx="6949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77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BARBELL</a:t>
            </a:r>
            <a:endParaRPr lang="en-US" sz="650" dirty="0"/>
          </a:p>
        </p:txBody>
      </p:sp>
      <p:sp>
        <p:nvSpPr>
          <p:cNvPr id="74" name="Text 72"/>
          <p:cNvSpPr/>
          <p:nvPr/>
        </p:nvSpPr>
        <p:spPr>
          <a:xfrm>
            <a:off x="4251960" y="3968496"/>
            <a:ext cx="640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⚖️</a:t>
            </a:r>
            <a:endParaRPr lang="en-US" sz="1000" dirty="0"/>
          </a:p>
        </p:txBody>
      </p:sp>
      <p:sp>
        <p:nvSpPr>
          <p:cNvPr id="75" name="Isosceles Triangle 74">
            <a:extLst>
              <a:ext uri="{FF2B5EF4-FFF2-40B4-BE49-F238E27FC236}">
                <a16:creationId xmlns:a16="http://schemas.microsoft.com/office/drawing/2014/main" id="{E1B79CD9-C06F-8133-AA8E-173A0FCE5EC1}"/>
              </a:ext>
            </a:extLst>
          </p:cNvPr>
          <p:cNvSpPr/>
          <p:nvPr/>
        </p:nvSpPr>
        <p:spPr>
          <a:xfrm rot="10800000">
            <a:off x="4273598" y="3106168"/>
            <a:ext cx="557784" cy="240536"/>
          </a:xfrm>
          <a:prstGeom prst="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Isosceles Triangle 75">
            <a:extLst>
              <a:ext uri="{FF2B5EF4-FFF2-40B4-BE49-F238E27FC236}">
                <a16:creationId xmlns:a16="http://schemas.microsoft.com/office/drawing/2014/main" id="{7C8B2F01-BCA6-B447-CC13-F96F653A9E38}"/>
              </a:ext>
            </a:extLst>
          </p:cNvPr>
          <p:cNvSpPr/>
          <p:nvPr/>
        </p:nvSpPr>
        <p:spPr>
          <a:xfrm rot="10800000">
            <a:off x="4293108" y="1320529"/>
            <a:ext cx="557784" cy="240536"/>
          </a:xfrm>
          <a:prstGeom prst="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7" name="Picture 76">
            <a:extLst>
              <a:ext uri="{FF2B5EF4-FFF2-40B4-BE49-F238E27FC236}">
                <a16:creationId xmlns:a16="http://schemas.microsoft.com/office/drawing/2014/main" id="{9CBCECA0-31D7-4763-B119-1561C33DBC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2863" y="-137808"/>
            <a:ext cx="1947849" cy="75110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9144000" cy="45720"/>
          </a:xfrm>
          <a:prstGeom prst="rect">
            <a:avLst/>
          </a:prstGeom>
          <a:solidFill>
            <a:srgbClr val="0064FF"/>
          </a:solidFill>
          <a:ln w="12700">
            <a:solidFill>
              <a:srgbClr val="0064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20040" y="0"/>
            <a:ext cx="8503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Top-Down Analysis  |  Macroeconomic Data — Not Yet Fully Reflecting Tension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60D1E"/>
          </a:solidFill>
          <a:ln w="12700">
            <a:solidFill>
              <a:srgbClr val="060D1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4892040"/>
            <a:ext cx="859536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5566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BEA, Fed, IMF, WEF Global Trade Update (Feb 2026)</a:t>
            </a:r>
            <a:endParaRPr lang="en-US" sz="780" dirty="0"/>
          </a:p>
        </p:txBody>
      </p:sp>
      <p:sp>
        <p:nvSpPr>
          <p:cNvPr id="7" name="Shape 5"/>
          <p:cNvSpPr/>
          <p:nvPr/>
        </p:nvSpPr>
        <p:spPr>
          <a:xfrm>
            <a:off x="228600" y="914400"/>
            <a:ext cx="2743200" cy="1691640"/>
          </a:xfrm>
          <a:prstGeom prst="rect">
            <a:avLst/>
          </a:prstGeom>
          <a:solidFill>
            <a:srgbClr val="FFFFFF"/>
          </a:solidFill>
          <a:ln w="15240">
            <a:solidFill>
              <a:srgbClr val="E8EBF5"/>
            </a:solidFill>
            <a:prstDash val="solid"/>
          </a:ln>
          <a:effectLst>
            <a:outerShdw blurRad="101600" dist="381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228600" y="914400"/>
            <a:ext cx="2743200" cy="347472"/>
          </a:xfrm>
          <a:prstGeom prst="rect">
            <a:avLst/>
          </a:prstGeom>
          <a:solidFill>
            <a:srgbClr val="0064FF"/>
          </a:solidFill>
          <a:ln w="12700">
            <a:solidFill>
              <a:srgbClr val="0064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20040" y="91440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GDP Growth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20040" y="1298448"/>
            <a:ext cx="2560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6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2.1%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320040" y="1901952"/>
            <a:ext cx="25603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4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 actual — tariff drag not yet fully in data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172968" y="914400"/>
            <a:ext cx="2743200" cy="1691640"/>
          </a:xfrm>
          <a:prstGeom prst="rect">
            <a:avLst/>
          </a:prstGeom>
          <a:solidFill>
            <a:srgbClr val="FFFFFF"/>
          </a:solidFill>
          <a:ln w="15240">
            <a:solidFill>
              <a:srgbClr val="E8EBF5"/>
            </a:solidFill>
            <a:prstDash val="solid"/>
          </a:ln>
          <a:effectLst>
            <a:outerShdw blurRad="101600" dist="381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172968" y="914400"/>
            <a:ext cx="2743200" cy="347472"/>
          </a:xfrm>
          <a:prstGeom prst="rect">
            <a:avLst/>
          </a:prstGeom>
          <a:solidFill>
            <a:srgbClr val="FF6600"/>
          </a:solidFill>
          <a:ln w="12700">
            <a:solidFill>
              <a:srgbClr val="FF66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264408" y="91440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Inflation (CPI)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264408" y="1298448"/>
            <a:ext cx="2560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6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2.4%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3264408" y="1901952"/>
            <a:ext cx="25603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4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 2026; above Fed 2% target; tariff risk adds pressure on inflation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117336" y="914400"/>
            <a:ext cx="2743200" cy="1691640"/>
          </a:xfrm>
          <a:prstGeom prst="rect">
            <a:avLst/>
          </a:prstGeom>
          <a:solidFill>
            <a:srgbClr val="FFFFFF"/>
          </a:solidFill>
          <a:ln w="15240">
            <a:solidFill>
              <a:srgbClr val="E8EBF5"/>
            </a:solidFill>
            <a:prstDash val="solid"/>
          </a:ln>
          <a:effectLst>
            <a:outerShdw blurRad="101600" dist="381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6117336" y="914400"/>
            <a:ext cx="2743200" cy="347472"/>
          </a:xfrm>
          <a:prstGeom prst="rect">
            <a:avLst/>
          </a:prstGeom>
          <a:solidFill>
            <a:srgbClr val="EF3C67"/>
          </a:solidFill>
          <a:ln w="12700">
            <a:solidFill>
              <a:srgbClr val="EF3C6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208776" y="91440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Brent Crude YTD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208776" y="1298448"/>
            <a:ext cx="2560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F3C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+50%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6208776" y="1901952"/>
            <a:ext cx="25603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4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Post-Iran strikes (Mar 2026); structural supply shock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228600" y="2834640"/>
            <a:ext cx="2743200" cy="1691640"/>
          </a:xfrm>
          <a:prstGeom prst="rect">
            <a:avLst/>
          </a:prstGeom>
          <a:solidFill>
            <a:srgbClr val="FFFFFF"/>
          </a:solidFill>
          <a:ln w="15240">
            <a:solidFill>
              <a:srgbClr val="E8EBF5"/>
            </a:solidFill>
            <a:prstDash val="solid"/>
          </a:ln>
          <a:effectLst>
            <a:outerShdw blurRad="101600" dist="381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228600" y="2834640"/>
            <a:ext cx="2743200" cy="347472"/>
          </a:xfrm>
          <a:prstGeom prst="rect">
            <a:avLst/>
          </a:prstGeom>
          <a:solidFill>
            <a:srgbClr val="7A0334"/>
          </a:solidFill>
          <a:ln w="12700">
            <a:solidFill>
              <a:srgbClr val="7A033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320040" y="283464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PMI Composite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20040" y="3218688"/>
            <a:ext cx="2560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7A03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51.4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320040" y="3822192"/>
            <a:ext cx="25603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/>
              <a:t>Manufacturing 52.4</a:t>
            </a:r>
          </a:p>
          <a:p>
            <a:pPr marL="0" indent="0">
              <a:buNone/>
            </a:pPr>
            <a:r>
              <a:rPr lang="en-US" sz="950" dirty="0"/>
              <a:t>Service 51.1 </a:t>
            </a:r>
          </a:p>
        </p:txBody>
      </p:sp>
      <p:sp>
        <p:nvSpPr>
          <p:cNvPr id="27" name="Shape 25"/>
          <p:cNvSpPr/>
          <p:nvPr/>
        </p:nvSpPr>
        <p:spPr>
          <a:xfrm>
            <a:off x="3172968" y="2834640"/>
            <a:ext cx="2743200" cy="1691640"/>
          </a:xfrm>
          <a:prstGeom prst="rect">
            <a:avLst/>
          </a:prstGeom>
          <a:solidFill>
            <a:srgbClr val="FFFFFF"/>
          </a:solidFill>
          <a:ln w="15240">
            <a:solidFill>
              <a:srgbClr val="E8EBF5"/>
            </a:solidFill>
            <a:prstDash val="solid"/>
          </a:ln>
          <a:effectLst>
            <a:outerShdw blurRad="101600" dist="381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3172968" y="2834640"/>
            <a:ext cx="2743200" cy="347472"/>
          </a:xfrm>
          <a:prstGeom prst="rect">
            <a:avLst/>
          </a:prstGeom>
          <a:solidFill>
            <a:srgbClr val="9E50CC"/>
          </a:solidFill>
          <a:ln w="12700">
            <a:solidFill>
              <a:srgbClr val="9E50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3264408" y="283464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 Funds Rate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3264408" y="3218688"/>
            <a:ext cx="2560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9E5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3.5-3.75% </a:t>
            </a:r>
            <a:r>
              <a:rPr lang="en-US" sz="1200" b="1" dirty="0">
                <a:solidFill>
                  <a:srgbClr val="9E5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Hold </a:t>
            </a:r>
            <a:endParaRPr lang="en-US" sz="3000" dirty="0"/>
          </a:p>
        </p:txBody>
      </p:sp>
      <p:sp>
        <p:nvSpPr>
          <p:cNvPr id="31" name="Text 29"/>
          <p:cNvSpPr/>
          <p:nvPr/>
        </p:nvSpPr>
        <p:spPr>
          <a:xfrm>
            <a:off x="3264408" y="3822192"/>
            <a:ext cx="25603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4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Iran conflict + inflation = rates not moving soon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117336" y="2834640"/>
            <a:ext cx="2743200" cy="1691640"/>
          </a:xfrm>
          <a:prstGeom prst="rect">
            <a:avLst/>
          </a:prstGeom>
          <a:solidFill>
            <a:srgbClr val="FFFFFF"/>
          </a:solidFill>
          <a:ln w="15240">
            <a:solidFill>
              <a:srgbClr val="E8EBF5"/>
            </a:solidFill>
            <a:prstDash val="solid"/>
          </a:ln>
          <a:effectLst>
            <a:outerShdw blurRad="101600" dist="381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6117336" y="2834640"/>
            <a:ext cx="2743200" cy="347472"/>
          </a:xfrm>
          <a:prstGeom prst="rect">
            <a:avLst/>
          </a:prstGeom>
          <a:solidFill>
            <a:srgbClr val="61D09C"/>
          </a:solidFill>
          <a:ln w="12700">
            <a:solidFill>
              <a:srgbClr val="61D09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6208776" y="283464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WTI Oil (Peak)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208776" y="3218688"/>
            <a:ext cx="2560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61D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$119</a:t>
            </a:r>
            <a:endParaRPr lang="en-US" sz="3000" dirty="0"/>
          </a:p>
        </p:txBody>
      </p:sp>
      <p:sp>
        <p:nvSpPr>
          <p:cNvPr id="36" name="Text 34"/>
          <p:cNvSpPr/>
          <p:nvPr/>
        </p:nvSpPr>
        <p:spPr>
          <a:xfrm>
            <a:off x="6208776" y="3822192"/>
            <a:ext cx="25603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4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Hormuz disruption; settled ~$100; $150 tail-risk remains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228600" y="4608576"/>
            <a:ext cx="914400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4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Key insight: Lagged data means official macro figures do not yet capture the full Iran war shock. Forward-looking market signals are more informative than backward-looking statistics.</a:t>
            </a:r>
            <a:endParaRPr lang="en-US" sz="900" dirty="0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80574EF3-8776-DA9F-0617-2E93BAF2CA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2863" y="-137808"/>
            <a:ext cx="1947849" cy="75110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9144000" cy="45720"/>
          </a:xfrm>
          <a:prstGeom prst="rect">
            <a:avLst/>
          </a:prstGeom>
          <a:solidFill>
            <a:srgbClr val="EF3C67"/>
          </a:solidFill>
          <a:ln w="12700">
            <a:solidFill>
              <a:srgbClr val="EF3C6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20040" y="0"/>
            <a:ext cx="8503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Top-Down Analysis  |  Geopolitical Risk — The One-Person Variable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60D1E"/>
          </a:solidFill>
          <a:ln w="12700">
            <a:solidFill>
              <a:srgbClr val="060D1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4892040"/>
            <a:ext cx="859536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5566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Strategy | Confidential</a:t>
            </a:r>
            <a:endParaRPr lang="en-US" sz="780" dirty="0"/>
          </a:p>
        </p:txBody>
      </p:sp>
      <p:sp>
        <p:nvSpPr>
          <p:cNvPr id="7" name="Shape 5"/>
          <p:cNvSpPr/>
          <p:nvPr/>
        </p:nvSpPr>
        <p:spPr>
          <a:xfrm>
            <a:off x="182880" y="868680"/>
            <a:ext cx="4114800" cy="3840480"/>
          </a:xfrm>
          <a:prstGeom prst="rect">
            <a:avLst/>
          </a:prstGeom>
          <a:solidFill>
            <a:srgbClr val="FFFFFF"/>
          </a:solidFill>
          <a:ln w="15240">
            <a:solidFill>
              <a:srgbClr val="DDDDEE"/>
            </a:solidFill>
            <a:prstDash val="solid"/>
          </a:ln>
          <a:effectLst>
            <a:outerShdw blurRad="101600" dist="381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82880" y="868680"/>
            <a:ext cx="4114800" cy="384048"/>
          </a:xfrm>
          <a:prstGeom prst="rect">
            <a:avLst/>
          </a:prstGeom>
          <a:solidFill>
            <a:srgbClr val="EF3C67"/>
          </a:solidFill>
          <a:ln w="12700">
            <a:solidFill>
              <a:srgbClr val="EF3C6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74320" y="86868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CHALLENGE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1417320"/>
            <a:ext cx="201168" cy="201168"/>
          </a:xfrm>
          <a:prstGeom prst="ellipse">
            <a:avLst/>
          </a:prstGeom>
          <a:solidFill>
            <a:srgbClr val="EF3C67"/>
          </a:solidFill>
          <a:ln w="12700">
            <a:solidFill>
              <a:srgbClr val="EF3C6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94360" y="1371600"/>
            <a:ext cx="3520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originates from a single decision-maker — the US President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0040" y="1965960"/>
            <a:ext cx="201168" cy="201168"/>
          </a:xfrm>
          <a:prstGeom prst="ellipse">
            <a:avLst/>
          </a:prstGeom>
          <a:solidFill>
            <a:srgbClr val="EF3C67"/>
          </a:solidFill>
          <a:ln w="12700">
            <a:solidFill>
              <a:srgbClr val="EF3C6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94360" y="1920240"/>
            <a:ext cx="3520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are unpredictable, non-linear, and not bound by historical precedent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20040" y="2514600"/>
            <a:ext cx="201168" cy="201168"/>
          </a:xfrm>
          <a:prstGeom prst="ellipse">
            <a:avLst/>
          </a:prstGeom>
          <a:solidFill>
            <a:srgbClr val="EF3C67"/>
          </a:solidFill>
          <a:ln w="12700">
            <a:solidFill>
              <a:srgbClr val="EF3C6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94360" y="2468880"/>
            <a:ext cx="3520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Venezuela → Greenland → Iran escalation happened in under 90 days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20040" y="3063240"/>
            <a:ext cx="201168" cy="201168"/>
          </a:xfrm>
          <a:prstGeom prst="ellipse">
            <a:avLst/>
          </a:prstGeom>
          <a:solidFill>
            <a:srgbClr val="EF3C67"/>
          </a:solidFill>
          <a:ln w="12700">
            <a:solidFill>
              <a:srgbClr val="EF3C6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94360" y="3017520"/>
            <a:ext cx="3520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Markets cannot price a one-person variable with standard models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20040" y="3611880"/>
            <a:ext cx="201168" cy="201168"/>
          </a:xfrm>
          <a:prstGeom prst="ellipse">
            <a:avLst/>
          </a:prstGeom>
          <a:solidFill>
            <a:srgbClr val="EF3C67"/>
          </a:solidFill>
          <a:ln w="12700">
            <a:solidFill>
              <a:srgbClr val="EF3C6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94360" y="3566160"/>
            <a:ext cx="3520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geopolitical risk frameworks assume institutional constraints — these are now weakened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0" y="868680"/>
            <a:ext cx="4343400" cy="3840480"/>
          </a:xfrm>
          <a:prstGeom prst="rect">
            <a:avLst/>
          </a:prstGeom>
          <a:solidFill>
            <a:srgbClr val="FFFFFF"/>
          </a:solidFill>
          <a:ln w="15240">
            <a:solidFill>
              <a:srgbClr val="DDDDEE"/>
            </a:solidFill>
            <a:prstDash val="solid"/>
          </a:ln>
          <a:effectLst>
            <a:outerShdw blurRad="101600" dist="381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572000" y="868680"/>
            <a:ext cx="4343400" cy="384048"/>
          </a:xfrm>
          <a:prstGeom prst="rect">
            <a:avLst/>
          </a:prstGeom>
          <a:solidFill>
            <a:srgbClr val="9E50CC"/>
          </a:solidFill>
          <a:ln w="12700">
            <a:solidFill>
              <a:srgbClr val="9E50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663440" y="868680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FRAMEWORK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709160" y="1371600"/>
            <a:ext cx="4023360" cy="685800"/>
          </a:xfrm>
          <a:prstGeom prst="rect">
            <a:avLst/>
          </a:prstGeom>
          <a:solidFill>
            <a:srgbClr val="EF3C67">
              <a:alpha val="12000"/>
            </a:srgbClr>
          </a:solidFill>
          <a:ln w="12700">
            <a:solidFill>
              <a:srgbClr val="EF3C6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800600" y="1408176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F3C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Escalation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943600" y="1408176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F3C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Prob: 35%*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800600" y="1700784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Hormuz stays shut &gt;4 weeks; oil &gt;$130; hard landing risk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709160" y="2176272"/>
            <a:ext cx="4023360" cy="685800"/>
          </a:xfrm>
          <a:prstGeom prst="rect">
            <a:avLst/>
          </a:prstGeom>
          <a:solidFill>
            <a:srgbClr val="61D09C">
              <a:alpha val="12000"/>
            </a:srgbClr>
          </a:solidFill>
          <a:ln w="12700">
            <a:solidFill>
              <a:srgbClr val="61D09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4800600" y="2212848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1D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Negotiation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943600" y="221284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1D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Prob: 40%*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00600" y="2505456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Iran ceasefire within 6–8 weeks; oil normalizes to $85–90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709160" y="2980944"/>
            <a:ext cx="4023360" cy="685800"/>
          </a:xfrm>
          <a:prstGeom prst="rect">
            <a:avLst/>
          </a:prstGeom>
          <a:solidFill>
            <a:srgbClr val="7A0334">
              <a:alpha val="12000"/>
            </a:srgbClr>
          </a:solidFill>
          <a:ln w="12700">
            <a:solidFill>
              <a:srgbClr val="7A033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4800600" y="301752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A03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Expansion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943600" y="30175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A03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Prob: 15%*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00600" y="3310128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Conflict spreads to GCC bases; systemic shock; gold &gt;$3,500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709160" y="3785616"/>
            <a:ext cx="4023360" cy="685800"/>
          </a:xfrm>
          <a:prstGeom prst="rect">
            <a:avLst/>
          </a:prstGeom>
          <a:solidFill>
            <a:srgbClr val="FF6600">
              <a:alpha val="12000"/>
            </a:srgbClr>
          </a:solidFill>
          <a:ln w="12700">
            <a:solidFill>
              <a:srgbClr val="FF66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4800600" y="3822192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6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Quo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943600" y="3822192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6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Prob: 10%*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800600" y="411480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Tactical pause, no resolution; elevated uncertainty persists</a:t>
            </a:r>
            <a:endParaRPr lang="en-US" sz="900" dirty="0"/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7C4BF6CA-08BA-D49E-A7E3-13A2B60920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2863" y="-137808"/>
            <a:ext cx="1947849" cy="751104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0F3FEE38-C70D-62A6-5065-95E3ED86D5F5}"/>
              </a:ext>
            </a:extLst>
          </p:cNvPr>
          <p:cNvSpPr txBox="1"/>
          <p:nvPr/>
        </p:nvSpPr>
        <p:spPr>
          <a:xfrm>
            <a:off x="4617720" y="4447550"/>
            <a:ext cx="43434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+mj-lt"/>
              </a:rPr>
              <a:t>Note: * For illustrative purpose only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9144000" cy="45720"/>
          </a:xfrm>
          <a:prstGeom prst="rect">
            <a:avLst/>
          </a:prstGeom>
          <a:solidFill>
            <a:srgbClr val="FF6600"/>
          </a:solidFill>
          <a:ln w="12700">
            <a:solidFill>
              <a:srgbClr val="FF66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20040" y="0"/>
            <a:ext cx="8503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Top-Down Analysis  |  Market Expectations &amp; Market Fears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60D1E"/>
          </a:solidFill>
          <a:ln w="12700">
            <a:solidFill>
              <a:srgbClr val="060D1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4892040"/>
            <a:ext cx="859536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5566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Goldman Sachs, Nomura, Bank of America, CNBC (Mar 2026)</a:t>
            </a:r>
            <a:endParaRPr lang="en-US" sz="780" dirty="0"/>
          </a:p>
        </p:txBody>
      </p:sp>
      <p:sp>
        <p:nvSpPr>
          <p:cNvPr id="7" name="Shape 5"/>
          <p:cNvSpPr/>
          <p:nvPr/>
        </p:nvSpPr>
        <p:spPr>
          <a:xfrm>
            <a:off x="182880" y="868680"/>
            <a:ext cx="4114800" cy="3886200"/>
          </a:xfrm>
          <a:prstGeom prst="rect">
            <a:avLst/>
          </a:prstGeom>
          <a:solidFill>
            <a:srgbClr val="FFFFFF"/>
          </a:solidFill>
          <a:ln w="15240">
            <a:solidFill>
              <a:srgbClr val="DDDDEE"/>
            </a:solidFill>
            <a:prstDash val="solid"/>
          </a:ln>
          <a:effectLst>
            <a:outerShdw blurRad="101600" dist="381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82880" y="868680"/>
            <a:ext cx="4114800" cy="384048"/>
          </a:xfrm>
          <a:prstGeom prst="rect">
            <a:avLst/>
          </a:prstGeom>
          <a:solidFill>
            <a:srgbClr val="FF6600"/>
          </a:solidFill>
          <a:ln w="12700">
            <a:solidFill>
              <a:srgbClr val="FF66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74320" y="86868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MARKET IS PRICING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47472" y="1371600"/>
            <a:ext cx="164592" cy="164592"/>
          </a:xfrm>
          <a:prstGeom prst="rect">
            <a:avLst/>
          </a:prstGeom>
          <a:solidFill>
            <a:srgbClr val="FF6600"/>
          </a:solidFill>
          <a:ln w="12700">
            <a:solidFill>
              <a:srgbClr val="FF66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94360" y="1335024"/>
            <a:ext cx="3520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Supply Shock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94360" y="1517904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Brent +50% YTD; Hormuz risk premium embedded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472" y="1938528"/>
            <a:ext cx="164592" cy="164592"/>
          </a:xfrm>
          <a:prstGeom prst="rect">
            <a:avLst/>
          </a:prstGeom>
          <a:solidFill>
            <a:srgbClr val="FF6600"/>
          </a:solidFill>
          <a:ln w="12700">
            <a:solidFill>
              <a:srgbClr val="FF66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94360" y="1901952"/>
            <a:ext cx="3520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Higher-for-Longer Rates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94360" y="2084832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 on hold; Iran war + tariff = persistent inflation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47472" y="2505456"/>
            <a:ext cx="164592" cy="164592"/>
          </a:xfrm>
          <a:prstGeom prst="rect">
            <a:avLst/>
          </a:prstGeom>
          <a:solidFill>
            <a:srgbClr val="FF6600"/>
          </a:solidFill>
          <a:ln w="12700">
            <a:solidFill>
              <a:srgbClr val="FF66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94360" y="2468880"/>
            <a:ext cx="3520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Defense &amp; Energy Premium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94360" y="2651760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Aerospace/Defense + Energy outperforming sharply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47472" y="3072384"/>
            <a:ext cx="164592" cy="164592"/>
          </a:xfrm>
          <a:prstGeom prst="rect">
            <a:avLst/>
          </a:prstGeom>
          <a:solidFill>
            <a:srgbClr val="FF6600"/>
          </a:solidFill>
          <a:ln w="12700">
            <a:solidFill>
              <a:srgbClr val="FF66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94360" y="3035808"/>
            <a:ext cx="3520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 Safe-Haven Demand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94360" y="3218688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DXY elevated; risk-off flows into USD &amp; Treasuries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47472" y="3639312"/>
            <a:ext cx="164592" cy="164592"/>
          </a:xfrm>
          <a:prstGeom prst="rect">
            <a:avLst/>
          </a:prstGeom>
          <a:solidFill>
            <a:srgbClr val="FF6600"/>
          </a:solidFill>
          <a:ln w="12700">
            <a:solidFill>
              <a:srgbClr val="FF66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94360" y="3602736"/>
            <a:ext cx="3520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as Hedge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94360" y="378561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surging; disruptions to Dubai gold flows reported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572000" y="868680"/>
            <a:ext cx="4343400" cy="3886200"/>
          </a:xfrm>
          <a:prstGeom prst="rect">
            <a:avLst/>
          </a:prstGeom>
          <a:solidFill>
            <a:srgbClr val="FFFFFF"/>
          </a:solidFill>
          <a:ln w="15240">
            <a:solidFill>
              <a:srgbClr val="DDDDEE"/>
            </a:solidFill>
            <a:prstDash val="solid"/>
          </a:ln>
          <a:effectLst>
            <a:outerShdw blurRad="101600" dist="381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4572000" y="868680"/>
            <a:ext cx="4343400" cy="384048"/>
          </a:xfrm>
          <a:prstGeom prst="rect">
            <a:avLst/>
          </a:prstGeom>
          <a:solidFill>
            <a:srgbClr val="EF3C67"/>
          </a:solidFill>
          <a:ln w="12700">
            <a:solidFill>
              <a:srgbClr val="EF3C6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663440" y="868680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MARKET FEARS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736592" y="1371600"/>
            <a:ext cx="164592" cy="164592"/>
          </a:xfrm>
          <a:prstGeom prst="rect">
            <a:avLst/>
          </a:prstGeom>
          <a:solidFill>
            <a:srgbClr val="EF3C67"/>
          </a:solidFill>
          <a:ln w="12700">
            <a:solidFill>
              <a:srgbClr val="EF3C6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983480" y="1335024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Hormuz Closure &gt;4 Weeks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983480" y="1517904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&gt;$150; global stagflation scenario materializes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736592" y="1938528"/>
            <a:ext cx="164592" cy="164592"/>
          </a:xfrm>
          <a:prstGeom prst="rect">
            <a:avLst/>
          </a:prstGeom>
          <a:solidFill>
            <a:srgbClr val="EF3C67"/>
          </a:solidFill>
          <a:ln w="12700">
            <a:solidFill>
              <a:srgbClr val="EF3C6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4983480" y="1901952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GCC (Gulf Cooperation Council) Retaliation Spreads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983480" y="2084832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Saudi/UAE bases targeted → oil infrastructure hits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736592" y="2505456"/>
            <a:ext cx="164592" cy="164592"/>
          </a:xfrm>
          <a:prstGeom prst="rect">
            <a:avLst/>
          </a:prstGeom>
          <a:solidFill>
            <a:srgbClr val="EF3C67"/>
          </a:solidFill>
          <a:ln w="12700">
            <a:solidFill>
              <a:srgbClr val="EF3C6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4983480" y="2468880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 Forced Rate Hike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983480" y="2651760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inflation accelerates above 4%; growth collapses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736592" y="3072384"/>
            <a:ext cx="164592" cy="164592"/>
          </a:xfrm>
          <a:prstGeom prst="rect">
            <a:avLst/>
          </a:prstGeom>
          <a:solidFill>
            <a:srgbClr val="EF3C67"/>
          </a:solidFill>
          <a:ln w="12700">
            <a:solidFill>
              <a:srgbClr val="EF3C6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4983480" y="3035808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China Opportunism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983480" y="3218688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Taiwan action if US overextended; tech supply disruption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736592" y="3639312"/>
            <a:ext cx="164592" cy="164592"/>
          </a:xfrm>
          <a:prstGeom prst="rect">
            <a:avLst/>
          </a:prstGeom>
          <a:solidFill>
            <a:srgbClr val="EF3C67"/>
          </a:solidFill>
          <a:ln w="12700">
            <a:solidFill>
              <a:srgbClr val="EF3C6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4983480" y="3602736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Recession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983480" y="3785616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spending squeeze from energy + tariff double shock</a:t>
            </a:r>
            <a:endParaRPr lang="en-US" sz="900" dirty="0"/>
          </a:p>
        </p:txBody>
      </p:sp>
      <p:pic>
        <p:nvPicPr>
          <p:cNvPr id="43" name="Picture 42">
            <a:extLst>
              <a:ext uri="{FF2B5EF4-FFF2-40B4-BE49-F238E27FC236}">
                <a16:creationId xmlns:a16="http://schemas.microsoft.com/office/drawing/2014/main" id="{89C753A8-1DCA-4160-EB3A-4ECEFCEE56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2863" y="-137808"/>
            <a:ext cx="1947849" cy="75110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9144000" cy="45720"/>
          </a:xfrm>
          <a:prstGeom prst="rect">
            <a:avLst/>
          </a:prstGeom>
          <a:solidFill>
            <a:srgbClr val="61D09C"/>
          </a:solidFill>
          <a:ln w="12700">
            <a:solidFill>
              <a:srgbClr val="61D09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20040" y="0"/>
            <a:ext cx="8503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Bottom-Up Analysis  |  Finding Hidden Gems in the Noise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60D1E"/>
          </a:solidFill>
          <a:ln w="12700">
            <a:solidFill>
              <a:srgbClr val="060D1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4892040"/>
            <a:ext cx="859536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5566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Strategy | Confidential — For Discussion Purposes Only</a:t>
            </a:r>
            <a:endParaRPr lang="en-US" sz="780" dirty="0"/>
          </a:p>
        </p:txBody>
      </p:sp>
      <p:sp>
        <p:nvSpPr>
          <p:cNvPr id="7" name="Shape 5"/>
          <p:cNvSpPr/>
          <p:nvPr/>
        </p:nvSpPr>
        <p:spPr>
          <a:xfrm>
            <a:off x="201168" y="868680"/>
            <a:ext cx="2788920" cy="3017520"/>
          </a:xfrm>
          <a:prstGeom prst="rect">
            <a:avLst/>
          </a:prstGeom>
          <a:solidFill>
            <a:srgbClr val="FFFFFF"/>
          </a:solidFill>
          <a:ln w="15240">
            <a:solidFill>
              <a:srgbClr val="DDDDEE"/>
            </a:solidFill>
            <a:prstDash val="solid"/>
          </a:ln>
          <a:effectLst>
            <a:outerShdw blurRad="101600" dist="381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201168" y="868680"/>
            <a:ext cx="2788920" cy="384048"/>
          </a:xfrm>
          <a:prstGeom prst="rect">
            <a:avLst/>
          </a:prstGeom>
          <a:solidFill>
            <a:srgbClr val="FF6600"/>
          </a:solidFill>
          <a:ln w="12700">
            <a:solidFill>
              <a:srgbClr val="FF66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92608" y="86868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&amp; Resources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38328" y="1325880"/>
            <a:ext cx="2514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6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 oil majors (pricing power intact)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38328" y="1828800"/>
            <a:ext cx="2514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6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LNG exporters (Hormuz avoidance premium)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38328" y="2331720"/>
            <a:ext cx="2514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6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minerals / rare earths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38328" y="2834640"/>
            <a:ext cx="2514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6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Coal &amp; nuclear as backup baseload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145536" y="868680"/>
            <a:ext cx="2788920" cy="3017520"/>
          </a:xfrm>
          <a:prstGeom prst="rect">
            <a:avLst/>
          </a:prstGeom>
          <a:solidFill>
            <a:srgbClr val="FFFFFF"/>
          </a:solidFill>
          <a:ln w="15240">
            <a:solidFill>
              <a:srgbClr val="DDDDEE"/>
            </a:solidFill>
            <a:prstDash val="solid"/>
          </a:ln>
          <a:effectLst>
            <a:outerShdw blurRad="101600" dist="381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145536" y="868680"/>
            <a:ext cx="2788920" cy="384048"/>
          </a:xfrm>
          <a:prstGeom prst="rect">
            <a:avLst/>
          </a:prstGeom>
          <a:solidFill>
            <a:srgbClr val="7A0334"/>
          </a:solidFill>
          <a:ln w="12700">
            <a:solidFill>
              <a:srgbClr val="7A033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236976" y="86868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Defense &amp; Aerospace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282696" y="1325880"/>
            <a:ext cx="2514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A03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NATO ramp-up beneficiaries (EU defense spend)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3282696" y="1828800"/>
            <a:ext cx="2514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A03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prime contractors (policy tailwind)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3282696" y="2331720"/>
            <a:ext cx="2514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A03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Satellite &amp; surveillance tech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282696" y="2834640"/>
            <a:ext cx="2514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A03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Cybersecurity — state-sponsored threat surge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089904" y="868680"/>
            <a:ext cx="2788920" cy="3017520"/>
          </a:xfrm>
          <a:prstGeom prst="rect">
            <a:avLst/>
          </a:prstGeom>
          <a:solidFill>
            <a:srgbClr val="FFFFFF"/>
          </a:solidFill>
          <a:ln w="15240">
            <a:solidFill>
              <a:srgbClr val="DDDDEE"/>
            </a:solidFill>
            <a:prstDash val="solid"/>
          </a:ln>
          <a:effectLst>
            <a:outerShdw blurRad="101600" dist="381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6089904" y="868680"/>
            <a:ext cx="2788920" cy="384048"/>
          </a:xfrm>
          <a:prstGeom prst="rect">
            <a:avLst/>
          </a:prstGeom>
          <a:solidFill>
            <a:srgbClr val="9E50CC"/>
          </a:solidFill>
          <a:ln w="12700">
            <a:solidFill>
              <a:srgbClr val="9E50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181344" y="86868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Financials &amp; Hard Assets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227064" y="1325880"/>
            <a:ext cx="2514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9E5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miners (leverage to gold &gt;$3,000)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6227064" y="1828800"/>
            <a:ext cx="2514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9E5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— supply chain relocation plays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227064" y="2331720"/>
            <a:ext cx="2514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9E5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credit (higher-for-longer beneficiary)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6227064" y="2834640"/>
            <a:ext cx="2514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9E5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Insurance — geopolitical risk repricing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201168" y="4005072"/>
            <a:ext cx="8732520" cy="868680"/>
          </a:xfrm>
          <a:prstGeom prst="rect">
            <a:avLst/>
          </a:prstGeom>
          <a:solidFill>
            <a:srgbClr val="FFFFFF"/>
          </a:solidFill>
          <a:ln w="15240">
            <a:solidFill>
              <a:srgbClr val="DDDDEE"/>
            </a:solidFill>
            <a:prstDash val="solid"/>
          </a:ln>
          <a:effectLst>
            <a:outerShdw blurRad="101600" dist="381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201168" y="4005072"/>
            <a:ext cx="8732520" cy="320040"/>
          </a:xfrm>
          <a:prstGeom prst="rect">
            <a:avLst/>
          </a:prstGeom>
          <a:solidFill>
            <a:srgbClr val="0064FF"/>
          </a:solidFill>
          <a:ln w="12700">
            <a:solidFill>
              <a:srgbClr val="0064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292608" y="4005072"/>
            <a:ext cx="8549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COUNTRY-LEVEL OPPORTUNITY — Resilient Fundamentals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292608" y="4343400"/>
            <a:ext cx="21031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🇸🇬 Singapore  ·  Current acct surplus, strong FX, trade hub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468880" y="4343400"/>
            <a:ext cx="21031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🇮🇩 Indonesia  ·  19% tariff deal done; own resources; young population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645152" y="4343400"/>
            <a:ext cx="21031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🇸🇦 Saudi Arabia  ·  Oil windfall; Vision 2030; FX reserves $460Bn+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821424" y="4343400"/>
            <a:ext cx="21031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 China  · Strong government; own resources; BRICS alliance; stable CNY</a:t>
            </a:r>
            <a:endParaRPr lang="en-US" sz="900" dirty="0"/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2F229F25-67A5-71DF-D85E-FC86A85975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2863" y="-137808"/>
            <a:ext cx="1947849" cy="75110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60D1E"/>
          </a:solidFill>
          <a:ln w="12700">
            <a:solidFill>
              <a:srgbClr val="060D1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74320" y="4892040"/>
            <a:ext cx="859536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5566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Short-Term View — Navigating Conflict Period</a:t>
            </a:r>
            <a:endParaRPr lang="en-US" sz="78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EF3C67"/>
          </a:solidFill>
          <a:ln w="12700">
            <a:solidFill>
              <a:srgbClr val="EF3C6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65760" y="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SHORT-TERM VIEW  |  ใจกลางความขัดแย้ง — Eye of the Storm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01168" y="640080"/>
            <a:ext cx="4206240" cy="4251960"/>
          </a:xfrm>
          <a:prstGeom prst="rect">
            <a:avLst/>
          </a:prstGeom>
          <a:solidFill>
            <a:srgbClr val="141E3A"/>
          </a:solidFill>
          <a:ln w="15240">
            <a:solidFill>
              <a:srgbClr val="EF3C67"/>
            </a:solidFill>
            <a:prstDash val="solid"/>
          </a:ln>
          <a:effectLst>
            <a:outerShdw blurRad="101600" dist="381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201168" y="640080"/>
            <a:ext cx="4206240" cy="384048"/>
          </a:xfrm>
          <a:prstGeom prst="rect">
            <a:avLst/>
          </a:prstGeom>
          <a:solidFill>
            <a:srgbClr val="EF3C67"/>
          </a:solidFill>
          <a:ln w="12700">
            <a:solidFill>
              <a:srgbClr val="EF3C6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92608" y="64008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/ COMPANY LENS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7472" y="1115568"/>
            <a:ext cx="54864" cy="566928"/>
          </a:xfrm>
          <a:prstGeom prst="rect">
            <a:avLst/>
          </a:prstGeom>
          <a:solidFill>
            <a:srgbClr val="EF3C67"/>
          </a:solidFill>
          <a:ln w="12700">
            <a:solidFill>
              <a:srgbClr val="EF3C6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12064" y="1115568"/>
            <a:ext cx="3703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 Power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12064" y="1353312"/>
            <a:ext cx="3703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9AA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Companies that can raise prices without losing volume — essential goods, tolls, energy utilities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47472" y="2020824"/>
            <a:ext cx="54864" cy="566928"/>
          </a:xfrm>
          <a:prstGeom prst="rect">
            <a:avLst/>
          </a:prstGeom>
          <a:solidFill>
            <a:srgbClr val="EF3C67"/>
          </a:solidFill>
          <a:ln w="12700">
            <a:solidFill>
              <a:srgbClr val="EF3C6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12064" y="2020824"/>
            <a:ext cx="3703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Pass-Through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12064" y="2258568"/>
            <a:ext cx="3703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9AA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Businesses with inflation-linked contracts — REITs, regulated utilities, infrastructure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47472" y="2926080"/>
            <a:ext cx="54864" cy="566928"/>
          </a:xfrm>
          <a:prstGeom prst="rect">
            <a:avLst/>
          </a:prstGeom>
          <a:solidFill>
            <a:srgbClr val="EF3C67"/>
          </a:solidFill>
          <a:ln w="12700">
            <a:solidFill>
              <a:srgbClr val="EF3C6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12064" y="2926080"/>
            <a:ext cx="3703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Old Stocks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12064" y="3163824"/>
            <a:ext cx="3703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9AA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inventory buffers that can weather supply disruption without margin collapse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47472" y="3831336"/>
            <a:ext cx="54864" cy="566928"/>
          </a:xfrm>
          <a:prstGeom prst="rect">
            <a:avLst/>
          </a:prstGeom>
          <a:solidFill>
            <a:srgbClr val="EF3C67"/>
          </a:solidFill>
          <a:ln w="12700">
            <a:solidFill>
              <a:srgbClr val="EF3C6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12064" y="3831336"/>
            <a:ext cx="3703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Tailwind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12064" y="4069080"/>
            <a:ext cx="3703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9AA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Defense contractors, domestic energy producers, strategic mineral processors — directly supported by current US policy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681728" y="640080"/>
            <a:ext cx="4261104" cy="4251960"/>
          </a:xfrm>
          <a:prstGeom prst="rect">
            <a:avLst/>
          </a:prstGeom>
          <a:solidFill>
            <a:srgbClr val="141E3A"/>
          </a:solidFill>
          <a:ln w="15240">
            <a:solidFill>
              <a:srgbClr val="61D09C"/>
            </a:solidFill>
            <a:prstDash val="solid"/>
          </a:ln>
          <a:effectLst>
            <a:outerShdw blurRad="101600" dist="381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4681728" y="640080"/>
            <a:ext cx="4261104" cy="384048"/>
          </a:xfrm>
          <a:prstGeom prst="rect">
            <a:avLst/>
          </a:prstGeom>
          <a:solidFill>
            <a:srgbClr val="61D09C"/>
          </a:solidFill>
          <a:ln w="12700">
            <a:solidFill>
              <a:srgbClr val="61D09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773168" y="640080"/>
            <a:ext cx="4078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 SELECTION LENS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828032" y="1115568"/>
            <a:ext cx="54864" cy="566928"/>
          </a:xfrm>
          <a:prstGeom prst="rect">
            <a:avLst/>
          </a:prstGeom>
          <a:solidFill>
            <a:srgbClr val="61D09C"/>
          </a:solidFill>
          <a:ln w="12700">
            <a:solidFill>
              <a:srgbClr val="61D09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992624" y="1115568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Currency Stability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992624" y="1353312"/>
            <a:ext cx="3749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9CC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Countries with managed or pegged FX, low inflation pass-through, and deep central bank reserves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828032" y="2020824"/>
            <a:ext cx="54864" cy="566928"/>
          </a:xfrm>
          <a:prstGeom prst="rect">
            <a:avLst/>
          </a:prstGeom>
          <a:solidFill>
            <a:srgbClr val="61D09C"/>
          </a:solidFill>
          <a:ln w="12700">
            <a:solidFill>
              <a:srgbClr val="61D09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4992624" y="2020824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Account Surplus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4992624" y="2258568"/>
            <a:ext cx="3749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9CC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Self-financing economies: Singapore, Norway, Saudi Arabia, Indonesia, UAE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828032" y="2926080"/>
            <a:ext cx="54864" cy="566928"/>
          </a:xfrm>
          <a:prstGeom prst="rect">
            <a:avLst/>
          </a:prstGeom>
          <a:solidFill>
            <a:srgbClr val="61D09C"/>
          </a:solidFill>
          <a:ln w="12700">
            <a:solidFill>
              <a:srgbClr val="61D09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992624" y="2926080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FX Reserve Adequacy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992624" y="3163824"/>
            <a:ext cx="3749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9CC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≥6 months import cover; capable of defending currency during risk-off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828032" y="3831336"/>
            <a:ext cx="54864" cy="566928"/>
          </a:xfrm>
          <a:prstGeom prst="rect">
            <a:avLst/>
          </a:prstGeom>
          <a:solidFill>
            <a:srgbClr val="61D09C"/>
          </a:solidFill>
          <a:ln w="12700">
            <a:solidFill>
              <a:srgbClr val="61D09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4992624" y="3831336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 Resources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4992624" y="4069080"/>
            <a:ext cx="3749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9CC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commodity exporters shielded from oil price shock — and even benefiting from it</a:t>
            </a:r>
            <a:endParaRPr lang="en-US" sz="950" dirty="0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C4C54603-E80B-F67F-FBD3-C818FD8464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2863" y="-137808"/>
            <a:ext cx="1947849" cy="75110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9144000" cy="45720"/>
          </a:xfrm>
          <a:prstGeom prst="rect">
            <a:avLst/>
          </a:prstGeom>
          <a:solidFill>
            <a:srgbClr val="9E50CC"/>
          </a:solidFill>
          <a:ln w="12700">
            <a:solidFill>
              <a:srgbClr val="9E50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20040" y="0"/>
            <a:ext cx="8503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Long-Term View  |  After the Storm — What's Left Standing?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60D1E"/>
          </a:solidFill>
          <a:ln w="12700">
            <a:solidFill>
              <a:srgbClr val="060D1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4892040"/>
            <a:ext cx="859536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5566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Goldman Sachs, Nomura, Bank of America, WEF (2026)</a:t>
            </a:r>
            <a:endParaRPr lang="en-US" sz="780" dirty="0"/>
          </a:p>
        </p:txBody>
      </p:sp>
      <p:sp>
        <p:nvSpPr>
          <p:cNvPr id="7" name="Text 5"/>
          <p:cNvSpPr/>
          <p:nvPr/>
        </p:nvSpPr>
        <p:spPr>
          <a:xfrm>
            <a:off x="274320" y="804672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4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Wars consume capital. The conflict will eventually resolve — but the economic backdrop it leaves behind matters for long-term positioning.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01168" y="1298448"/>
            <a:ext cx="4251960" cy="1572768"/>
          </a:xfrm>
          <a:prstGeom prst="rect">
            <a:avLst/>
          </a:prstGeom>
          <a:solidFill>
            <a:srgbClr val="FFFFFF"/>
          </a:solidFill>
          <a:ln w="15240">
            <a:solidFill>
              <a:srgbClr val="DDDDEE"/>
            </a:solidFill>
            <a:prstDash val="solid"/>
          </a:ln>
          <a:effectLst>
            <a:outerShdw blurRad="101600" dist="381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201168" y="1298448"/>
            <a:ext cx="4251960" cy="347472"/>
          </a:xfrm>
          <a:prstGeom prst="rect">
            <a:avLst/>
          </a:prstGeom>
          <a:solidFill>
            <a:srgbClr val="FF6600"/>
          </a:solidFill>
          <a:ln w="12700">
            <a:solidFill>
              <a:srgbClr val="FF66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92608" y="1298448"/>
            <a:ext cx="4069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📈  Lingering Inflation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92608" y="1700784"/>
            <a:ext cx="4069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chains disrupted. Energy costs structurally higher. Commodity prices reset upward. Expect 2–3% inflation to become the floor, not the ceiling, even post-conflict.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92608" y="2441448"/>
            <a:ext cx="4069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i="1" dirty="0">
                <a:solidFill>
                  <a:srgbClr val="FF6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Bonds face headwinds; real assets win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663440" y="1298448"/>
            <a:ext cx="4251960" cy="1572768"/>
          </a:xfrm>
          <a:prstGeom prst="rect">
            <a:avLst/>
          </a:prstGeom>
          <a:solidFill>
            <a:srgbClr val="FFFFFF"/>
          </a:solidFill>
          <a:ln w="15240">
            <a:solidFill>
              <a:srgbClr val="DDDDEE"/>
            </a:solidFill>
            <a:prstDash val="solid"/>
          </a:ln>
          <a:effectLst>
            <a:outerShdw blurRad="101600" dist="381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663440" y="1298448"/>
            <a:ext cx="4251960" cy="347472"/>
          </a:xfrm>
          <a:prstGeom prst="rect">
            <a:avLst/>
          </a:prstGeom>
          <a:solidFill>
            <a:srgbClr val="0064FF"/>
          </a:solidFill>
          <a:ln w="12700">
            <a:solidFill>
              <a:srgbClr val="0064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754880" y="1298448"/>
            <a:ext cx="4069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🏦  Rates Not Declining Soon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754880" y="1700784"/>
            <a:ext cx="4069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Yellen warns tariffs push inflation ≥3%. Iran war keeps Fed on hold. New Fed Governor (May 2026) inherits a complex mandate — expect caution over cuts for 12–18 months.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754880" y="2441448"/>
            <a:ext cx="4069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i="1" dirty="0">
                <a:solidFill>
                  <a:srgbClr val="006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Private credit &gt; IG bonds; dividend yield attractive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201168" y="3035808"/>
            <a:ext cx="4251960" cy="1572768"/>
          </a:xfrm>
          <a:prstGeom prst="rect">
            <a:avLst/>
          </a:prstGeom>
          <a:solidFill>
            <a:srgbClr val="FFFFFF"/>
          </a:solidFill>
          <a:ln w="15240">
            <a:solidFill>
              <a:srgbClr val="DDDDEE"/>
            </a:solidFill>
            <a:prstDash val="solid"/>
          </a:ln>
          <a:effectLst>
            <a:outerShdw blurRad="101600" dist="381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201168" y="3035808"/>
            <a:ext cx="4251960" cy="347472"/>
          </a:xfrm>
          <a:prstGeom prst="rect">
            <a:avLst/>
          </a:prstGeom>
          <a:solidFill>
            <a:srgbClr val="9E50CC"/>
          </a:solidFill>
          <a:ln w="12700">
            <a:solidFill>
              <a:srgbClr val="9E50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292608" y="3035808"/>
            <a:ext cx="4069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Tech Still Attractive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92608" y="3438144"/>
            <a:ext cx="4069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Geopolitical tension accelerates defense tech, AI for intelligence, semiconductor sovereignty push. Long-term demand for innovation does not diminish — it shifts toward national security use cases.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292608" y="4178808"/>
            <a:ext cx="4069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i="1" dirty="0">
                <a:solidFill>
                  <a:srgbClr val="9E5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Selective tech: defense-AI, semiconductors, cybersec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663440" y="3035808"/>
            <a:ext cx="4251960" cy="1572768"/>
          </a:xfrm>
          <a:prstGeom prst="rect">
            <a:avLst/>
          </a:prstGeom>
          <a:solidFill>
            <a:srgbClr val="FFFFFF"/>
          </a:solidFill>
          <a:ln w="15240">
            <a:solidFill>
              <a:srgbClr val="DDDDEE"/>
            </a:solidFill>
            <a:prstDash val="solid"/>
          </a:ln>
          <a:effectLst>
            <a:outerShdw blurRad="101600" dist="381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4663440" y="3035808"/>
            <a:ext cx="4251960" cy="347472"/>
          </a:xfrm>
          <a:prstGeom prst="rect">
            <a:avLst/>
          </a:prstGeom>
          <a:solidFill>
            <a:srgbClr val="61D09C"/>
          </a:solidFill>
          <a:ln w="12700">
            <a:solidFill>
              <a:srgbClr val="61D09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754880" y="3035808"/>
            <a:ext cx="4069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🥇  Gold Structural Bid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4754880" y="3438144"/>
            <a:ext cx="4069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bank gold buying accelerated since 2022. Sanctions weaponization of USD drives EM reserve diversification. Gold is a hedge against both geopolitical risk AND fiat debasement.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4754880" y="4178808"/>
            <a:ext cx="4069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i="1" dirty="0">
                <a:solidFill>
                  <a:srgbClr val="61D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Gold as core long-term portfolio anchor (5–10%)</a:t>
            </a:r>
            <a:endParaRPr lang="en-US" sz="950" dirty="0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16C162F8-1523-B5CF-58D2-4E2A99DF08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2863" y="-137808"/>
            <a:ext cx="1947849" cy="75110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9144000" cy="45720"/>
          </a:xfrm>
          <a:prstGeom prst="rect">
            <a:avLst/>
          </a:prstGeom>
          <a:solidFill>
            <a:srgbClr val="EF3C67"/>
          </a:solidFill>
          <a:ln w="12700">
            <a:solidFill>
              <a:srgbClr val="EF3C6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20040" y="0"/>
            <a:ext cx="8503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Short-Term Portfolio Baskets  |  BBASIC · BTK · B-ST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60D1E"/>
          </a:solidFill>
          <a:ln w="12700">
            <a:solidFill>
              <a:srgbClr val="060D1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4892040"/>
            <a:ext cx="859536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5566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ผลการดำเนินงานในอดีตมิได้เป็นสิ่งยืนยันผลการดำเนินงานในอนาคต | Past performance is not indicative of future results</a:t>
            </a:r>
            <a:endParaRPr lang="en-US" sz="780" dirty="0"/>
          </a:p>
        </p:txBody>
      </p:sp>
      <p:sp>
        <p:nvSpPr>
          <p:cNvPr id="7" name="Text 5"/>
          <p:cNvSpPr/>
          <p:nvPr/>
        </p:nvSpPr>
        <p:spPr>
          <a:xfrm>
            <a:off x="201168" y="566928"/>
            <a:ext cx="874166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57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สั้น — Defensive Income + Tactical Thai + Liquidity Buffer  |  ข้อมูล ณ ต้นปี 2569 / Early 2026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155448" y="768096"/>
            <a:ext cx="2852928" cy="3200400"/>
          </a:xfrm>
          <a:prstGeom prst="rect">
            <a:avLst/>
          </a:prstGeom>
          <a:solidFill>
            <a:srgbClr val="0F1E3C"/>
          </a:solidFill>
          <a:ln w="19050">
            <a:solidFill>
              <a:srgbClr val="0064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55448" y="768096"/>
            <a:ext cx="2852928" cy="347472"/>
          </a:xfrm>
          <a:prstGeom prst="rect">
            <a:avLst/>
          </a:prstGeom>
          <a:solidFill>
            <a:srgbClr val="0064FF"/>
          </a:solidFill>
          <a:ln w="12700">
            <a:solidFill>
              <a:srgbClr val="0064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65176" y="777240"/>
            <a:ext cx="21214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BBASIC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65176" y="1133856"/>
            <a:ext cx="2651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AAB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บัวหลวงปัจจัย 4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265176" y="1353312"/>
            <a:ext cx="1325880" cy="640080"/>
          </a:xfrm>
          <a:prstGeom prst="rect">
            <a:avLst/>
          </a:prstGeom>
          <a:solidFill>
            <a:srgbClr val="182840"/>
          </a:solidFill>
          <a:ln w="12700">
            <a:solidFill>
              <a:srgbClr val="2A3A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265176" y="1380744"/>
            <a:ext cx="1325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1Y Return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265176" y="1545336"/>
            <a:ext cx="1325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F3C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-4.25%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1664208" y="1353312"/>
            <a:ext cx="1234440" cy="640080"/>
          </a:xfrm>
          <a:prstGeom prst="rect">
            <a:avLst/>
          </a:prstGeom>
          <a:solidFill>
            <a:srgbClr val="182840"/>
          </a:solidFill>
          <a:ln w="12700">
            <a:solidFill>
              <a:srgbClr val="2A3A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1664208" y="1380744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664208" y="1545336"/>
            <a:ext cx="1234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61D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+2.69%</a:t>
            </a:r>
            <a:endParaRPr lang="en-US" sz="2000" dirty="0">
              <a:solidFill>
                <a:srgbClr val="61D09C"/>
              </a:solidFill>
            </a:endParaRPr>
          </a:p>
        </p:txBody>
      </p:sp>
      <p:sp>
        <p:nvSpPr>
          <p:cNvPr id="19" name="Text 17"/>
          <p:cNvSpPr/>
          <p:nvPr/>
        </p:nvSpPr>
        <p:spPr>
          <a:xfrm>
            <a:off x="2990088" y="1389888"/>
            <a:ext cx="621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9AA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6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265176" y="2029968"/>
            <a:ext cx="2633472" cy="36576"/>
          </a:xfrm>
          <a:prstGeom prst="rect">
            <a:avLst/>
          </a:prstGeom>
          <a:solidFill>
            <a:srgbClr val="1E2F50"/>
          </a:solidFill>
          <a:ln w="12700">
            <a:solidFill>
              <a:srgbClr val="1E2F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265176" y="2103120"/>
            <a:ext cx="640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7788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Style: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905256" y="2103120"/>
            <a:ext cx="19842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— Value / Quality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265176" y="2313432"/>
            <a:ext cx="6583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7788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กองแม่: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932688" y="2313432"/>
            <a:ext cx="19568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AB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— Thai equities (Necessities sectors)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265176" y="2743200"/>
            <a:ext cx="2633472" cy="36576"/>
          </a:xfrm>
          <a:prstGeom prst="rect">
            <a:avLst/>
          </a:prstGeom>
          <a:solidFill>
            <a:srgbClr val="1E2F50"/>
          </a:solidFill>
          <a:ln w="12700">
            <a:solidFill>
              <a:srgbClr val="1E2F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265176" y="2816352"/>
            <a:ext cx="7498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7788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นโยบาย: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265176" y="2971800"/>
            <a:ext cx="263347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Invests ≥80% NAV in Thai equities of companies in 4 essential sectors: Food, Housing, Clothing, Medicine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265176" y="3419856"/>
            <a:ext cx="2633472" cy="36576"/>
          </a:xfrm>
          <a:prstGeom prst="rect">
            <a:avLst/>
          </a:prstGeom>
          <a:solidFill>
            <a:srgbClr val="0064FF">
              <a:alpha val="30000"/>
            </a:srgbClr>
          </a:solidFill>
          <a:ln w="12700">
            <a:solidFill>
              <a:srgbClr val="0064FF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265176" y="3493008"/>
            <a:ext cx="263347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006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Defensive staples focus — low sensitivity to geopolitical shock; pricing power embedded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3145536" y="768096"/>
            <a:ext cx="2852928" cy="3200400"/>
          </a:xfrm>
          <a:prstGeom prst="rect">
            <a:avLst/>
          </a:prstGeom>
          <a:solidFill>
            <a:srgbClr val="0F1E3C"/>
          </a:solidFill>
          <a:ln w="19050">
            <a:solidFill>
              <a:srgbClr val="FF6600"/>
            </a:solidFill>
            <a:prstDash val="solid"/>
          </a:ln>
          <a:effectLst>
            <a:outerShdw blurRad="101600" dist="381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3145536" y="768096"/>
            <a:ext cx="2852928" cy="347472"/>
          </a:xfrm>
          <a:prstGeom prst="rect">
            <a:avLst/>
          </a:prstGeom>
          <a:solidFill>
            <a:srgbClr val="FF6600"/>
          </a:solidFill>
          <a:ln w="12700">
            <a:solidFill>
              <a:srgbClr val="FF66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3255264" y="777240"/>
            <a:ext cx="21214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BTK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255264" y="1133856"/>
            <a:ext cx="2651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AAB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บัวหลวงหุ้นไทย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3255264" y="1353312"/>
            <a:ext cx="1325880" cy="640080"/>
          </a:xfrm>
          <a:prstGeom prst="rect">
            <a:avLst/>
          </a:prstGeom>
          <a:solidFill>
            <a:srgbClr val="182840"/>
          </a:solidFill>
          <a:ln w="12700">
            <a:solidFill>
              <a:srgbClr val="2A3A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3255264" y="1380744"/>
            <a:ext cx="1325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1Y Return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3255264" y="1545336"/>
            <a:ext cx="1325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61D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+23.96%</a:t>
            </a:r>
            <a:endParaRPr lang="en-US" sz="2000" dirty="0">
              <a:solidFill>
                <a:srgbClr val="61D09C"/>
              </a:solidFill>
            </a:endParaRPr>
          </a:p>
        </p:txBody>
      </p:sp>
      <p:sp>
        <p:nvSpPr>
          <p:cNvPr id="38" name="Shape 36"/>
          <p:cNvSpPr/>
          <p:nvPr/>
        </p:nvSpPr>
        <p:spPr>
          <a:xfrm>
            <a:off x="4654296" y="1353312"/>
            <a:ext cx="1234440" cy="640080"/>
          </a:xfrm>
          <a:prstGeom prst="rect">
            <a:avLst/>
          </a:prstGeom>
          <a:solidFill>
            <a:srgbClr val="182840"/>
          </a:solidFill>
          <a:ln w="12700">
            <a:solidFill>
              <a:srgbClr val="2A3A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4654296" y="1380744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4654296" y="1545336"/>
            <a:ext cx="1234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61D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+9.11%</a:t>
            </a:r>
            <a:endParaRPr lang="en-US" sz="2000" dirty="0">
              <a:solidFill>
                <a:srgbClr val="61D09C"/>
              </a:solidFill>
            </a:endParaRPr>
          </a:p>
        </p:txBody>
      </p:sp>
      <p:sp>
        <p:nvSpPr>
          <p:cNvPr id="42" name="Text 40"/>
          <p:cNvSpPr/>
          <p:nvPr/>
        </p:nvSpPr>
        <p:spPr>
          <a:xfrm>
            <a:off x="5980176" y="1389888"/>
            <a:ext cx="621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9AA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6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 flipH="1">
            <a:off x="4005072" y="1028700"/>
            <a:ext cx="2459736" cy="4069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FF6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 Equity — Broad Market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3255264" y="2029968"/>
            <a:ext cx="2633472" cy="36576"/>
          </a:xfrm>
          <a:prstGeom prst="rect">
            <a:avLst/>
          </a:prstGeom>
          <a:solidFill>
            <a:srgbClr val="1E2F50"/>
          </a:solidFill>
          <a:ln w="12700">
            <a:solidFill>
              <a:srgbClr val="1E2F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3255264" y="2103120"/>
            <a:ext cx="640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7788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Style: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3895344" y="2103120"/>
            <a:ext cx="19842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— Growth / Thai Market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3255264" y="2313432"/>
            <a:ext cx="6583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7788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กองแม่: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3922776" y="2313432"/>
            <a:ext cx="19568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AB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— Thai large-cap growth equities (SET)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3255264" y="2743200"/>
            <a:ext cx="2633472" cy="36576"/>
          </a:xfrm>
          <a:prstGeom prst="rect">
            <a:avLst/>
          </a:prstGeom>
          <a:solidFill>
            <a:srgbClr val="1E2F50"/>
          </a:solidFill>
          <a:ln w="12700">
            <a:solidFill>
              <a:srgbClr val="1E2F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3255264" y="2816352"/>
            <a:ext cx="7498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7788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นโยบาย: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3255264" y="2971800"/>
            <a:ext cx="263347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Invests in Thai listed equities; benchmark-beating Active management vs. SET TRI index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3255264" y="3419856"/>
            <a:ext cx="2633472" cy="36576"/>
          </a:xfrm>
          <a:prstGeom prst="rect">
            <a:avLst/>
          </a:prstGeom>
          <a:solidFill>
            <a:srgbClr val="FF6600">
              <a:alpha val="30000"/>
            </a:srgbClr>
          </a:solidFill>
          <a:ln w="12700">
            <a:solidFill>
              <a:srgbClr val="FF6600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3255264" y="3493008"/>
            <a:ext cx="263347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FF6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Tactical Thai market exposure — benefits from domestic policy stimulus and SET recovery play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6135624" y="768096"/>
            <a:ext cx="2852928" cy="3200400"/>
          </a:xfrm>
          <a:prstGeom prst="rect">
            <a:avLst/>
          </a:prstGeom>
          <a:solidFill>
            <a:srgbClr val="0F1E3C"/>
          </a:solidFill>
          <a:ln w="19050">
            <a:solidFill>
              <a:srgbClr val="333333"/>
            </a:solidFill>
            <a:prstDash val="solid"/>
          </a:ln>
          <a:effectLst>
            <a:outerShdw blurRad="101600" dist="381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5" name="Shape 53"/>
          <p:cNvSpPr/>
          <p:nvPr/>
        </p:nvSpPr>
        <p:spPr>
          <a:xfrm>
            <a:off x="6135624" y="768096"/>
            <a:ext cx="2852928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Text 54"/>
          <p:cNvSpPr/>
          <p:nvPr/>
        </p:nvSpPr>
        <p:spPr>
          <a:xfrm>
            <a:off x="6245352" y="777240"/>
            <a:ext cx="21214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B-ST</a:t>
            </a:r>
            <a:endParaRPr lang="en-US" sz="1400" dirty="0"/>
          </a:p>
        </p:txBody>
      </p:sp>
      <p:sp>
        <p:nvSpPr>
          <p:cNvPr id="57" name="Text 55"/>
          <p:cNvSpPr/>
          <p:nvPr/>
        </p:nvSpPr>
        <p:spPr>
          <a:xfrm>
            <a:off x="6245352" y="1133856"/>
            <a:ext cx="2651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AAB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บัวหลวงตราสารหนี้ระยะสั้น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6245352" y="1353312"/>
            <a:ext cx="1325880" cy="640080"/>
          </a:xfrm>
          <a:prstGeom prst="rect">
            <a:avLst/>
          </a:prstGeom>
          <a:solidFill>
            <a:srgbClr val="182840"/>
          </a:solidFill>
          <a:ln w="12700">
            <a:solidFill>
              <a:srgbClr val="2A3A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Text 57"/>
          <p:cNvSpPr/>
          <p:nvPr/>
        </p:nvSpPr>
        <p:spPr>
          <a:xfrm>
            <a:off x="6245352" y="1380744"/>
            <a:ext cx="1325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1Y Return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6245352" y="1545336"/>
            <a:ext cx="1325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61D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+1.36%</a:t>
            </a:r>
            <a:endParaRPr lang="en-US" sz="2000" dirty="0"/>
          </a:p>
        </p:txBody>
      </p:sp>
      <p:sp>
        <p:nvSpPr>
          <p:cNvPr id="61" name="Shape 59"/>
          <p:cNvSpPr/>
          <p:nvPr/>
        </p:nvSpPr>
        <p:spPr>
          <a:xfrm>
            <a:off x="7644384" y="1353312"/>
            <a:ext cx="1234440" cy="640080"/>
          </a:xfrm>
          <a:prstGeom prst="rect">
            <a:avLst/>
          </a:prstGeom>
          <a:solidFill>
            <a:srgbClr val="182840"/>
          </a:solidFill>
          <a:ln w="12700">
            <a:solidFill>
              <a:srgbClr val="2A3A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Text 60"/>
          <p:cNvSpPr/>
          <p:nvPr/>
        </p:nvSpPr>
        <p:spPr>
          <a:xfrm>
            <a:off x="7644384" y="1380744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</a:t>
            </a:r>
            <a:endParaRPr lang="en-US" sz="800" dirty="0"/>
          </a:p>
        </p:txBody>
      </p:sp>
      <p:sp>
        <p:nvSpPr>
          <p:cNvPr id="63" name="Text 61"/>
          <p:cNvSpPr/>
          <p:nvPr/>
        </p:nvSpPr>
        <p:spPr>
          <a:xfrm>
            <a:off x="7644384" y="1545336"/>
            <a:ext cx="1234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61D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+0.2%</a:t>
            </a:r>
            <a:endParaRPr lang="en-US" sz="2000" dirty="0"/>
          </a:p>
        </p:txBody>
      </p:sp>
      <p:sp>
        <p:nvSpPr>
          <p:cNvPr id="66" name="Text 64"/>
          <p:cNvSpPr/>
          <p:nvPr/>
        </p:nvSpPr>
        <p:spPr>
          <a:xfrm flipH="1">
            <a:off x="7551964" y="1056132"/>
            <a:ext cx="1669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Income — Short Duration</a:t>
            </a:r>
            <a:endParaRPr lang="en-US" sz="800" dirty="0">
              <a:solidFill>
                <a:schemeClr val="bg1"/>
              </a:solidFill>
            </a:endParaRPr>
          </a:p>
        </p:txBody>
      </p:sp>
      <p:sp>
        <p:nvSpPr>
          <p:cNvPr id="67" name="Shape 65"/>
          <p:cNvSpPr/>
          <p:nvPr/>
        </p:nvSpPr>
        <p:spPr>
          <a:xfrm>
            <a:off x="6245352" y="2029968"/>
            <a:ext cx="2633472" cy="36576"/>
          </a:xfrm>
          <a:prstGeom prst="rect">
            <a:avLst/>
          </a:prstGeom>
          <a:solidFill>
            <a:srgbClr val="1E2F50"/>
          </a:solidFill>
          <a:ln w="12700">
            <a:solidFill>
              <a:srgbClr val="1E2F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Text 66"/>
          <p:cNvSpPr/>
          <p:nvPr/>
        </p:nvSpPr>
        <p:spPr>
          <a:xfrm>
            <a:off x="6245352" y="2103120"/>
            <a:ext cx="640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7788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Style:</a:t>
            </a:r>
            <a:endParaRPr lang="en-US" sz="850" dirty="0"/>
          </a:p>
        </p:txBody>
      </p:sp>
      <p:sp>
        <p:nvSpPr>
          <p:cNvPr id="69" name="Text 67"/>
          <p:cNvSpPr/>
          <p:nvPr/>
        </p:nvSpPr>
        <p:spPr>
          <a:xfrm>
            <a:off x="6885432" y="2103120"/>
            <a:ext cx="19842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Passive/Conservative — Short Duration</a:t>
            </a:r>
            <a:endParaRPr lang="en-US" sz="850" dirty="0"/>
          </a:p>
        </p:txBody>
      </p:sp>
      <p:sp>
        <p:nvSpPr>
          <p:cNvPr id="70" name="Text 68"/>
          <p:cNvSpPr/>
          <p:nvPr/>
        </p:nvSpPr>
        <p:spPr>
          <a:xfrm>
            <a:off x="6245352" y="2313432"/>
            <a:ext cx="6583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7788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กองแม่:</a:t>
            </a:r>
            <a:endParaRPr lang="en-US" sz="850" dirty="0"/>
          </a:p>
        </p:txBody>
      </p:sp>
      <p:sp>
        <p:nvSpPr>
          <p:cNvPr id="71" name="Text 69"/>
          <p:cNvSpPr/>
          <p:nvPr/>
        </p:nvSpPr>
        <p:spPr>
          <a:xfrm>
            <a:off x="6912864" y="2313432"/>
            <a:ext cx="19568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AB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— Thai government &amp; high-grade corporate short-term bonds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6245352" y="2743200"/>
            <a:ext cx="2633472" cy="36576"/>
          </a:xfrm>
          <a:prstGeom prst="rect">
            <a:avLst/>
          </a:prstGeom>
          <a:solidFill>
            <a:srgbClr val="1E2F50"/>
          </a:solidFill>
          <a:ln w="12700">
            <a:solidFill>
              <a:srgbClr val="1E2F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3" name="Text 71"/>
          <p:cNvSpPr/>
          <p:nvPr/>
        </p:nvSpPr>
        <p:spPr>
          <a:xfrm>
            <a:off x="6245352" y="2816352"/>
            <a:ext cx="7498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7788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นโยบาย:</a:t>
            </a:r>
            <a:endParaRPr lang="en-US" sz="800" dirty="0"/>
          </a:p>
        </p:txBody>
      </p:sp>
      <p:sp>
        <p:nvSpPr>
          <p:cNvPr id="74" name="Text 72"/>
          <p:cNvSpPr/>
          <p:nvPr/>
        </p:nvSpPr>
        <p:spPr>
          <a:xfrm>
            <a:off x="6245352" y="2971800"/>
            <a:ext cx="263347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Short-term Thai govt/corporate bonds; high liquidity; suitable as cash parking / capital preservation</a:t>
            </a:r>
            <a:endParaRPr lang="en-US" sz="800" dirty="0"/>
          </a:p>
        </p:txBody>
      </p:sp>
      <p:sp>
        <p:nvSpPr>
          <p:cNvPr id="75" name="Shape 73"/>
          <p:cNvSpPr/>
          <p:nvPr/>
        </p:nvSpPr>
        <p:spPr>
          <a:xfrm>
            <a:off x="6245352" y="3419856"/>
            <a:ext cx="2633472" cy="36576"/>
          </a:xfrm>
          <a:prstGeom prst="rect">
            <a:avLst/>
          </a:prstGeom>
          <a:solidFill>
            <a:srgbClr val="000000">
              <a:alpha val="30000"/>
            </a:srgbClr>
          </a:solidFill>
          <a:ln w="12700">
            <a:solidFill>
              <a:srgbClr val="333333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6" name="Text 74"/>
          <p:cNvSpPr/>
          <p:nvPr/>
        </p:nvSpPr>
        <p:spPr>
          <a:xfrm>
            <a:off x="6245352" y="3493008"/>
            <a:ext cx="263347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Capital preservation anchor; rates on hold = stable yield; liquidity buffer in volatile environment</a:t>
            </a:r>
            <a:endParaRPr lang="en-US" sz="850" dirty="0">
              <a:solidFill>
                <a:schemeClr val="bg1"/>
              </a:solidFill>
            </a:endParaRPr>
          </a:p>
        </p:txBody>
      </p:sp>
      <p:sp>
        <p:nvSpPr>
          <p:cNvPr id="77" name="Shape 75"/>
          <p:cNvSpPr/>
          <p:nvPr/>
        </p:nvSpPr>
        <p:spPr>
          <a:xfrm>
            <a:off x="155448" y="4023360"/>
            <a:ext cx="8833104" cy="749808"/>
          </a:xfrm>
          <a:prstGeom prst="rect">
            <a:avLst/>
          </a:prstGeom>
          <a:solidFill>
            <a:srgbClr val="0A152A"/>
          </a:solidFill>
          <a:ln w="12700">
            <a:solidFill>
              <a:srgbClr val="1A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8" name="Text 76"/>
          <p:cNvSpPr/>
          <p:nvPr/>
        </p:nvSpPr>
        <p:spPr>
          <a:xfrm>
            <a:off x="274320" y="4059936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557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Mix Suggestion</a:t>
            </a:r>
            <a:endParaRPr lang="en-US" sz="850" dirty="0"/>
          </a:p>
        </p:txBody>
      </p:sp>
      <p:sp>
        <p:nvSpPr>
          <p:cNvPr id="79" name="Shape 77"/>
          <p:cNvSpPr/>
          <p:nvPr/>
        </p:nvSpPr>
        <p:spPr>
          <a:xfrm>
            <a:off x="274320" y="4279392"/>
            <a:ext cx="2743200" cy="438912"/>
          </a:xfrm>
          <a:prstGeom prst="rect">
            <a:avLst/>
          </a:prstGeom>
          <a:solidFill>
            <a:srgbClr val="0064FF">
              <a:alpha val="12000"/>
            </a:srgbClr>
          </a:solidFill>
          <a:ln w="12700">
            <a:solidFill>
              <a:srgbClr val="0064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0" name="Text 78"/>
          <p:cNvSpPr/>
          <p:nvPr/>
        </p:nvSpPr>
        <p:spPr>
          <a:xfrm>
            <a:off x="365760" y="4297680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6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BBASIC</a:t>
            </a:r>
            <a:endParaRPr lang="en-US" sz="1000" dirty="0"/>
          </a:p>
        </p:txBody>
      </p:sp>
      <p:sp>
        <p:nvSpPr>
          <p:cNvPr id="81" name="Text 79"/>
          <p:cNvSpPr/>
          <p:nvPr/>
        </p:nvSpPr>
        <p:spPr>
          <a:xfrm>
            <a:off x="365760" y="4462272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6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40%</a:t>
            </a:r>
            <a:endParaRPr lang="en-US" sz="1200" dirty="0"/>
          </a:p>
        </p:txBody>
      </p:sp>
      <p:sp>
        <p:nvSpPr>
          <p:cNvPr id="82" name="Text 80"/>
          <p:cNvSpPr/>
          <p:nvPr/>
        </p:nvSpPr>
        <p:spPr>
          <a:xfrm>
            <a:off x="868680" y="4325112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defensive — necessities, stable cash flow</a:t>
            </a:r>
            <a:endParaRPr lang="en-US" sz="800" dirty="0"/>
          </a:p>
        </p:txBody>
      </p:sp>
      <p:sp>
        <p:nvSpPr>
          <p:cNvPr id="83" name="Shape 81"/>
          <p:cNvSpPr/>
          <p:nvPr/>
        </p:nvSpPr>
        <p:spPr>
          <a:xfrm>
            <a:off x="3200400" y="4279392"/>
            <a:ext cx="2743200" cy="438912"/>
          </a:xfrm>
          <a:prstGeom prst="rect">
            <a:avLst/>
          </a:prstGeom>
          <a:solidFill>
            <a:srgbClr val="FF6600">
              <a:alpha val="12000"/>
            </a:srgbClr>
          </a:solidFill>
          <a:ln w="12700">
            <a:solidFill>
              <a:srgbClr val="FF66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4" name="Text 82"/>
          <p:cNvSpPr/>
          <p:nvPr/>
        </p:nvSpPr>
        <p:spPr>
          <a:xfrm>
            <a:off x="3291840" y="4297680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6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BTK</a:t>
            </a:r>
            <a:endParaRPr lang="en-US" sz="1000" dirty="0"/>
          </a:p>
        </p:txBody>
      </p:sp>
      <p:sp>
        <p:nvSpPr>
          <p:cNvPr id="85" name="Text 83"/>
          <p:cNvSpPr/>
          <p:nvPr/>
        </p:nvSpPr>
        <p:spPr>
          <a:xfrm>
            <a:off x="3291840" y="4462272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6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35%</a:t>
            </a:r>
            <a:endParaRPr lang="en-US" sz="1200" dirty="0"/>
          </a:p>
        </p:txBody>
      </p:sp>
      <p:sp>
        <p:nvSpPr>
          <p:cNvPr id="86" name="Text 84"/>
          <p:cNvSpPr/>
          <p:nvPr/>
        </p:nvSpPr>
        <p:spPr>
          <a:xfrm>
            <a:off x="3794760" y="4325112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 market recovery play — domestic policy upside</a:t>
            </a:r>
            <a:endParaRPr lang="en-US" sz="800" dirty="0"/>
          </a:p>
        </p:txBody>
      </p:sp>
      <p:sp>
        <p:nvSpPr>
          <p:cNvPr id="87" name="Shape 85"/>
          <p:cNvSpPr/>
          <p:nvPr/>
        </p:nvSpPr>
        <p:spPr>
          <a:xfrm>
            <a:off x="6126480" y="4279392"/>
            <a:ext cx="2743200" cy="438912"/>
          </a:xfrm>
          <a:prstGeom prst="rect">
            <a:avLst/>
          </a:prstGeom>
          <a:solidFill>
            <a:srgbClr val="000000">
              <a:alpha val="12000"/>
            </a:srgbClr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8" name="Text 86"/>
          <p:cNvSpPr/>
          <p:nvPr/>
        </p:nvSpPr>
        <p:spPr>
          <a:xfrm>
            <a:off x="6217920" y="4297680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B-ST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89" name="Text 87"/>
          <p:cNvSpPr/>
          <p:nvPr/>
        </p:nvSpPr>
        <p:spPr>
          <a:xfrm>
            <a:off x="6217920" y="4462272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90" name="Text 88"/>
          <p:cNvSpPr/>
          <p:nvPr/>
        </p:nvSpPr>
        <p:spPr>
          <a:xfrm>
            <a:off x="6720840" y="4325112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Liquidity anchor — capital preservation, rates on hold</a:t>
            </a:r>
            <a:endParaRPr lang="en-US" sz="800" dirty="0"/>
          </a:p>
        </p:txBody>
      </p:sp>
      <p:pic>
        <p:nvPicPr>
          <p:cNvPr id="91" name="Picture 90">
            <a:extLst>
              <a:ext uri="{FF2B5EF4-FFF2-40B4-BE49-F238E27FC236}">
                <a16:creationId xmlns:a16="http://schemas.microsoft.com/office/drawing/2014/main" id="{481157D2-E9F1-0B18-7BBF-81B8BF8E14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2863" y="-137808"/>
            <a:ext cx="1947849" cy="751104"/>
          </a:xfrm>
          <a:prstGeom prst="rect">
            <a:avLst/>
          </a:prstGeom>
        </p:spPr>
      </p:pic>
      <p:sp>
        <p:nvSpPr>
          <p:cNvPr id="20" name="Text 18"/>
          <p:cNvSpPr/>
          <p:nvPr/>
        </p:nvSpPr>
        <p:spPr>
          <a:xfrm flipH="1">
            <a:off x="982980" y="1078992"/>
            <a:ext cx="185623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006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 Equity — Defensive Sector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9144000" cy="45720"/>
          </a:xfrm>
          <a:prstGeom prst="rect">
            <a:avLst/>
          </a:prstGeom>
          <a:solidFill>
            <a:srgbClr val="9E50CC"/>
          </a:solidFill>
          <a:ln w="12700">
            <a:solidFill>
              <a:srgbClr val="9E50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20040" y="0"/>
            <a:ext cx="8503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Long-Term Portfolio Baskets  |  B-CNNEXT · B-INNOTECH · BGOLD · B-SENIOR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60D1E"/>
          </a:solidFill>
          <a:ln w="12700">
            <a:solidFill>
              <a:srgbClr val="060D1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4892040"/>
            <a:ext cx="859536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5566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ผลการดำเนินงานในอดีตมิได้เป็นสิ่งยืนยันผลการดำเนินงานในอนาคต | Past performance is not indicative of future results</a:t>
            </a:r>
            <a:endParaRPr lang="en-US" sz="780" dirty="0"/>
          </a:p>
        </p:txBody>
      </p:sp>
      <p:sp>
        <p:nvSpPr>
          <p:cNvPr id="7" name="Text 5"/>
          <p:cNvSpPr/>
          <p:nvPr/>
        </p:nvSpPr>
        <p:spPr>
          <a:xfrm>
            <a:off x="201168" y="566928"/>
            <a:ext cx="874166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57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ยาว — China Next-Gen · Global Tech · Gold · Conservative Income  |  ข้อมูล ณ ต้นปี 2569 / Early 2026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155448" y="768096"/>
            <a:ext cx="4315968" cy="1865376"/>
          </a:xfrm>
          <a:prstGeom prst="rect">
            <a:avLst/>
          </a:prstGeom>
          <a:solidFill>
            <a:srgbClr val="0F1E3C"/>
          </a:solidFill>
          <a:ln w="19050">
            <a:solidFill>
              <a:srgbClr val="EF3C67"/>
            </a:solidFill>
            <a:prstDash val="solid"/>
          </a:ln>
          <a:effectLst>
            <a:outerShdw blurRad="101600" dist="381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55448" y="768096"/>
            <a:ext cx="4315968" cy="310896"/>
          </a:xfrm>
          <a:prstGeom prst="rect">
            <a:avLst/>
          </a:prstGeom>
          <a:solidFill>
            <a:srgbClr val="EF3C67"/>
          </a:solidFill>
          <a:ln w="12700">
            <a:solidFill>
              <a:srgbClr val="EF3C6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65176" y="777240"/>
            <a:ext cx="30358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B-CNNEXT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65176" y="1097280"/>
            <a:ext cx="41148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AAB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บัวหลวง China Next Economy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265176" y="1289304"/>
            <a:ext cx="1188720" cy="548640"/>
          </a:xfrm>
          <a:prstGeom prst="rect">
            <a:avLst/>
          </a:prstGeom>
          <a:solidFill>
            <a:srgbClr val="182840"/>
          </a:solidFill>
          <a:ln w="12700">
            <a:solidFill>
              <a:srgbClr val="2A3A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265176" y="1307592"/>
            <a:ext cx="11887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1Y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265176" y="1463040"/>
            <a:ext cx="1188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61D09C"/>
                </a:solidFill>
              </a:rPr>
              <a:t>-</a:t>
            </a:r>
          </a:p>
        </p:txBody>
      </p:sp>
      <p:sp>
        <p:nvSpPr>
          <p:cNvPr id="15" name="Shape 13"/>
          <p:cNvSpPr/>
          <p:nvPr/>
        </p:nvSpPr>
        <p:spPr>
          <a:xfrm>
            <a:off x="1545336" y="1289304"/>
            <a:ext cx="1051560" cy="548640"/>
          </a:xfrm>
          <a:prstGeom prst="rect">
            <a:avLst/>
          </a:prstGeom>
          <a:solidFill>
            <a:srgbClr val="182840"/>
          </a:solidFill>
          <a:ln w="12700">
            <a:solidFill>
              <a:srgbClr val="2A3A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1545336" y="1307592"/>
            <a:ext cx="10515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545336" y="1463040"/>
            <a:ext cx="10515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61D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+12.99%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2697480" y="1335024"/>
            <a:ext cx="16642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889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7  ·  China Equity — New Economy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265176" y="1883664"/>
            <a:ext cx="409651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Style: Active — China Thematic Growth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265176" y="2057400"/>
            <a:ext cx="409651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AB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กองแม่: Master Fund: </a:t>
            </a:r>
            <a:r>
              <a:rPr lang="th-TH" sz="800" dirty="0">
                <a:solidFill>
                  <a:srgbClr val="AAB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บริหารโดย </a:t>
            </a:r>
            <a:r>
              <a:rPr lang="en-US" sz="800" dirty="0">
                <a:solidFill>
                  <a:srgbClr val="AAB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Fund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265176" y="2258568"/>
            <a:ext cx="4096512" cy="27432"/>
          </a:xfrm>
          <a:prstGeom prst="rect">
            <a:avLst/>
          </a:prstGeom>
          <a:solidFill>
            <a:srgbClr val="EF3C67">
              <a:alpha val="40000"/>
            </a:srgbClr>
          </a:solidFill>
          <a:ln w="12700">
            <a:solidFill>
              <a:srgbClr val="EF3C67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265176" y="2304288"/>
            <a:ext cx="40965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EF3C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China 15th Five-Year Plan beneficiary; domestic consumption recovery; de-coupled from US-Iran conflict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636008" y="768096"/>
            <a:ext cx="4315968" cy="1865376"/>
          </a:xfrm>
          <a:prstGeom prst="rect">
            <a:avLst/>
          </a:prstGeom>
          <a:solidFill>
            <a:srgbClr val="0F1E3C"/>
          </a:solidFill>
          <a:ln w="19050">
            <a:solidFill>
              <a:srgbClr val="9E50CC"/>
            </a:solidFill>
            <a:prstDash val="solid"/>
          </a:ln>
          <a:effectLst>
            <a:outerShdw blurRad="101600" dist="381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4636008" y="768096"/>
            <a:ext cx="4315968" cy="310896"/>
          </a:xfrm>
          <a:prstGeom prst="rect">
            <a:avLst/>
          </a:prstGeom>
          <a:solidFill>
            <a:srgbClr val="9E50CC"/>
          </a:solidFill>
          <a:ln w="12700">
            <a:solidFill>
              <a:srgbClr val="9E50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745736" y="777240"/>
            <a:ext cx="30358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B-INNOTECH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7781544" y="813816"/>
            <a:ext cx="1051560" cy="219456"/>
          </a:xfrm>
          <a:prstGeom prst="roundRect">
            <a:avLst>
              <a:gd name="adj" fmla="val 25000"/>
            </a:avLst>
          </a:prstGeom>
          <a:solidFill>
            <a:srgbClr val="FFD700"/>
          </a:solidFill>
          <a:ln w="12700">
            <a:solidFill>
              <a:srgbClr val="CC99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7781544" y="813816"/>
            <a:ext cx="1051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333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 HoF 2025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4745736" y="1097280"/>
            <a:ext cx="41148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AAB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บัวหลวงโกลบอลอินโนเวชั่นและเทคโนโลยี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4745736" y="1289304"/>
            <a:ext cx="1188720" cy="548640"/>
          </a:xfrm>
          <a:prstGeom prst="rect">
            <a:avLst/>
          </a:prstGeom>
          <a:solidFill>
            <a:srgbClr val="182840"/>
          </a:solidFill>
          <a:ln w="12700">
            <a:solidFill>
              <a:srgbClr val="2A3A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4745736" y="1307592"/>
            <a:ext cx="11887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1Y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4745736" y="1463040"/>
            <a:ext cx="1188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EF3C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-5.75</a:t>
            </a:r>
            <a:r>
              <a:rPr lang="en-US" sz="1800" b="1" dirty="0">
                <a:solidFill>
                  <a:srgbClr val="EF3C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800" dirty="0">
              <a:solidFill>
                <a:srgbClr val="EF3C67"/>
              </a:solidFill>
            </a:endParaRPr>
          </a:p>
        </p:txBody>
      </p:sp>
      <p:sp>
        <p:nvSpPr>
          <p:cNvPr id="32" name="Shape 30"/>
          <p:cNvSpPr/>
          <p:nvPr/>
        </p:nvSpPr>
        <p:spPr>
          <a:xfrm>
            <a:off x="6025896" y="1289304"/>
            <a:ext cx="1051560" cy="548640"/>
          </a:xfrm>
          <a:prstGeom prst="rect">
            <a:avLst/>
          </a:prstGeom>
          <a:solidFill>
            <a:srgbClr val="182840"/>
          </a:solidFill>
          <a:ln w="12700">
            <a:solidFill>
              <a:srgbClr val="2A3A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6025896" y="1307592"/>
            <a:ext cx="10515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6025896" y="1463040"/>
            <a:ext cx="10515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F3C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-8.02%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7178040" y="1335024"/>
            <a:ext cx="16642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889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7  ·  Global Equity — Technology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4745736" y="1883664"/>
            <a:ext cx="409651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Style: Active — Global Technology / Quality Growth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4745736" y="2057400"/>
            <a:ext cx="409651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AB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กองแม่: Master Fund: Fidelity Global Technology Fund — Active, Quality Growth style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4745736" y="2258568"/>
            <a:ext cx="4096512" cy="27432"/>
          </a:xfrm>
          <a:prstGeom prst="rect">
            <a:avLst/>
          </a:prstGeom>
          <a:solidFill>
            <a:srgbClr val="9E50CC">
              <a:alpha val="40000"/>
            </a:srgbClr>
          </a:solidFill>
          <a:ln w="12700">
            <a:solidFill>
              <a:srgbClr val="9E50CC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4745736" y="2304288"/>
            <a:ext cx="40965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9E5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Hall of Fame winner — proven long-term compounder; geopolitical tension accelerating defense-AI and semiconductor demand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155448" y="2724912"/>
            <a:ext cx="4315968" cy="1865376"/>
          </a:xfrm>
          <a:prstGeom prst="rect">
            <a:avLst/>
          </a:prstGeom>
          <a:solidFill>
            <a:srgbClr val="0F1E3C"/>
          </a:solidFill>
          <a:ln w="19050">
            <a:solidFill>
              <a:srgbClr val="333333"/>
            </a:solidFill>
            <a:prstDash val="solid"/>
          </a:ln>
          <a:effectLst>
            <a:outerShdw blurRad="101600" dist="381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155448" y="2724912"/>
            <a:ext cx="4315968" cy="310896"/>
          </a:xfrm>
          <a:prstGeom prst="rect">
            <a:avLst/>
          </a:prstGeom>
          <a:solidFill>
            <a:srgbClr val="00000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265176" y="2734056"/>
            <a:ext cx="30358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BGOLD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265176" y="3054096"/>
            <a:ext cx="41148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AAB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บัวหลวงโกลด์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265176" y="3246120"/>
            <a:ext cx="1188720" cy="548640"/>
          </a:xfrm>
          <a:prstGeom prst="rect">
            <a:avLst/>
          </a:prstGeom>
          <a:solidFill>
            <a:srgbClr val="182840"/>
          </a:solidFill>
          <a:ln w="12700">
            <a:solidFill>
              <a:srgbClr val="2A3A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265176" y="3264408"/>
            <a:ext cx="11887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1Y</a:t>
            </a:r>
            <a:endParaRPr lang="en-US" sz="750" dirty="0"/>
          </a:p>
        </p:txBody>
      </p:sp>
      <p:sp>
        <p:nvSpPr>
          <p:cNvPr id="46" name="Text 44"/>
          <p:cNvSpPr/>
          <p:nvPr/>
        </p:nvSpPr>
        <p:spPr>
          <a:xfrm>
            <a:off x="265176" y="3419856"/>
            <a:ext cx="1188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61D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+41.51%</a:t>
            </a:r>
            <a:endParaRPr lang="en-US" sz="1800" dirty="0"/>
          </a:p>
        </p:txBody>
      </p:sp>
      <p:sp>
        <p:nvSpPr>
          <p:cNvPr id="47" name="Shape 45"/>
          <p:cNvSpPr/>
          <p:nvPr/>
        </p:nvSpPr>
        <p:spPr>
          <a:xfrm>
            <a:off x="1545336" y="3246120"/>
            <a:ext cx="1051560" cy="548640"/>
          </a:xfrm>
          <a:prstGeom prst="rect">
            <a:avLst/>
          </a:prstGeom>
          <a:solidFill>
            <a:srgbClr val="182840"/>
          </a:solidFill>
          <a:ln w="12700">
            <a:solidFill>
              <a:srgbClr val="2A3A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1545336" y="3264408"/>
            <a:ext cx="10515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</a:t>
            </a:r>
            <a:endParaRPr lang="en-US" sz="750" dirty="0"/>
          </a:p>
        </p:txBody>
      </p:sp>
      <p:sp>
        <p:nvSpPr>
          <p:cNvPr id="49" name="Text 47"/>
          <p:cNvSpPr/>
          <p:nvPr/>
        </p:nvSpPr>
        <p:spPr>
          <a:xfrm>
            <a:off x="1545336" y="3419856"/>
            <a:ext cx="10515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61D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+7.93%</a:t>
            </a:r>
            <a:endParaRPr lang="en-US" sz="1800" dirty="0"/>
          </a:p>
        </p:txBody>
      </p:sp>
      <p:sp>
        <p:nvSpPr>
          <p:cNvPr id="50" name="Text 48"/>
          <p:cNvSpPr/>
          <p:nvPr/>
        </p:nvSpPr>
        <p:spPr>
          <a:xfrm>
            <a:off x="2697480" y="3291840"/>
            <a:ext cx="16642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889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6  ·  Commodity — Gold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265176" y="3840480"/>
            <a:ext cx="409651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Style: Passive — Gold Price Tracking</a:t>
            </a:r>
            <a:endParaRPr lang="en-US" sz="850" dirty="0"/>
          </a:p>
        </p:txBody>
      </p:sp>
      <p:sp>
        <p:nvSpPr>
          <p:cNvPr id="52" name="Text 50"/>
          <p:cNvSpPr/>
          <p:nvPr/>
        </p:nvSpPr>
        <p:spPr>
          <a:xfrm>
            <a:off x="265176" y="4014216"/>
            <a:ext cx="409651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AB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กองแม่: Master: SPDR Gold Shares (GLD ETF) — tracks spot gold price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265176" y="4215384"/>
            <a:ext cx="4096512" cy="27432"/>
          </a:xfrm>
          <a:prstGeom prst="rect">
            <a:avLst/>
          </a:prstGeom>
          <a:solidFill>
            <a:srgbClr val="000000">
              <a:alpha val="40000"/>
            </a:srgbClr>
          </a:solidFill>
          <a:ln w="12700">
            <a:solidFill>
              <a:srgbClr val="333333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265176" y="4261104"/>
            <a:ext cx="40965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Top YTD performer in the deck; Iran war + USD debasement + central bank buying = structural gold bull run</a:t>
            </a:r>
            <a:endParaRPr lang="en-US" sz="850" dirty="0">
              <a:solidFill>
                <a:schemeClr val="bg1"/>
              </a:solidFill>
            </a:endParaRPr>
          </a:p>
        </p:txBody>
      </p:sp>
      <p:sp>
        <p:nvSpPr>
          <p:cNvPr id="55" name="Shape 53"/>
          <p:cNvSpPr/>
          <p:nvPr/>
        </p:nvSpPr>
        <p:spPr>
          <a:xfrm>
            <a:off x="4636008" y="2724912"/>
            <a:ext cx="4315968" cy="1865376"/>
          </a:xfrm>
          <a:prstGeom prst="rect">
            <a:avLst/>
          </a:prstGeom>
          <a:solidFill>
            <a:srgbClr val="0F1E3C"/>
          </a:solidFill>
          <a:ln w="19050">
            <a:solidFill>
              <a:srgbClr val="61D09C"/>
            </a:solidFill>
            <a:prstDash val="solid"/>
          </a:ln>
          <a:effectLst>
            <a:outerShdw blurRad="101600" dist="381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6" name="Shape 54"/>
          <p:cNvSpPr/>
          <p:nvPr/>
        </p:nvSpPr>
        <p:spPr>
          <a:xfrm>
            <a:off x="4636008" y="2724912"/>
            <a:ext cx="4315968" cy="310896"/>
          </a:xfrm>
          <a:prstGeom prst="rect">
            <a:avLst/>
          </a:prstGeom>
          <a:solidFill>
            <a:srgbClr val="61D09C"/>
          </a:solidFill>
          <a:ln w="12700">
            <a:solidFill>
              <a:srgbClr val="61D09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55"/>
          <p:cNvSpPr/>
          <p:nvPr/>
        </p:nvSpPr>
        <p:spPr>
          <a:xfrm>
            <a:off x="4745736" y="2734056"/>
            <a:ext cx="30358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B-SENIOR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7781544" y="2770632"/>
            <a:ext cx="1051560" cy="219456"/>
          </a:xfrm>
          <a:prstGeom prst="roundRect">
            <a:avLst>
              <a:gd name="adj" fmla="val 25000"/>
            </a:avLst>
          </a:prstGeom>
          <a:solidFill>
            <a:srgbClr val="FFD700"/>
          </a:solidFill>
          <a:ln w="12700">
            <a:solidFill>
              <a:srgbClr val="CC99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Text 57"/>
          <p:cNvSpPr/>
          <p:nvPr/>
        </p:nvSpPr>
        <p:spPr>
          <a:xfrm>
            <a:off x="7781544" y="2770632"/>
            <a:ext cx="1051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333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 HoF 2025</a:t>
            </a:r>
            <a:endParaRPr lang="en-US" sz="750" dirty="0"/>
          </a:p>
        </p:txBody>
      </p:sp>
      <p:sp>
        <p:nvSpPr>
          <p:cNvPr id="60" name="Text 58"/>
          <p:cNvSpPr/>
          <p:nvPr/>
        </p:nvSpPr>
        <p:spPr>
          <a:xfrm>
            <a:off x="4745736" y="3054096"/>
            <a:ext cx="41148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AAB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บัวหลวงผสมบีซีเนียร์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4745736" y="3246120"/>
            <a:ext cx="1188720" cy="548640"/>
          </a:xfrm>
          <a:prstGeom prst="rect">
            <a:avLst/>
          </a:prstGeom>
          <a:solidFill>
            <a:srgbClr val="182840"/>
          </a:solidFill>
          <a:ln w="12700">
            <a:solidFill>
              <a:srgbClr val="2A3A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Text 60"/>
          <p:cNvSpPr/>
          <p:nvPr/>
        </p:nvSpPr>
        <p:spPr>
          <a:xfrm>
            <a:off x="4745736" y="3264408"/>
            <a:ext cx="11887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1Y</a:t>
            </a:r>
            <a:endParaRPr lang="en-US" sz="750" dirty="0"/>
          </a:p>
        </p:txBody>
      </p:sp>
      <p:sp>
        <p:nvSpPr>
          <p:cNvPr id="63" name="Text 61"/>
          <p:cNvSpPr/>
          <p:nvPr/>
        </p:nvSpPr>
        <p:spPr>
          <a:xfrm>
            <a:off x="4745736" y="3419856"/>
            <a:ext cx="1188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61D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r>
              <a:rPr lang="en-US" b="1" dirty="0">
                <a:solidFill>
                  <a:srgbClr val="61D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6.41</a:t>
            </a:r>
            <a:r>
              <a:rPr lang="en-US" sz="1800" b="1" dirty="0">
                <a:solidFill>
                  <a:srgbClr val="61D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800" dirty="0"/>
          </a:p>
        </p:txBody>
      </p:sp>
      <p:sp>
        <p:nvSpPr>
          <p:cNvPr id="64" name="Shape 62"/>
          <p:cNvSpPr/>
          <p:nvPr/>
        </p:nvSpPr>
        <p:spPr>
          <a:xfrm>
            <a:off x="6025896" y="3246120"/>
            <a:ext cx="1051560" cy="548640"/>
          </a:xfrm>
          <a:prstGeom prst="rect">
            <a:avLst/>
          </a:prstGeom>
          <a:solidFill>
            <a:srgbClr val="182840"/>
          </a:solidFill>
          <a:ln w="12700">
            <a:solidFill>
              <a:srgbClr val="2A3A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Text 63"/>
          <p:cNvSpPr/>
          <p:nvPr/>
        </p:nvSpPr>
        <p:spPr>
          <a:xfrm>
            <a:off x="6025896" y="3264408"/>
            <a:ext cx="10515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</a:t>
            </a:r>
            <a:endParaRPr lang="en-US" sz="750" dirty="0"/>
          </a:p>
        </p:txBody>
      </p:sp>
      <p:sp>
        <p:nvSpPr>
          <p:cNvPr id="66" name="Text 64"/>
          <p:cNvSpPr/>
          <p:nvPr/>
        </p:nvSpPr>
        <p:spPr>
          <a:xfrm>
            <a:off x="6025896" y="3419856"/>
            <a:ext cx="10515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61D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+2.3%</a:t>
            </a:r>
            <a:endParaRPr lang="en-US" sz="1800" dirty="0"/>
          </a:p>
        </p:txBody>
      </p:sp>
      <p:sp>
        <p:nvSpPr>
          <p:cNvPr id="67" name="Text 65"/>
          <p:cNvSpPr/>
          <p:nvPr/>
        </p:nvSpPr>
        <p:spPr>
          <a:xfrm>
            <a:off x="7178040" y="3291840"/>
            <a:ext cx="16642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889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5  ·  Mixed Asset — Conservative Income</a:t>
            </a:r>
            <a:endParaRPr lang="en-US" sz="800" dirty="0"/>
          </a:p>
        </p:txBody>
      </p:sp>
      <p:sp>
        <p:nvSpPr>
          <p:cNvPr id="68" name="Text 66"/>
          <p:cNvSpPr/>
          <p:nvPr/>
        </p:nvSpPr>
        <p:spPr>
          <a:xfrm>
            <a:off x="4745736" y="3840480"/>
            <a:ext cx="409651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Style: Active Balanced — Conservative Mixed</a:t>
            </a:r>
            <a:endParaRPr lang="en-US" sz="850" dirty="0"/>
          </a:p>
        </p:txBody>
      </p:sp>
      <p:sp>
        <p:nvSpPr>
          <p:cNvPr id="69" name="Text 67"/>
          <p:cNvSpPr/>
          <p:nvPr/>
        </p:nvSpPr>
        <p:spPr>
          <a:xfrm>
            <a:off x="4745736" y="4014216"/>
            <a:ext cx="409651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AB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กองแม่: Direct multi-asset: ≥70% bonds/deposits + ≤30% equities. Managed for retirement income.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4745736" y="4215384"/>
            <a:ext cx="4096512" cy="27432"/>
          </a:xfrm>
          <a:prstGeom prst="rect">
            <a:avLst/>
          </a:prstGeom>
          <a:solidFill>
            <a:srgbClr val="61D09C">
              <a:alpha val="40000"/>
            </a:srgbClr>
          </a:solidFill>
          <a:ln w="12700">
            <a:solidFill>
              <a:srgbClr val="61D09C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Text 69"/>
          <p:cNvSpPr/>
          <p:nvPr/>
        </p:nvSpPr>
        <p:spPr>
          <a:xfrm>
            <a:off x="4745736" y="4261104"/>
            <a:ext cx="40965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1D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Hall of Fame winner — ideal barbell income anchor; higher yield than pure bond fund with small equity kicker</a:t>
            </a:r>
            <a:endParaRPr lang="en-US" sz="850" dirty="0"/>
          </a:p>
        </p:txBody>
      </p:sp>
      <p:pic>
        <p:nvPicPr>
          <p:cNvPr id="72" name="Picture 71">
            <a:extLst>
              <a:ext uri="{FF2B5EF4-FFF2-40B4-BE49-F238E27FC236}">
                <a16:creationId xmlns:a16="http://schemas.microsoft.com/office/drawing/2014/main" id="{703A6D1F-F32C-5EAC-9635-9410281A5E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2863" y="-137808"/>
            <a:ext cx="1947849" cy="75110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9144000" cy="45720"/>
          </a:xfrm>
          <a:prstGeom prst="rect">
            <a:avLst/>
          </a:prstGeom>
          <a:solidFill>
            <a:srgbClr val="00000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20040" y="0"/>
            <a:ext cx="8503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 Finnomena Hall of Funds 2025  |  Barbell Strategy Summary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60D1E"/>
          </a:solidFill>
          <a:ln w="12700">
            <a:solidFill>
              <a:srgbClr val="060D1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4910328"/>
            <a:ext cx="859536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5566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ผลการดำเนินงานในอดีตมิได้เป็นสิ่งยืนยันผลการดำเนินงานในอนาคต | Past performance is not indicative of future results</a:t>
            </a:r>
            <a:endParaRPr lang="en-US" sz="780" dirty="0"/>
          </a:p>
        </p:txBody>
      </p:sp>
      <p:sp>
        <p:nvSpPr>
          <p:cNvPr id="7" name="Shape 5"/>
          <p:cNvSpPr/>
          <p:nvPr/>
        </p:nvSpPr>
        <p:spPr>
          <a:xfrm>
            <a:off x="155448" y="594360"/>
            <a:ext cx="4315968" cy="2029968"/>
          </a:xfrm>
          <a:prstGeom prst="rect">
            <a:avLst/>
          </a:prstGeom>
          <a:solidFill>
            <a:srgbClr val="12172A"/>
          </a:solidFill>
          <a:ln w="22860">
            <a:solidFill>
              <a:srgbClr val="9E50CC"/>
            </a:solidFill>
            <a:prstDash val="solid"/>
          </a:ln>
          <a:effectLst>
            <a:outerShdw blurRad="101600" dist="381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55448" y="594360"/>
            <a:ext cx="4315968" cy="365760"/>
          </a:xfrm>
          <a:prstGeom prst="rect">
            <a:avLst/>
          </a:prstGeom>
          <a:solidFill>
            <a:srgbClr val="9E50CC"/>
          </a:solidFill>
          <a:ln w="12700">
            <a:solidFill>
              <a:srgbClr val="9E50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56032" y="594360"/>
            <a:ext cx="4133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  B-INNOTECH  |  Hall of Funds 2025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56032" y="987552"/>
            <a:ext cx="413308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BB99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Technology Equity Fund Award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56032" y="1188720"/>
            <a:ext cx="41330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Fidelity Funds – Global Technology Fund (Master Fund)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Quality Growth · Risk Level 7 · Global Tech Exposure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56032" y="1664208"/>
            <a:ext cx="1371600" cy="658368"/>
          </a:xfrm>
          <a:prstGeom prst="rect">
            <a:avLst/>
          </a:prstGeom>
          <a:solidFill>
            <a:srgbClr val="1E2F50"/>
          </a:solidFill>
          <a:ln w="12700">
            <a:solidFill>
              <a:srgbClr val="2A3A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256032" y="1691640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1Y Return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256032" y="1865376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F3C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-5.75%</a:t>
            </a:r>
            <a:endParaRPr lang="en-US" sz="2000" dirty="0">
              <a:solidFill>
                <a:srgbClr val="EF3C67"/>
              </a:solidFill>
            </a:endParaRPr>
          </a:p>
        </p:txBody>
      </p:sp>
      <p:sp>
        <p:nvSpPr>
          <p:cNvPr id="15" name="Shape 13"/>
          <p:cNvSpPr/>
          <p:nvPr/>
        </p:nvSpPr>
        <p:spPr>
          <a:xfrm>
            <a:off x="1719072" y="1664208"/>
            <a:ext cx="1188720" cy="658368"/>
          </a:xfrm>
          <a:prstGeom prst="rect">
            <a:avLst/>
          </a:prstGeom>
          <a:solidFill>
            <a:srgbClr val="1E2F50"/>
          </a:solidFill>
          <a:ln w="12700">
            <a:solidFill>
              <a:srgbClr val="2A3A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1719072" y="1691640"/>
            <a:ext cx="1188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719072" y="1865376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F3C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-8.02%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256032" y="2359152"/>
            <a:ext cx="4114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EF3C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YTD negative reflects Iran war / tech sector pullback — not fund quality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4672584" y="594360"/>
            <a:ext cx="4315968" cy="2029968"/>
          </a:xfrm>
          <a:prstGeom prst="rect">
            <a:avLst/>
          </a:prstGeom>
          <a:solidFill>
            <a:srgbClr val="12172A"/>
          </a:solidFill>
          <a:ln w="22860">
            <a:solidFill>
              <a:srgbClr val="61D09C"/>
            </a:solidFill>
            <a:prstDash val="solid"/>
          </a:ln>
          <a:effectLst>
            <a:outerShdw blurRad="101600" dist="381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672584" y="594360"/>
            <a:ext cx="4315968" cy="365760"/>
          </a:xfrm>
          <a:prstGeom prst="rect">
            <a:avLst/>
          </a:prstGeom>
          <a:solidFill>
            <a:srgbClr val="61D09C"/>
          </a:solidFill>
          <a:ln w="12700">
            <a:solidFill>
              <a:srgbClr val="61D09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773168" y="594360"/>
            <a:ext cx="4133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  B-SENIOR  |  Hall of Funds 2025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773168" y="987552"/>
            <a:ext cx="413308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88CC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Conservative Mixed Fund — Retirement Category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773168" y="1188720"/>
            <a:ext cx="41330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Multi-Asset: ≥70% TH Bonds/Deposits + ≤30% Equity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 for retirement — conservative income with stability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773168" y="1664208"/>
            <a:ext cx="1371600" cy="658368"/>
          </a:xfrm>
          <a:prstGeom prst="rect">
            <a:avLst/>
          </a:prstGeom>
          <a:solidFill>
            <a:srgbClr val="1E2F50"/>
          </a:solidFill>
          <a:ln w="12700">
            <a:solidFill>
              <a:srgbClr val="2A3A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773168" y="1691640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1Y Return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4773168" y="1865376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61D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+6.41%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6236208" y="1664208"/>
            <a:ext cx="1188720" cy="658368"/>
          </a:xfrm>
          <a:prstGeom prst="rect">
            <a:avLst/>
          </a:prstGeom>
          <a:solidFill>
            <a:srgbClr val="1E2F50"/>
          </a:solidFill>
          <a:ln w="12700">
            <a:solidFill>
              <a:srgbClr val="2A3A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236208" y="1691640"/>
            <a:ext cx="1188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236208" y="1865376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61D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+2.3%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4773168" y="2359152"/>
            <a:ext cx="4114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61D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Positive YTD — bond-heavy structure provides cushion amid equity selloff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155448" y="2743200"/>
            <a:ext cx="8833104" cy="310896"/>
          </a:xfrm>
          <a:prstGeom prst="rect">
            <a:avLst/>
          </a:prstGeom>
          <a:solidFill>
            <a:srgbClr val="7A0334"/>
          </a:solidFill>
          <a:ln w="12700">
            <a:solidFill>
              <a:srgbClr val="7A033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256032" y="2743200"/>
            <a:ext cx="8650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BARBELL PORTFOLIO SUMMARY  |  All 7 Funds at a Glance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55448" y="3054096"/>
            <a:ext cx="658368" cy="256032"/>
          </a:xfrm>
          <a:prstGeom prst="rect">
            <a:avLst/>
          </a:prstGeom>
          <a:solidFill>
            <a:srgbClr val="1A2A4A"/>
          </a:solidFill>
          <a:ln w="12700">
            <a:solidFill>
              <a:srgbClr val="2A3A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192024" y="3054096"/>
            <a:ext cx="60350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813816" y="3054096"/>
            <a:ext cx="685800" cy="256032"/>
          </a:xfrm>
          <a:prstGeom prst="rect">
            <a:avLst/>
          </a:prstGeom>
          <a:solidFill>
            <a:srgbClr val="1A2A4A"/>
          </a:solidFill>
          <a:ln w="12700">
            <a:solidFill>
              <a:srgbClr val="2A3A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850392" y="3054096"/>
            <a:ext cx="6309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Basket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499616" y="3054096"/>
            <a:ext cx="960120" cy="256032"/>
          </a:xfrm>
          <a:prstGeom prst="rect">
            <a:avLst/>
          </a:prstGeom>
          <a:solidFill>
            <a:srgbClr val="1A2A4A"/>
          </a:solidFill>
          <a:ln w="12700">
            <a:solidFill>
              <a:srgbClr val="2A3A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1536192" y="3054096"/>
            <a:ext cx="9052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Style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2459736" y="3054096"/>
            <a:ext cx="2651760" cy="256032"/>
          </a:xfrm>
          <a:prstGeom prst="rect">
            <a:avLst/>
          </a:prstGeom>
          <a:solidFill>
            <a:srgbClr val="1A2A4A"/>
          </a:solidFill>
          <a:ln w="12700">
            <a:solidFill>
              <a:srgbClr val="2A3A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2496312" y="3054096"/>
            <a:ext cx="25968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กองแม่ / Master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5111496" y="3054096"/>
            <a:ext cx="566928" cy="256032"/>
          </a:xfrm>
          <a:prstGeom prst="rect">
            <a:avLst/>
          </a:prstGeom>
          <a:solidFill>
            <a:srgbClr val="1A2A4A"/>
          </a:solidFill>
          <a:ln w="12700">
            <a:solidFill>
              <a:srgbClr val="2A3A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5148072" y="3054096"/>
            <a:ext cx="5120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1Y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5678424" y="3054096"/>
            <a:ext cx="566928" cy="256032"/>
          </a:xfrm>
          <a:prstGeom prst="rect">
            <a:avLst/>
          </a:prstGeom>
          <a:solidFill>
            <a:srgbClr val="1A2A4A"/>
          </a:solidFill>
          <a:ln w="12700">
            <a:solidFill>
              <a:srgbClr val="2A3A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5715000" y="3054096"/>
            <a:ext cx="5120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6245352" y="3054096"/>
            <a:ext cx="475488" cy="256032"/>
          </a:xfrm>
          <a:prstGeom prst="rect">
            <a:avLst/>
          </a:prstGeom>
          <a:solidFill>
            <a:srgbClr val="1A2A4A"/>
          </a:solidFill>
          <a:ln w="12700">
            <a:solidFill>
              <a:srgbClr val="2A3A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6281928" y="3054096"/>
            <a:ext cx="4206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6720840" y="3054096"/>
            <a:ext cx="512064" cy="256032"/>
          </a:xfrm>
          <a:prstGeom prst="rect">
            <a:avLst/>
          </a:prstGeom>
          <a:solidFill>
            <a:srgbClr val="1A2A4A"/>
          </a:solidFill>
          <a:ln w="12700">
            <a:solidFill>
              <a:srgbClr val="2A3A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6757416" y="3054096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HoF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155448" y="3310128"/>
            <a:ext cx="658368" cy="237744"/>
          </a:xfrm>
          <a:prstGeom prst="rect">
            <a:avLst/>
          </a:prstGeom>
          <a:solidFill>
            <a:srgbClr val="0D1830"/>
          </a:solidFill>
          <a:ln w="12700">
            <a:solidFill>
              <a:srgbClr val="1828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192024" y="3310128"/>
            <a:ext cx="60350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06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BBASIC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813816" y="3310128"/>
            <a:ext cx="685800" cy="237744"/>
          </a:xfrm>
          <a:prstGeom prst="rect">
            <a:avLst/>
          </a:prstGeom>
          <a:solidFill>
            <a:srgbClr val="0D1830"/>
          </a:solidFill>
          <a:ln w="12700">
            <a:solidFill>
              <a:srgbClr val="1828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Text 50"/>
          <p:cNvSpPr/>
          <p:nvPr/>
        </p:nvSpPr>
        <p:spPr>
          <a:xfrm>
            <a:off x="850392" y="3310128"/>
            <a:ext cx="6309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1499616" y="3310128"/>
            <a:ext cx="960120" cy="237744"/>
          </a:xfrm>
          <a:prstGeom prst="rect">
            <a:avLst/>
          </a:prstGeom>
          <a:solidFill>
            <a:srgbClr val="0D1830"/>
          </a:solidFill>
          <a:ln w="12700">
            <a:solidFill>
              <a:srgbClr val="1828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1536192" y="3310128"/>
            <a:ext cx="90525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/ Thai Value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2459736" y="3310128"/>
            <a:ext cx="2651760" cy="237744"/>
          </a:xfrm>
          <a:prstGeom prst="rect">
            <a:avLst/>
          </a:prstGeom>
          <a:solidFill>
            <a:srgbClr val="0D1830"/>
          </a:solidFill>
          <a:ln w="12700">
            <a:solidFill>
              <a:srgbClr val="1828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Text 54"/>
          <p:cNvSpPr/>
          <p:nvPr/>
        </p:nvSpPr>
        <p:spPr>
          <a:xfrm>
            <a:off x="2496312" y="3310128"/>
            <a:ext cx="259689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Thai Equities (Sector)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5111496" y="3310128"/>
            <a:ext cx="566928" cy="237744"/>
          </a:xfrm>
          <a:prstGeom prst="rect">
            <a:avLst/>
          </a:prstGeom>
          <a:solidFill>
            <a:srgbClr val="0D1830"/>
          </a:solidFill>
          <a:ln w="12700">
            <a:solidFill>
              <a:srgbClr val="182840"/>
            </a:solidFill>
            <a:prstDash val="solid"/>
          </a:ln>
        </p:spPr>
        <p:txBody>
          <a:bodyPr/>
          <a:lstStyle/>
          <a:p>
            <a:endParaRPr lang="en-US" sz="800"/>
          </a:p>
        </p:txBody>
      </p:sp>
      <p:sp>
        <p:nvSpPr>
          <p:cNvPr id="58" name="Text 56"/>
          <p:cNvSpPr/>
          <p:nvPr/>
        </p:nvSpPr>
        <p:spPr>
          <a:xfrm>
            <a:off x="5148072" y="3310128"/>
            <a:ext cx="5120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F3C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-4.25%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5678424" y="3310128"/>
            <a:ext cx="566928" cy="237744"/>
          </a:xfrm>
          <a:prstGeom prst="rect">
            <a:avLst/>
          </a:prstGeom>
          <a:solidFill>
            <a:srgbClr val="0D1830"/>
          </a:solidFill>
          <a:ln w="12700">
            <a:solidFill>
              <a:srgbClr val="182840"/>
            </a:solidFill>
            <a:prstDash val="solid"/>
          </a:ln>
        </p:spPr>
        <p:txBody>
          <a:bodyPr/>
          <a:lstStyle/>
          <a:p>
            <a:endParaRPr lang="en-US" sz="800">
              <a:solidFill>
                <a:srgbClr val="61D09C"/>
              </a:solidFill>
            </a:endParaRPr>
          </a:p>
        </p:txBody>
      </p:sp>
      <p:sp>
        <p:nvSpPr>
          <p:cNvPr id="60" name="Text 58"/>
          <p:cNvSpPr/>
          <p:nvPr/>
        </p:nvSpPr>
        <p:spPr>
          <a:xfrm>
            <a:off x="5715000" y="3310128"/>
            <a:ext cx="5120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1D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+2.69%</a:t>
            </a:r>
            <a:endParaRPr lang="en-US" sz="800" dirty="0">
              <a:solidFill>
                <a:srgbClr val="61D09C"/>
              </a:solidFill>
            </a:endParaRPr>
          </a:p>
        </p:txBody>
      </p:sp>
      <p:sp>
        <p:nvSpPr>
          <p:cNvPr id="61" name="Shape 59"/>
          <p:cNvSpPr/>
          <p:nvPr/>
        </p:nvSpPr>
        <p:spPr>
          <a:xfrm>
            <a:off x="6245352" y="3310128"/>
            <a:ext cx="475488" cy="237744"/>
          </a:xfrm>
          <a:prstGeom prst="rect">
            <a:avLst/>
          </a:prstGeom>
          <a:solidFill>
            <a:srgbClr val="0D1830"/>
          </a:solidFill>
          <a:ln w="12700">
            <a:solidFill>
              <a:srgbClr val="1828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Text 60"/>
          <p:cNvSpPr/>
          <p:nvPr/>
        </p:nvSpPr>
        <p:spPr>
          <a:xfrm>
            <a:off x="6281928" y="3310128"/>
            <a:ext cx="42062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6720840" y="3310128"/>
            <a:ext cx="512064" cy="237744"/>
          </a:xfrm>
          <a:prstGeom prst="rect">
            <a:avLst/>
          </a:prstGeom>
          <a:solidFill>
            <a:srgbClr val="0D1830"/>
          </a:solidFill>
          <a:ln w="12700">
            <a:solidFill>
              <a:srgbClr val="1828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Text 62"/>
          <p:cNvSpPr/>
          <p:nvPr/>
        </p:nvSpPr>
        <p:spPr>
          <a:xfrm>
            <a:off x="6757416" y="3310128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155448" y="3547872"/>
            <a:ext cx="658368" cy="237744"/>
          </a:xfrm>
          <a:prstGeom prst="rect">
            <a:avLst/>
          </a:prstGeom>
          <a:solidFill>
            <a:srgbClr val="0A1525"/>
          </a:solidFill>
          <a:ln w="12700">
            <a:solidFill>
              <a:srgbClr val="1828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Text 64"/>
          <p:cNvSpPr/>
          <p:nvPr/>
        </p:nvSpPr>
        <p:spPr>
          <a:xfrm>
            <a:off x="192024" y="3547872"/>
            <a:ext cx="60350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6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BTK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813816" y="3547872"/>
            <a:ext cx="685800" cy="237744"/>
          </a:xfrm>
          <a:prstGeom prst="rect">
            <a:avLst/>
          </a:prstGeom>
          <a:solidFill>
            <a:srgbClr val="0A1525"/>
          </a:solidFill>
          <a:ln w="12700">
            <a:solidFill>
              <a:srgbClr val="1828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Text 66"/>
          <p:cNvSpPr/>
          <p:nvPr/>
        </p:nvSpPr>
        <p:spPr>
          <a:xfrm>
            <a:off x="850392" y="3547872"/>
            <a:ext cx="6309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</a:t>
            </a:r>
            <a:endParaRPr lang="en-US" sz="800" dirty="0"/>
          </a:p>
        </p:txBody>
      </p:sp>
      <p:sp>
        <p:nvSpPr>
          <p:cNvPr id="69" name="Shape 67"/>
          <p:cNvSpPr/>
          <p:nvPr/>
        </p:nvSpPr>
        <p:spPr>
          <a:xfrm>
            <a:off x="1499616" y="3547872"/>
            <a:ext cx="960120" cy="237744"/>
          </a:xfrm>
          <a:prstGeom prst="rect">
            <a:avLst/>
          </a:prstGeom>
          <a:solidFill>
            <a:srgbClr val="0A1525"/>
          </a:solidFill>
          <a:ln w="12700">
            <a:solidFill>
              <a:srgbClr val="1828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Text 68"/>
          <p:cNvSpPr/>
          <p:nvPr/>
        </p:nvSpPr>
        <p:spPr>
          <a:xfrm>
            <a:off x="1536192" y="3547872"/>
            <a:ext cx="90525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/ Thai Growth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2459736" y="3547872"/>
            <a:ext cx="2651760" cy="237744"/>
          </a:xfrm>
          <a:prstGeom prst="rect">
            <a:avLst/>
          </a:prstGeom>
          <a:solidFill>
            <a:srgbClr val="0A1525"/>
          </a:solidFill>
          <a:ln w="12700">
            <a:solidFill>
              <a:srgbClr val="1828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2" name="Text 70"/>
          <p:cNvSpPr/>
          <p:nvPr/>
        </p:nvSpPr>
        <p:spPr>
          <a:xfrm>
            <a:off x="2496312" y="3547872"/>
            <a:ext cx="259689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Thai Large-cap (SET TRI)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5111496" y="3547872"/>
            <a:ext cx="905256" cy="251460"/>
          </a:xfrm>
          <a:prstGeom prst="rect">
            <a:avLst/>
          </a:prstGeom>
          <a:solidFill>
            <a:srgbClr val="0A1525"/>
          </a:solidFill>
          <a:ln w="12700">
            <a:solidFill>
              <a:srgbClr val="1828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4" name="Text 72"/>
          <p:cNvSpPr/>
          <p:nvPr/>
        </p:nvSpPr>
        <p:spPr>
          <a:xfrm>
            <a:off x="5148072" y="3547872"/>
            <a:ext cx="5120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1D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+23.9 %</a:t>
            </a:r>
            <a:endParaRPr lang="en-US" sz="800" dirty="0">
              <a:solidFill>
                <a:srgbClr val="61D09C"/>
              </a:solidFill>
            </a:endParaRPr>
          </a:p>
        </p:txBody>
      </p:sp>
      <p:sp>
        <p:nvSpPr>
          <p:cNvPr id="75" name="Shape 73"/>
          <p:cNvSpPr/>
          <p:nvPr/>
        </p:nvSpPr>
        <p:spPr>
          <a:xfrm>
            <a:off x="5678424" y="3547872"/>
            <a:ext cx="566928" cy="237744"/>
          </a:xfrm>
          <a:prstGeom prst="rect">
            <a:avLst/>
          </a:prstGeom>
          <a:solidFill>
            <a:srgbClr val="0A1525"/>
          </a:solidFill>
          <a:ln w="12700">
            <a:solidFill>
              <a:srgbClr val="1828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6" name="Text 74"/>
          <p:cNvSpPr/>
          <p:nvPr/>
        </p:nvSpPr>
        <p:spPr>
          <a:xfrm>
            <a:off x="5715000" y="3547872"/>
            <a:ext cx="5120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1D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+9.11%</a:t>
            </a:r>
            <a:endParaRPr lang="en-US" sz="800" dirty="0">
              <a:solidFill>
                <a:srgbClr val="61D09C"/>
              </a:solidFill>
            </a:endParaRPr>
          </a:p>
        </p:txBody>
      </p:sp>
      <p:sp>
        <p:nvSpPr>
          <p:cNvPr id="77" name="Shape 75"/>
          <p:cNvSpPr/>
          <p:nvPr/>
        </p:nvSpPr>
        <p:spPr>
          <a:xfrm>
            <a:off x="6245352" y="3547872"/>
            <a:ext cx="475488" cy="237744"/>
          </a:xfrm>
          <a:prstGeom prst="rect">
            <a:avLst/>
          </a:prstGeom>
          <a:solidFill>
            <a:srgbClr val="0A1525"/>
          </a:solidFill>
          <a:ln w="12700">
            <a:solidFill>
              <a:srgbClr val="1828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8" name="Text 76"/>
          <p:cNvSpPr/>
          <p:nvPr/>
        </p:nvSpPr>
        <p:spPr>
          <a:xfrm>
            <a:off x="6281928" y="3547872"/>
            <a:ext cx="42062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6720840" y="3547872"/>
            <a:ext cx="512064" cy="237744"/>
          </a:xfrm>
          <a:prstGeom prst="rect">
            <a:avLst/>
          </a:prstGeom>
          <a:solidFill>
            <a:srgbClr val="0A1525"/>
          </a:solidFill>
          <a:ln w="12700">
            <a:solidFill>
              <a:srgbClr val="1828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0" name="Text 78"/>
          <p:cNvSpPr/>
          <p:nvPr/>
        </p:nvSpPr>
        <p:spPr>
          <a:xfrm>
            <a:off x="6757416" y="3547872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800" dirty="0"/>
          </a:p>
        </p:txBody>
      </p:sp>
      <p:sp>
        <p:nvSpPr>
          <p:cNvPr id="81" name="Shape 79"/>
          <p:cNvSpPr/>
          <p:nvPr/>
        </p:nvSpPr>
        <p:spPr>
          <a:xfrm>
            <a:off x="155448" y="3785616"/>
            <a:ext cx="658368" cy="237744"/>
          </a:xfrm>
          <a:prstGeom prst="rect">
            <a:avLst/>
          </a:prstGeom>
          <a:solidFill>
            <a:srgbClr val="0D1830"/>
          </a:solidFill>
          <a:ln w="12700">
            <a:solidFill>
              <a:srgbClr val="1828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2" name="Text 80"/>
          <p:cNvSpPr/>
          <p:nvPr/>
        </p:nvSpPr>
        <p:spPr>
          <a:xfrm>
            <a:off x="192024" y="3785616"/>
            <a:ext cx="60350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B-ST</a:t>
            </a:r>
            <a:endParaRPr lang="en-US" sz="800" dirty="0"/>
          </a:p>
        </p:txBody>
      </p:sp>
      <p:sp>
        <p:nvSpPr>
          <p:cNvPr id="83" name="Shape 81"/>
          <p:cNvSpPr/>
          <p:nvPr/>
        </p:nvSpPr>
        <p:spPr>
          <a:xfrm>
            <a:off x="813816" y="3785616"/>
            <a:ext cx="685800" cy="237744"/>
          </a:xfrm>
          <a:prstGeom prst="rect">
            <a:avLst/>
          </a:prstGeom>
          <a:solidFill>
            <a:srgbClr val="0D1830"/>
          </a:solidFill>
          <a:ln w="12700">
            <a:solidFill>
              <a:srgbClr val="1828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4" name="Text 82"/>
          <p:cNvSpPr/>
          <p:nvPr/>
        </p:nvSpPr>
        <p:spPr>
          <a:xfrm>
            <a:off x="850392" y="3785616"/>
            <a:ext cx="6309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</a:t>
            </a:r>
            <a:endParaRPr lang="en-US" sz="800" dirty="0"/>
          </a:p>
        </p:txBody>
      </p:sp>
      <p:sp>
        <p:nvSpPr>
          <p:cNvPr id="85" name="Shape 83"/>
          <p:cNvSpPr/>
          <p:nvPr/>
        </p:nvSpPr>
        <p:spPr>
          <a:xfrm>
            <a:off x="1499616" y="3785616"/>
            <a:ext cx="960120" cy="237744"/>
          </a:xfrm>
          <a:prstGeom prst="rect">
            <a:avLst/>
          </a:prstGeom>
          <a:solidFill>
            <a:srgbClr val="0D1830"/>
          </a:solidFill>
          <a:ln w="12700">
            <a:solidFill>
              <a:srgbClr val="1828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6" name="Text 84"/>
          <p:cNvSpPr/>
          <p:nvPr/>
        </p:nvSpPr>
        <p:spPr>
          <a:xfrm>
            <a:off x="1536192" y="3785616"/>
            <a:ext cx="90525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Conservative / Liquidity</a:t>
            </a:r>
            <a:endParaRPr lang="en-US" sz="800" dirty="0"/>
          </a:p>
        </p:txBody>
      </p:sp>
      <p:sp>
        <p:nvSpPr>
          <p:cNvPr id="87" name="Shape 85"/>
          <p:cNvSpPr/>
          <p:nvPr/>
        </p:nvSpPr>
        <p:spPr>
          <a:xfrm>
            <a:off x="2459736" y="3785616"/>
            <a:ext cx="2651760" cy="237744"/>
          </a:xfrm>
          <a:prstGeom prst="rect">
            <a:avLst/>
          </a:prstGeom>
          <a:solidFill>
            <a:srgbClr val="0D1830"/>
          </a:solidFill>
          <a:ln w="12700">
            <a:solidFill>
              <a:srgbClr val="1828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8" name="Text 86"/>
          <p:cNvSpPr/>
          <p:nvPr/>
        </p:nvSpPr>
        <p:spPr>
          <a:xfrm>
            <a:off x="2496312" y="3785616"/>
            <a:ext cx="259689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 Govt/Corp Short-term Bonds</a:t>
            </a:r>
            <a:endParaRPr lang="en-US" sz="800" dirty="0"/>
          </a:p>
        </p:txBody>
      </p:sp>
      <p:sp>
        <p:nvSpPr>
          <p:cNvPr id="89" name="Shape 87"/>
          <p:cNvSpPr/>
          <p:nvPr/>
        </p:nvSpPr>
        <p:spPr>
          <a:xfrm>
            <a:off x="5111496" y="3785616"/>
            <a:ext cx="566928" cy="237744"/>
          </a:xfrm>
          <a:prstGeom prst="rect">
            <a:avLst/>
          </a:prstGeom>
          <a:solidFill>
            <a:srgbClr val="0D1830"/>
          </a:solidFill>
          <a:ln w="12700">
            <a:solidFill>
              <a:srgbClr val="1828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0" name="Text 88"/>
          <p:cNvSpPr/>
          <p:nvPr/>
        </p:nvSpPr>
        <p:spPr>
          <a:xfrm>
            <a:off x="5148072" y="3785616"/>
            <a:ext cx="5120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1D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+1.36%</a:t>
            </a:r>
            <a:endParaRPr lang="en-US" sz="800" dirty="0"/>
          </a:p>
        </p:txBody>
      </p:sp>
      <p:sp>
        <p:nvSpPr>
          <p:cNvPr id="91" name="Shape 89"/>
          <p:cNvSpPr/>
          <p:nvPr/>
        </p:nvSpPr>
        <p:spPr>
          <a:xfrm>
            <a:off x="5678424" y="3785616"/>
            <a:ext cx="566928" cy="237744"/>
          </a:xfrm>
          <a:prstGeom prst="rect">
            <a:avLst/>
          </a:prstGeom>
          <a:solidFill>
            <a:srgbClr val="0D1830"/>
          </a:solidFill>
          <a:ln w="12700">
            <a:solidFill>
              <a:srgbClr val="1828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2" name="Text 90"/>
          <p:cNvSpPr/>
          <p:nvPr/>
        </p:nvSpPr>
        <p:spPr>
          <a:xfrm>
            <a:off x="5715000" y="3785616"/>
            <a:ext cx="5120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1D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+0.2%</a:t>
            </a:r>
            <a:endParaRPr lang="en-US" sz="800" dirty="0"/>
          </a:p>
        </p:txBody>
      </p:sp>
      <p:sp>
        <p:nvSpPr>
          <p:cNvPr id="93" name="Shape 91"/>
          <p:cNvSpPr/>
          <p:nvPr/>
        </p:nvSpPr>
        <p:spPr>
          <a:xfrm>
            <a:off x="6245352" y="3785616"/>
            <a:ext cx="475488" cy="237744"/>
          </a:xfrm>
          <a:prstGeom prst="rect">
            <a:avLst/>
          </a:prstGeom>
          <a:solidFill>
            <a:srgbClr val="0D1830"/>
          </a:solidFill>
          <a:ln w="12700">
            <a:solidFill>
              <a:srgbClr val="1828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4" name="Text 92"/>
          <p:cNvSpPr/>
          <p:nvPr/>
        </p:nvSpPr>
        <p:spPr>
          <a:xfrm>
            <a:off x="6281928" y="3785616"/>
            <a:ext cx="42062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  <p:sp>
        <p:nvSpPr>
          <p:cNvPr id="95" name="Shape 93"/>
          <p:cNvSpPr/>
          <p:nvPr/>
        </p:nvSpPr>
        <p:spPr>
          <a:xfrm>
            <a:off x="6720840" y="3785616"/>
            <a:ext cx="512064" cy="237744"/>
          </a:xfrm>
          <a:prstGeom prst="rect">
            <a:avLst/>
          </a:prstGeom>
          <a:solidFill>
            <a:srgbClr val="0D1830"/>
          </a:solidFill>
          <a:ln w="12700">
            <a:solidFill>
              <a:srgbClr val="1828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6" name="Text 94"/>
          <p:cNvSpPr/>
          <p:nvPr/>
        </p:nvSpPr>
        <p:spPr>
          <a:xfrm>
            <a:off x="6757416" y="3785616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800" dirty="0"/>
          </a:p>
        </p:txBody>
      </p:sp>
      <p:sp>
        <p:nvSpPr>
          <p:cNvPr id="97" name="Shape 95"/>
          <p:cNvSpPr/>
          <p:nvPr/>
        </p:nvSpPr>
        <p:spPr>
          <a:xfrm>
            <a:off x="155447" y="4023360"/>
            <a:ext cx="897745" cy="251460"/>
          </a:xfrm>
          <a:prstGeom prst="rect">
            <a:avLst/>
          </a:prstGeom>
          <a:solidFill>
            <a:srgbClr val="0A1525"/>
          </a:solidFill>
          <a:ln w="12700">
            <a:solidFill>
              <a:srgbClr val="1828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8" name="Text 96"/>
          <p:cNvSpPr/>
          <p:nvPr/>
        </p:nvSpPr>
        <p:spPr>
          <a:xfrm>
            <a:off x="192024" y="4069080"/>
            <a:ext cx="861168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F3C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B-CNNEXT</a:t>
            </a:r>
            <a:endParaRPr lang="en-US" sz="800" dirty="0"/>
          </a:p>
        </p:txBody>
      </p:sp>
      <p:sp>
        <p:nvSpPr>
          <p:cNvPr id="99" name="Shape 97"/>
          <p:cNvSpPr/>
          <p:nvPr/>
        </p:nvSpPr>
        <p:spPr>
          <a:xfrm>
            <a:off x="813816" y="4023360"/>
            <a:ext cx="685800" cy="237744"/>
          </a:xfrm>
          <a:prstGeom prst="rect">
            <a:avLst/>
          </a:prstGeom>
          <a:solidFill>
            <a:srgbClr val="0A1525"/>
          </a:solidFill>
          <a:ln w="12700">
            <a:solidFill>
              <a:srgbClr val="1828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0" name="Text 98"/>
          <p:cNvSpPr/>
          <p:nvPr/>
        </p:nvSpPr>
        <p:spPr>
          <a:xfrm>
            <a:off x="850392" y="4023360"/>
            <a:ext cx="6309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</a:t>
            </a:r>
            <a:endParaRPr lang="en-US" sz="800" dirty="0"/>
          </a:p>
        </p:txBody>
      </p:sp>
      <p:sp>
        <p:nvSpPr>
          <p:cNvPr id="101" name="Shape 99"/>
          <p:cNvSpPr/>
          <p:nvPr/>
        </p:nvSpPr>
        <p:spPr>
          <a:xfrm>
            <a:off x="1499616" y="4023360"/>
            <a:ext cx="960120" cy="237744"/>
          </a:xfrm>
          <a:prstGeom prst="rect">
            <a:avLst/>
          </a:prstGeom>
          <a:solidFill>
            <a:srgbClr val="0A1525"/>
          </a:solidFill>
          <a:ln w="12700">
            <a:solidFill>
              <a:srgbClr val="1828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2" name="Text 100"/>
          <p:cNvSpPr/>
          <p:nvPr/>
        </p:nvSpPr>
        <p:spPr>
          <a:xfrm>
            <a:off x="1536192" y="4023360"/>
            <a:ext cx="90525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/ China Thematic</a:t>
            </a:r>
            <a:endParaRPr lang="en-US" sz="800" dirty="0"/>
          </a:p>
        </p:txBody>
      </p:sp>
      <p:sp>
        <p:nvSpPr>
          <p:cNvPr id="103" name="Shape 101"/>
          <p:cNvSpPr/>
          <p:nvPr/>
        </p:nvSpPr>
        <p:spPr>
          <a:xfrm>
            <a:off x="2459736" y="4023360"/>
            <a:ext cx="2651760" cy="237744"/>
          </a:xfrm>
          <a:prstGeom prst="rect">
            <a:avLst/>
          </a:prstGeom>
          <a:solidFill>
            <a:srgbClr val="0A1525"/>
          </a:solidFill>
          <a:ln w="12700">
            <a:solidFill>
              <a:srgbClr val="1828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4" name="Text 102"/>
          <p:cNvSpPr/>
          <p:nvPr/>
        </p:nvSpPr>
        <p:spPr>
          <a:xfrm>
            <a:off x="2496312" y="4023360"/>
            <a:ext cx="259689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E-Fund</a:t>
            </a:r>
            <a:endParaRPr lang="en-US" sz="800" dirty="0"/>
          </a:p>
        </p:txBody>
      </p:sp>
      <p:sp>
        <p:nvSpPr>
          <p:cNvPr id="105" name="Shape 103"/>
          <p:cNvSpPr/>
          <p:nvPr/>
        </p:nvSpPr>
        <p:spPr>
          <a:xfrm>
            <a:off x="5111496" y="4023360"/>
            <a:ext cx="566928" cy="237744"/>
          </a:xfrm>
          <a:prstGeom prst="rect">
            <a:avLst/>
          </a:prstGeom>
          <a:solidFill>
            <a:srgbClr val="0A1525"/>
          </a:solidFill>
          <a:ln w="12700">
            <a:solidFill>
              <a:srgbClr val="1828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6" name="Text 104"/>
          <p:cNvSpPr/>
          <p:nvPr/>
        </p:nvSpPr>
        <p:spPr>
          <a:xfrm>
            <a:off x="5148072" y="4023360"/>
            <a:ext cx="5120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800" dirty="0"/>
          </a:p>
        </p:txBody>
      </p:sp>
      <p:sp>
        <p:nvSpPr>
          <p:cNvPr id="107" name="Shape 105"/>
          <p:cNvSpPr/>
          <p:nvPr/>
        </p:nvSpPr>
        <p:spPr>
          <a:xfrm>
            <a:off x="5678424" y="4023360"/>
            <a:ext cx="566928" cy="237744"/>
          </a:xfrm>
          <a:prstGeom prst="rect">
            <a:avLst/>
          </a:prstGeom>
          <a:solidFill>
            <a:srgbClr val="0A1525"/>
          </a:solidFill>
          <a:ln w="12700">
            <a:solidFill>
              <a:srgbClr val="1828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8" name="Text 106"/>
          <p:cNvSpPr/>
          <p:nvPr/>
        </p:nvSpPr>
        <p:spPr>
          <a:xfrm>
            <a:off x="5715000" y="4014216"/>
            <a:ext cx="685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1D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+12.99%</a:t>
            </a:r>
            <a:endParaRPr lang="en-US" sz="800" dirty="0"/>
          </a:p>
        </p:txBody>
      </p:sp>
      <p:sp>
        <p:nvSpPr>
          <p:cNvPr id="109" name="Shape 107"/>
          <p:cNvSpPr/>
          <p:nvPr/>
        </p:nvSpPr>
        <p:spPr>
          <a:xfrm>
            <a:off x="6245352" y="4023360"/>
            <a:ext cx="475488" cy="237744"/>
          </a:xfrm>
          <a:prstGeom prst="rect">
            <a:avLst/>
          </a:prstGeom>
          <a:solidFill>
            <a:srgbClr val="0A1525"/>
          </a:solidFill>
          <a:ln w="12700">
            <a:solidFill>
              <a:srgbClr val="1828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0" name="Text 108"/>
          <p:cNvSpPr/>
          <p:nvPr/>
        </p:nvSpPr>
        <p:spPr>
          <a:xfrm>
            <a:off x="6281928" y="4023360"/>
            <a:ext cx="42062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00" dirty="0"/>
          </a:p>
        </p:txBody>
      </p:sp>
      <p:sp>
        <p:nvSpPr>
          <p:cNvPr id="111" name="Shape 109"/>
          <p:cNvSpPr/>
          <p:nvPr/>
        </p:nvSpPr>
        <p:spPr>
          <a:xfrm>
            <a:off x="6720840" y="4023360"/>
            <a:ext cx="512064" cy="237744"/>
          </a:xfrm>
          <a:prstGeom prst="rect">
            <a:avLst/>
          </a:prstGeom>
          <a:solidFill>
            <a:srgbClr val="0A1525"/>
          </a:solidFill>
          <a:ln w="12700">
            <a:solidFill>
              <a:srgbClr val="1828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2" name="Text 110"/>
          <p:cNvSpPr/>
          <p:nvPr/>
        </p:nvSpPr>
        <p:spPr>
          <a:xfrm>
            <a:off x="6757416" y="4023360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800" dirty="0"/>
          </a:p>
        </p:txBody>
      </p:sp>
      <p:sp>
        <p:nvSpPr>
          <p:cNvPr id="113" name="Shape 111"/>
          <p:cNvSpPr/>
          <p:nvPr/>
        </p:nvSpPr>
        <p:spPr>
          <a:xfrm>
            <a:off x="155448" y="4251960"/>
            <a:ext cx="1159002" cy="246888"/>
          </a:xfrm>
          <a:prstGeom prst="rect">
            <a:avLst/>
          </a:prstGeom>
          <a:solidFill>
            <a:srgbClr val="0D1830"/>
          </a:solidFill>
          <a:ln w="12700">
            <a:solidFill>
              <a:srgbClr val="1828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4" name="Text 112"/>
          <p:cNvSpPr/>
          <p:nvPr/>
        </p:nvSpPr>
        <p:spPr>
          <a:xfrm>
            <a:off x="192024" y="4261104"/>
            <a:ext cx="60350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b="1" dirty="0">
                <a:solidFill>
                  <a:srgbClr val="9E5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B-INNOTECH</a:t>
            </a:r>
            <a:endParaRPr lang="en-US" sz="600" dirty="0"/>
          </a:p>
        </p:txBody>
      </p:sp>
      <p:sp>
        <p:nvSpPr>
          <p:cNvPr id="115" name="Shape 113"/>
          <p:cNvSpPr/>
          <p:nvPr/>
        </p:nvSpPr>
        <p:spPr>
          <a:xfrm>
            <a:off x="813816" y="4261104"/>
            <a:ext cx="685800" cy="237744"/>
          </a:xfrm>
          <a:prstGeom prst="rect">
            <a:avLst/>
          </a:prstGeom>
          <a:solidFill>
            <a:srgbClr val="0D1830"/>
          </a:solidFill>
          <a:ln w="12700">
            <a:solidFill>
              <a:srgbClr val="1828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6" name="Text 114"/>
          <p:cNvSpPr/>
          <p:nvPr/>
        </p:nvSpPr>
        <p:spPr>
          <a:xfrm>
            <a:off x="850392" y="4261104"/>
            <a:ext cx="6309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</a:t>
            </a:r>
            <a:endParaRPr lang="en-US" sz="800" dirty="0"/>
          </a:p>
        </p:txBody>
      </p:sp>
      <p:sp>
        <p:nvSpPr>
          <p:cNvPr id="117" name="Shape 115"/>
          <p:cNvSpPr/>
          <p:nvPr/>
        </p:nvSpPr>
        <p:spPr>
          <a:xfrm>
            <a:off x="1499616" y="4261104"/>
            <a:ext cx="960120" cy="237744"/>
          </a:xfrm>
          <a:prstGeom prst="rect">
            <a:avLst/>
          </a:prstGeom>
          <a:solidFill>
            <a:srgbClr val="0D1830"/>
          </a:solidFill>
          <a:ln w="12700">
            <a:solidFill>
              <a:srgbClr val="1828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8" name="Text 116"/>
          <p:cNvSpPr/>
          <p:nvPr/>
        </p:nvSpPr>
        <p:spPr>
          <a:xfrm>
            <a:off x="1536192" y="4261104"/>
            <a:ext cx="90525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/ Quality Growth</a:t>
            </a:r>
            <a:endParaRPr lang="en-US" sz="800" dirty="0"/>
          </a:p>
        </p:txBody>
      </p:sp>
      <p:sp>
        <p:nvSpPr>
          <p:cNvPr id="119" name="Shape 117"/>
          <p:cNvSpPr/>
          <p:nvPr/>
        </p:nvSpPr>
        <p:spPr>
          <a:xfrm>
            <a:off x="2459736" y="4261104"/>
            <a:ext cx="2651760" cy="237744"/>
          </a:xfrm>
          <a:prstGeom prst="rect">
            <a:avLst/>
          </a:prstGeom>
          <a:solidFill>
            <a:srgbClr val="0D1830"/>
          </a:solidFill>
          <a:ln w="12700">
            <a:solidFill>
              <a:srgbClr val="1828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0" name="Text 118"/>
          <p:cNvSpPr/>
          <p:nvPr/>
        </p:nvSpPr>
        <p:spPr>
          <a:xfrm>
            <a:off x="2496312" y="4261104"/>
            <a:ext cx="259689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Fidelity Global Technology Fund</a:t>
            </a:r>
            <a:endParaRPr lang="en-US" sz="800" dirty="0"/>
          </a:p>
        </p:txBody>
      </p:sp>
      <p:sp>
        <p:nvSpPr>
          <p:cNvPr id="121" name="Shape 119"/>
          <p:cNvSpPr/>
          <p:nvPr/>
        </p:nvSpPr>
        <p:spPr>
          <a:xfrm>
            <a:off x="5111496" y="4261104"/>
            <a:ext cx="566928" cy="237744"/>
          </a:xfrm>
          <a:prstGeom prst="rect">
            <a:avLst/>
          </a:prstGeom>
          <a:solidFill>
            <a:srgbClr val="0D1830"/>
          </a:solidFill>
          <a:ln w="12700">
            <a:solidFill>
              <a:srgbClr val="1828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2" name="Text 120"/>
          <p:cNvSpPr/>
          <p:nvPr/>
        </p:nvSpPr>
        <p:spPr>
          <a:xfrm>
            <a:off x="5148072" y="4261104"/>
            <a:ext cx="5120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F3C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-5.75%</a:t>
            </a:r>
            <a:endParaRPr lang="en-US" sz="800" dirty="0">
              <a:solidFill>
                <a:srgbClr val="EF3C67"/>
              </a:solidFill>
            </a:endParaRPr>
          </a:p>
        </p:txBody>
      </p:sp>
      <p:sp>
        <p:nvSpPr>
          <p:cNvPr id="123" name="Shape 121"/>
          <p:cNvSpPr/>
          <p:nvPr/>
        </p:nvSpPr>
        <p:spPr>
          <a:xfrm>
            <a:off x="5678424" y="4261104"/>
            <a:ext cx="566928" cy="237744"/>
          </a:xfrm>
          <a:prstGeom prst="rect">
            <a:avLst/>
          </a:prstGeom>
          <a:solidFill>
            <a:srgbClr val="0D1830"/>
          </a:solidFill>
          <a:ln w="12700">
            <a:solidFill>
              <a:srgbClr val="1828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4" name="Text 122"/>
          <p:cNvSpPr/>
          <p:nvPr/>
        </p:nvSpPr>
        <p:spPr>
          <a:xfrm>
            <a:off x="5715000" y="4261104"/>
            <a:ext cx="5120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F3C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-8.02%</a:t>
            </a:r>
            <a:endParaRPr lang="en-US" sz="800" dirty="0"/>
          </a:p>
        </p:txBody>
      </p:sp>
      <p:sp>
        <p:nvSpPr>
          <p:cNvPr id="125" name="Shape 123"/>
          <p:cNvSpPr/>
          <p:nvPr/>
        </p:nvSpPr>
        <p:spPr>
          <a:xfrm>
            <a:off x="6245352" y="4261104"/>
            <a:ext cx="475488" cy="237744"/>
          </a:xfrm>
          <a:prstGeom prst="rect">
            <a:avLst/>
          </a:prstGeom>
          <a:solidFill>
            <a:srgbClr val="0D1830"/>
          </a:solidFill>
          <a:ln w="12700">
            <a:solidFill>
              <a:srgbClr val="1828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6" name="Text 124"/>
          <p:cNvSpPr/>
          <p:nvPr/>
        </p:nvSpPr>
        <p:spPr>
          <a:xfrm>
            <a:off x="6281928" y="4261104"/>
            <a:ext cx="42062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00" dirty="0"/>
          </a:p>
        </p:txBody>
      </p:sp>
      <p:sp>
        <p:nvSpPr>
          <p:cNvPr id="127" name="Shape 125"/>
          <p:cNvSpPr/>
          <p:nvPr/>
        </p:nvSpPr>
        <p:spPr>
          <a:xfrm>
            <a:off x="6720840" y="4261104"/>
            <a:ext cx="512064" cy="237744"/>
          </a:xfrm>
          <a:prstGeom prst="rect">
            <a:avLst/>
          </a:prstGeom>
          <a:solidFill>
            <a:srgbClr val="0D1830"/>
          </a:solidFill>
          <a:ln w="12700">
            <a:solidFill>
              <a:srgbClr val="1828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8" name="Text 126"/>
          <p:cNvSpPr/>
          <p:nvPr/>
        </p:nvSpPr>
        <p:spPr>
          <a:xfrm>
            <a:off x="6757416" y="4261104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D7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</a:t>
            </a:r>
            <a:endParaRPr lang="en-US" sz="800" dirty="0"/>
          </a:p>
        </p:txBody>
      </p:sp>
      <p:sp>
        <p:nvSpPr>
          <p:cNvPr id="129" name="Shape 127"/>
          <p:cNvSpPr/>
          <p:nvPr/>
        </p:nvSpPr>
        <p:spPr>
          <a:xfrm>
            <a:off x="155448" y="4498848"/>
            <a:ext cx="658368" cy="237744"/>
          </a:xfrm>
          <a:prstGeom prst="rect">
            <a:avLst/>
          </a:prstGeom>
          <a:solidFill>
            <a:srgbClr val="0A1525"/>
          </a:solidFill>
          <a:ln w="12700">
            <a:solidFill>
              <a:srgbClr val="1828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0" name="Text 128"/>
          <p:cNvSpPr/>
          <p:nvPr/>
        </p:nvSpPr>
        <p:spPr>
          <a:xfrm>
            <a:off x="192024" y="4498848"/>
            <a:ext cx="60350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BGOLD</a:t>
            </a:r>
            <a:endParaRPr lang="en-US" sz="800" dirty="0"/>
          </a:p>
        </p:txBody>
      </p:sp>
      <p:sp>
        <p:nvSpPr>
          <p:cNvPr id="131" name="Shape 129"/>
          <p:cNvSpPr/>
          <p:nvPr/>
        </p:nvSpPr>
        <p:spPr>
          <a:xfrm>
            <a:off x="813816" y="4498848"/>
            <a:ext cx="685800" cy="237744"/>
          </a:xfrm>
          <a:prstGeom prst="rect">
            <a:avLst/>
          </a:prstGeom>
          <a:solidFill>
            <a:srgbClr val="0A1525"/>
          </a:solidFill>
          <a:ln w="12700">
            <a:solidFill>
              <a:srgbClr val="1828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2" name="Text 130"/>
          <p:cNvSpPr/>
          <p:nvPr/>
        </p:nvSpPr>
        <p:spPr>
          <a:xfrm>
            <a:off x="850392" y="4498848"/>
            <a:ext cx="6309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</a:t>
            </a:r>
            <a:endParaRPr lang="en-US" sz="800" dirty="0"/>
          </a:p>
        </p:txBody>
      </p:sp>
      <p:sp>
        <p:nvSpPr>
          <p:cNvPr id="133" name="Shape 131"/>
          <p:cNvSpPr/>
          <p:nvPr/>
        </p:nvSpPr>
        <p:spPr>
          <a:xfrm>
            <a:off x="1499616" y="4498848"/>
            <a:ext cx="960120" cy="237744"/>
          </a:xfrm>
          <a:prstGeom prst="rect">
            <a:avLst/>
          </a:prstGeom>
          <a:solidFill>
            <a:srgbClr val="0A1525"/>
          </a:solidFill>
          <a:ln w="12700">
            <a:solidFill>
              <a:srgbClr val="1828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4" name="Text 132"/>
          <p:cNvSpPr/>
          <p:nvPr/>
        </p:nvSpPr>
        <p:spPr>
          <a:xfrm>
            <a:off x="1536192" y="4498848"/>
            <a:ext cx="90525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Passive / Gold Tracking</a:t>
            </a:r>
            <a:endParaRPr lang="en-US" sz="800" dirty="0"/>
          </a:p>
        </p:txBody>
      </p:sp>
      <p:sp>
        <p:nvSpPr>
          <p:cNvPr id="135" name="Shape 133"/>
          <p:cNvSpPr/>
          <p:nvPr/>
        </p:nvSpPr>
        <p:spPr>
          <a:xfrm>
            <a:off x="2459736" y="4498848"/>
            <a:ext cx="2651760" cy="237744"/>
          </a:xfrm>
          <a:prstGeom prst="rect">
            <a:avLst/>
          </a:prstGeom>
          <a:solidFill>
            <a:srgbClr val="0A1525"/>
          </a:solidFill>
          <a:ln w="12700">
            <a:solidFill>
              <a:srgbClr val="1828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6" name="Text 134"/>
          <p:cNvSpPr/>
          <p:nvPr/>
        </p:nvSpPr>
        <p:spPr>
          <a:xfrm>
            <a:off x="2496312" y="4498848"/>
            <a:ext cx="259689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SPDR Gold Shares ETF (GLD)</a:t>
            </a:r>
            <a:endParaRPr lang="en-US" sz="800" dirty="0"/>
          </a:p>
        </p:txBody>
      </p:sp>
      <p:sp>
        <p:nvSpPr>
          <p:cNvPr id="137" name="Shape 135"/>
          <p:cNvSpPr/>
          <p:nvPr/>
        </p:nvSpPr>
        <p:spPr>
          <a:xfrm>
            <a:off x="5111496" y="4498848"/>
            <a:ext cx="566928" cy="237744"/>
          </a:xfrm>
          <a:prstGeom prst="rect">
            <a:avLst/>
          </a:prstGeom>
          <a:solidFill>
            <a:srgbClr val="0A1525"/>
          </a:solidFill>
          <a:ln w="12700">
            <a:solidFill>
              <a:srgbClr val="1828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8" name="Text 136"/>
          <p:cNvSpPr/>
          <p:nvPr/>
        </p:nvSpPr>
        <p:spPr>
          <a:xfrm>
            <a:off x="5148072" y="4498848"/>
            <a:ext cx="5120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61D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+41.51%</a:t>
            </a:r>
            <a:endParaRPr lang="en-US" sz="700" dirty="0"/>
          </a:p>
        </p:txBody>
      </p:sp>
      <p:sp>
        <p:nvSpPr>
          <p:cNvPr id="139" name="Shape 137"/>
          <p:cNvSpPr/>
          <p:nvPr/>
        </p:nvSpPr>
        <p:spPr>
          <a:xfrm>
            <a:off x="5678424" y="4498848"/>
            <a:ext cx="566928" cy="237744"/>
          </a:xfrm>
          <a:prstGeom prst="rect">
            <a:avLst/>
          </a:prstGeom>
          <a:solidFill>
            <a:srgbClr val="0A1525"/>
          </a:solidFill>
          <a:ln w="12700">
            <a:solidFill>
              <a:srgbClr val="1828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0" name="Text 138"/>
          <p:cNvSpPr/>
          <p:nvPr/>
        </p:nvSpPr>
        <p:spPr>
          <a:xfrm>
            <a:off x="5715000" y="4498848"/>
            <a:ext cx="5120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1D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+7.93%</a:t>
            </a:r>
            <a:endParaRPr lang="en-US" sz="800" dirty="0"/>
          </a:p>
        </p:txBody>
      </p:sp>
      <p:sp>
        <p:nvSpPr>
          <p:cNvPr id="141" name="Shape 139"/>
          <p:cNvSpPr/>
          <p:nvPr/>
        </p:nvSpPr>
        <p:spPr>
          <a:xfrm>
            <a:off x="6245352" y="4498848"/>
            <a:ext cx="475488" cy="237744"/>
          </a:xfrm>
          <a:prstGeom prst="rect">
            <a:avLst/>
          </a:prstGeom>
          <a:solidFill>
            <a:srgbClr val="0A1525"/>
          </a:solidFill>
          <a:ln w="12700">
            <a:solidFill>
              <a:srgbClr val="1828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2" name="Text 140"/>
          <p:cNvSpPr/>
          <p:nvPr/>
        </p:nvSpPr>
        <p:spPr>
          <a:xfrm>
            <a:off x="6281928" y="4498848"/>
            <a:ext cx="42062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  <p:sp>
        <p:nvSpPr>
          <p:cNvPr id="143" name="Shape 141"/>
          <p:cNvSpPr/>
          <p:nvPr/>
        </p:nvSpPr>
        <p:spPr>
          <a:xfrm>
            <a:off x="6720840" y="4498848"/>
            <a:ext cx="512064" cy="237744"/>
          </a:xfrm>
          <a:prstGeom prst="rect">
            <a:avLst/>
          </a:prstGeom>
          <a:solidFill>
            <a:srgbClr val="0A1525"/>
          </a:solidFill>
          <a:ln w="12700">
            <a:solidFill>
              <a:srgbClr val="1828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4" name="Text 142"/>
          <p:cNvSpPr/>
          <p:nvPr/>
        </p:nvSpPr>
        <p:spPr>
          <a:xfrm>
            <a:off x="6757416" y="4498848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800" dirty="0"/>
          </a:p>
        </p:txBody>
      </p:sp>
      <p:sp>
        <p:nvSpPr>
          <p:cNvPr id="145" name="Shape 143"/>
          <p:cNvSpPr/>
          <p:nvPr/>
        </p:nvSpPr>
        <p:spPr>
          <a:xfrm>
            <a:off x="155448" y="4736592"/>
            <a:ext cx="658368" cy="237744"/>
          </a:xfrm>
          <a:prstGeom prst="rect">
            <a:avLst/>
          </a:prstGeom>
          <a:solidFill>
            <a:srgbClr val="0D1830"/>
          </a:solidFill>
          <a:ln w="12700">
            <a:solidFill>
              <a:srgbClr val="1828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6" name="Text 144"/>
          <p:cNvSpPr/>
          <p:nvPr/>
        </p:nvSpPr>
        <p:spPr>
          <a:xfrm>
            <a:off x="192024" y="4736592"/>
            <a:ext cx="60350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1D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B-SENIOR</a:t>
            </a:r>
            <a:endParaRPr lang="en-US" sz="800" dirty="0"/>
          </a:p>
        </p:txBody>
      </p:sp>
      <p:sp>
        <p:nvSpPr>
          <p:cNvPr id="147" name="Shape 145"/>
          <p:cNvSpPr/>
          <p:nvPr/>
        </p:nvSpPr>
        <p:spPr>
          <a:xfrm>
            <a:off x="813816" y="4736592"/>
            <a:ext cx="685800" cy="237744"/>
          </a:xfrm>
          <a:prstGeom prst="rect">
            <a:avLst/>
          </a:prstGeom>
          <a:solidFill>
            <a:srgbClr val="0D1830"/>
          </a:solidFill>
          <a:ln w="12700">
            <a:solidFill>
              <a:srgbClr val="1828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8" name="Text 146"/>
          <p:cNvSpPr/>
          <p:nvPr/>
        </p:nvSpPr>
        <p:spPr>
          <a:xfrm>
            <a:off x="850392" y="4736592"/>
            <a:ext cx="6309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</a:t>
            </a:r>
            <a:endParaRPr lang="en-US" sz="800" dirty="0"/>
          </a:p>
        </p:txBody>
      </p:sp>
      <p:sp>
        <p:nvSpPr>
          <p:cNvPr id="149" name="Shape 147"/>
          <p:cNvSpPr/>
          <p:nvPr/>
        </p:nvSpPr>
        <p:spPr>
          <a:xfrm>
            <a:off x="1499616" y="4736592"/>
            <a:ext cx="960120" cy="237744"/>
          </a:xfrm>
          <a:prstGeom prst="rect">
            <a:avLst/>
          </a:prstGeom>
          <a:solidFill>
            <a:srgbClr val="0D1830"/>
          </a:solidFill>
          <a:ln w="12700">
            <a:solidFill>
              <a:srgbClr val="1828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0" name="Text 148"/>
          <p:cNvSpPr/>
          <p:nvPr/>
        </p:nvSpPr>
        <p:spPr>
          <a:xfrm>
            <a:off x="1536192" y="4736592"/>
            <a:ext cx="90525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Balanced / Income</a:t>
            </a:r>
            <a:endParaRPr lang="en-US" sz="800" dirty="0"/>
          </a:p>
        </p:txBody>
      </p:sp>
      <p:sp>
        <p:nvSpPr>
          <p:cNvPr id="151" name="Shape 149"/>
          <p:cNvSpPr/>
          <p:nvPr/>
        </p:nvSpPr>
        <p:spPr>
          <a:xfrm>
            <a:off x="2459736" y="4736592"/>
            <a:ext cx="2651760" cy="237744"/>
          </a:xfrm>
          <a:prstGeom prst="rect">
            <a:avLst/>
          </a:prstGeom>
          <a:solidFill>
            <a:srgbClr val="0D1830"/>
          </a:solidFill>
          <a:ln w="12700">
            <a:solidFill>
              <a:srgbClr val="1828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2" name="Text 150"/>
          <p:cNvSpPr/>
          <p:nvPr/>
        </p:nvSpPr>
        <p:spPr>
          <a:xfrm>
            <a:off x="2496312" y="4736592"/>
            <a:ext cx="259689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Multi-Asset (Bond ≥70%)</a:t>
            </a:r>
            <a:endParaRPr lang="en-US" sz="800" dirty="0"/>
          </a:p>
        </p:txBody>
      </p:sp>
      <p:sp>
        <p:nvSpPr>
          <p:cNvPr id="153" name="Shape 151"/>
          <p:cNvSpPr/>
          <p:nvPr/>
        </p:nvSpPr>
        <p:spPr>
          <a:xfrm>
            <a:off x="5111496" y="4736592"/>
            <a:ext cx="566928" cy="237744"/>
          </a:xfrm>
          <a:prstGeom prst="rect">
            <a:avLst/>
          </a:prstGeom>
          <a:solidFill>
            <a:srgbClr val="0D1830"/>
          </a:solidFill>
          <a:ln w="12700">
            <a:solidFill>
              <a:srgbClr val="1828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4" name="Text 152"/>
          <p:cNvSpPr/>
          <p:nvPr/>
        </p:nvSpPr>
        <p:spPr>
          <a:xfrm>
            <a:off x="5148072" y="4736592"/>
            <a:ext cx="5120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1D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+6.41%</a:t>
            </a:r>
            <a:endParaRPr lang="en-US" sz="800" dirty="0"/>
          </a:p>
        </p:txBody>
      </p:sp>
      <p:sp>
        <p:nvSpPr>
          <p:cNvPr id="155" name="Shape 153"/>
          <p:cNvSpPr/>
          <p:nvPr/>
        </p:nvSpPr>
        <p:spPr>
          <a:xfrm>
            <a:off x="5678424" y="4736592"/>
            <a:ext cx="566928" cy="237744"/>
          </a:xfrm>
          <a:prstGeom prst="rect">
            <a:avLst/>
          </a:prstGeom>
          <a:solidFill>
            <a:srgbClr val="0D1830"/>
          </a:solidFill>
          <a:ln w="12700">
            <a:solidFill>
              <a:srgbClr val="1828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6" name="Text 154"/>
          <p:cNvSpPr/>
          <p:nvPr/>
        </p:nvSpPr>
        <p:spPr>
          <a:xfrm>
            <a:off x="5715000" y="4736592"/>
            <a:ext cx="5120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1D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+2.3%</a:t>
            </a:r>
            <a:endParaRPr lang="en-US" sz="800" dirty="0"/>
          </a:p>
        </p:txBody>
      </p:sp>
      <p:sp>
        <p:nvSpPr>
          <p:cNvPr id="157" name="Shape 155"/>
          <p:cNvSpPr/>
          <p:nvPr/>
        </p:nvSpPr>
        <p:spPr>
          <a:xfrm>
            <a:off x="6245352" y="4736592"/>
            <a:ext cx="475488" cy="237744"/>
          </a:xfrm>
          <a:prstGeom prst="rect">
            <a:avLst/>
          </a:prstGeom>
          <a:solidFill>
            <a:srgbClr val="0D1830"/>
          </a:solidFill>
          <a:ln w="12700">
            <a:solidFill>
              <a:srgbClr val="1828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8" name="Text 156"/>
          <p:cNvSpPr/>
          <p:nvPr/>
        </p:nvSpPr>
        <p:spPr>
          <a:xfrm>
            <a:off x="6281928" y="4736592"/>
            <a:ext cx="42062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  <p:sp>
        <p:nvSpPr>
          <p:cNvPr id="159" name="Shape 157"/>
          <p:cNvSpPr/>
          <p:nvPr/>
        </p:nvSpPr>
        <p:spPr>
          <a:xfrm>
            <a:off x="6720840" y="4736592"/>
            <a:ext cx="512064" cy="237744"/>
          </a:xfrm>
          <a:prstGeom prst="rect">
            <a:avLst/>
          </a:prstGeom>
          <a:solidFill>
            <a:srgbClr val="0D1830"/>
          </a:solidFill>
          <a:ln w="12700">
            <a:solidFill>
              <a:srgbClr val="1828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0" name="Text 158"/>
          <p:cNvSpPr/>
          <p:nvPr/>
        </p:nvSpPr>
        <p:spPr>
          <a:xfrm>
            <a:off x="6757416" y="4736592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D7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</a:t>
            </a:r>
            <a:endParaRPr lang="en-US" sz="800" dirty="0"/>
          </a:p>
        </p:txBody>
      </p:sp>
      <p:pic>
        <p:nvPicPr>
          <p:cNvPr id="162" name="Picture 161">
            <a:extLst>
              <a:ext uri="{FF2B5EF4-FFF2-40B4-BE49-F238E27FC236}">
                <a16:creationId xmlns:a16="http://schemas.microsoft.com/office/drawing/2014/main" id="{9DD29C62-7FFF-F0CB-536E-E9DF0790FE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2863" y="-137808"/>
            <a:ext cx="1947849" cy="75110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60D1E"/>
          </a:solidFill>
          <a:ln w="12700">
            <a:solidFill>
              <a:srgbClr val="060D1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74320" y="4892040"/>
            <a:ext cx="859536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5566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Dates to Watch — Next Catalysts for Portfolio Review</a:t>
            </a:r>
            <a:endParaRPr lang="en-US" sz="78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61D09C"/>
          </a:solidFill>
          <a:ln w="12700">
            <a:solidFill>
              <a:srgbClr val="61D09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65760" y="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100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CATALYSTS TO WATCH  |  Dates That Set the Tone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201168" y="658368"/>
            <a:ext cx="8732520" cy="1993392"/>
          </a:xfrm>
          <a:prstGeom prst="rect">
            <a:avLst/>
          </a:prstGeom>
          <a:solidFill>
            <a:srgbClr val="141E3A"/>
          </a:solidFill>
          <a:ln w="15240">
            <a:solidFill>
              <a:srgbClr val="0064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201168" y="658368"/>
            <a:ext cx="8732520" cy="384048"/>
          </a:xfrm>
          <a:prstGeom prst="rect">
            <a:avLst/>
          </a:prstGeom>
          <a:solidFill>
            <a:srgbClr val="0064FF"/>
          </a:solidFill>
          <a:ln w="12700">
            <a:solidFill>
              <a:srgbClr val="0064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20040" y="658368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🌍  April 2026  |  IMF World Economic Outlook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0" y="658368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WEO GDP Projections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320040" y="1133856"/>
            <a:ext cx="841248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IMF's April 2026 WEO will be the first official global GDP baseline incorporating the Iran war shock, Hormuz disruption, and escalating tariff regime. Key to watch: IMF growth downgrades for Middle East, energy importers (India, Europe), and global trade volume revisions. Will set the narrative for Q2 GDP expectations and EM fund flows.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01168" y="2834640"/>
            <a:ext cx="8732520" cy="1993392"/>
          </a:xfrm>
          <a:prstGeom prst="rect">
            <a:avLst/>
          </a:prstGeom>
          <a:solidFill>
            <a:srgbClr val="141E3A"/>
          </a:solidFill>
          <a:ln w="15240">
            <a:solidFill>
              <a:srgbClr val="FF6600"/>
            </a:solidFill>
            <a:prstDash val="solid"/>
          </a:ln>
          <a:effectLst>
            <a:outerShdw blurRad="101600" dist="381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201168" y="2834640"/>
            <a:ext cx="8732520" cy="384048"/>
          </a:xfrm>
          <a:prstGeom prst="rect">
            <a:avLst/>
          </a:prstGeom>
          <a:solidFill>
            <a:srgbClr val="FF6600"/>
          </a:solidFill>
          <a:ln w="12700">
            <a:solidFill>
              <a:srgbClr val="FF66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20040" y="2834640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🏛️  May 2026  |  New Fed Governor Appointment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858000" y="2834640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Interest Rate &amp; DXY Tone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20040" y="3310128"/>
            <a:ext cx="841248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Fed Chair takes over from Powell — the appointment's political independence signal will be critical. Markets will price: (1) hawkish appointment = USD strength, rate expectations up, EM outflows; (2) dovish appointment = USD weakens, rate cut path re-opens, EM inflow opportunity. The new governor will also set the tone for how Fed communicates the inflation-growth tradeoff under tariff + energy shock simultaneously.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01168" y="4663440"/>
            <a:ext cx="8732520" cy="347472"/>
          </a:xfrm>
          <a:prstGeom prst="rect">
            <a:avLst/>
          </a:prstGeom>
          <a:solidFill>
            <a:srgbClr val="1A2A4A"/>
          </a:solidFill>
          <a:ln w="15240">
            <a:solidFill>
              <a:srgbClr val="61D09C"/>
            </a:solidFill>
            <a:prstDash val="solid"/>
          </a:ln>
          <a:effectLst>
            <a:outerShdw blurRad="101600" dist="381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20040" y="4663440"/>
            <a:ext cx="8549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1D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ACTION: Review all baskets post-WEO (April) and recalibrate after Fed Governor confirmation (May). These two events are the clearest triggers for portfolio rebalancing.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2DFD23-85C1-B3F7-7AEA-6F032D44C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119E5AA3-4B38-8C2B-2645-18AEA65F0B96}"/>
              </a:ext>
            </a:extLst>
          </p:cNvPr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CB940F16-45AD-C7F0-6436-3D665C6F1DFB}"/>
              </a:ext>
            </a:extLst>
          </p:cNvPr>
          <p:cNvSpPr/>
          <p:nvPr/>
        </p:nvSpPr>
        <p:spPr>
          <a:xfrm>
            <a:off x="0" y="475488"/>
            <a:ext cx="9144000" cy="45720"/>
          </a:xfrm>
          <a:prstGeom prst="rect">
            <a:avLst/>
          </a:prstGeom>
          <a:solidFill>
            <a:srgbClr val="0064FF"/>
          </a:solidFill>
          <a:ln w="12700">
            <a:solidFill>
              <a:srgbClr val="0064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715E9FD-80C7-57C6-28F6-6767E5CD0E2B}"/>
              </a:ext>
            </a:extLst>
          </p:cNvPr>
          <p:cNvSpPr/>
          <p:nvPr/>
        </p:nvSpPr>
        <p:spPr>
          <a:xfrm>
            <a:off x="320040" y="0"/>
            <a:ext cx="8503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GDP</a:t>
            </a:r>
            <a:endParaRPr lang="en-US" sz="14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3817407-A5E8-3010-A3AC-2CEB9A7C3323}"/>
              </a:ext>
            </a:extLst>
          </p:cNvPr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60D1E"/>
          </a:solidFill>
          <a:ln w="12700">
            <a:solidFill>
              <a:srgbClr val="060D1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9B206ABF-FCC7-1750-1940-B914C3A1E28F}"/>
              </a:ext>
            </a:extLst>
          </p:cNvPr>
          <p:cNvSpPr/>
          <p:nvPr/>
        </p:nvSpPr>
        <p:spPr>
          <a:xfrm>
            <a:off x="365760" y="868680"/>
            <a:ext cx="841248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0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49CBF64-EA70-E669-25EC-C8F88D86BE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2863" y="-137808"/>
            <a:ext cx="1947849" cy="751104"/>
          </a:xfrm>
          <a:prstGeom prst="rect">
            <a:avLst/>
          </a:prstGeom>
        </p:spPr>
      </p:pic>
      <p:graphicFrame>
        <p:nvGraphicFramePr>
          <p:cNvPr id="11" name="Object 10">
            <a:extLst>
              <a:ext uri="{FF2B5EF4-FFF2-40B4-BE49-F238E27FC236}">
                <a16:creationId xmlns:a16="http://schemas.microsoft.com/office/drawing/2014/main" id="{59C00392-6A4C-34A5-0983-3E51C96812B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87871762"/>
              </p:ext>
            </p:extLst>
          </p:nvPr>
        </p:nvGraphicFramePr>
        <p:xfrm>
          <a:off x="0" y="730526"/>
          <a:ext cx="9144000" cy="421005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4" imgW="11652242" imgH="5365851" progId="Excel.Sheet.12">
                  <p:link updateAutomatic="1"/>
                </p:oleObj>
              </mc:Choice>
              <mc:Fallback>
                <p:oleObj name="Worksheet" r:id="rId4" imgW="11652242" imgH="5365851" progId="Excel.Sheet.12">
                  <p:link updateAutomatic="1"/>
                  <p:pic>
                    <p:nvPicPr>
                      <p:cNvPr id="11" name="Object 10">
                        <a:extLst>
                          <a:ext uri="{FF2B5EF4-FFF2-40B4-BE49-F238E27FC236}">
                            <a16:creationId xmlns:a16="http://schemas.microsoft.com/office/drawing/2014/main" id="{59C00392-6A4C-34A5-0983-3E51C96812B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0" y="730526"/>
                        <a:ext cx="9144000" cy="421005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Text 4">
            <a:extLst>
              <a:ext uri="{FF2B5EF4-FFF2-40B4-BE49-F238E27FC236}">
                <a16:creationId xmlns:a16="http://schemas.microsoft.com/office/drawing/2014/main" id="{B362E8E1-0A9A-99AD-2092-A57F70D45DF2}"/>
              </a:ext>
            </a:extLst>
          </p:cNvPr>
          <p:cNvSpPr/>
          <p:nvPr/>
        </p:nvSpPr>
        <p:spPr>
          <a:xfrm>
            <a:off x="274320" y="4892040"/>
            <a:ext cx="859536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5566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Bloomberg</a:t>
            </a:r>
            <a:endParaRPr lang="en-US" sz="780" dirty="0"/>
          </a:p>
        </p:txBody>
      </p:sp>
    </p:spTree>
    <p:extLst>
      <p:ext uri="{BB962C8B-B14F-4D97-AF65-F5344CB8AC3E}">
        <p14:creationId xmlns:p14="http://schemas.microsoft.com/office/powerpoint/2010/main" val="17727372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ABF135-6A8D-168A-0AAC-4137724DC5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A2F89F7-AE22-0035-D7BE-FA0F495C5D0F}"/>
              </a:ext>
            </a:extLst>
          </p:cNvPr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562CABB6-DF91-FF8A-C144-1AAF4281E4BD}"/>
              </a:ext>
            </a:extLst>
          </p:cNvPr>
          <p:cNvSpPr/>
          <p:nvPr/>
        </p:nvSpPr>
        <p:spPr>
          <a:xfrm>
            <a:off x="0" y="475488"/>
            <a:ext cx="9144000" cy="45720"/>
          </a:xfrm>
          <a:prstGeom prst="rect">
            <a:avLst/>
          </a:prstGeom>
          <a:solidFill>
            <a:srgbClr val="0064FF"/>
          </a:solidFill>
          <a:ln w="12700">
            <a:solidFill>
              <a:srgbClr val="0064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A35AE848-A346-C950-5CAC-6A428747AC25}"/>
              </a:ext>
            </a:extLst>
          </p:cNvPr>
          <p:cNvSpPr/>
          <p:nvPr/>
        </p:nvSpPr>
        <p:spPr>
          <a:xfrm>
            <a:off x="320040" y="0"/>
            <a:ext cx="8503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Inflation</a:t>
            </a:r>
            <a:endParaRPr lang="en-US" sz="14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8881348A-3385-3019-23B1-261A638830C6}"/>
              </a:ext>
            </a:extLst>
          </p:cNvPr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60D1E"/>
          </a:solidFill>
          <a:ln w="12700">
            <a:solidFill>
              <a:srgbClr val="060D1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70D2BCED-2F76-3E46-75CC-D249A520FDA5}"/>
              </a:ext>
            </a:extLst>
          </p:cNvPr>
          <p:cNvSpPr/>
          <p:nvPr/>
        </p:nvSpPr>
        <p:spPr>
          <a:xfrm>
            <a:off x="274320" y="4892040"/>
            <a:ext cx="859536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5566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Bloomberg</a:t>
            </a:r>
            <a:endParaRPr lang="en-US" sz="78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F639257E-DDAA-9371-FFF3-56BC4FB46739}"/>
              </a:ext>
            </a:extLst>
          </p:cNvPr>
          <p:cNvSpPr/>
          <p:nvPr/>
        </p:nvSpPr>
        <p:spPr>
          <a:xfrm>
            <a:off x="365760" y="868680"/>
            <a:ext cx="841248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0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71062AD-DCDA-2C7F-4A46-6D317ADAC3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2863" y="-137808"/>
            <a:ext cx="1947849" cy="751104"/>
          </a:xfrm>
          <a:prstGeom prst="rect">
            <a:avLst/>
          </a:prstGeom>
        </p:spPr>
      </p:pic>
      <p:graphicFrame>
        <p:nvGraphicFramePr>
          <p:cNvPr id="7" name="Object 6">
            <a:extLst>
              <a:ext uri="{FF2B5EF4-FFF2-40B4-BE49-F238E27FC236}">
                <a16:creationId xmlns:a16="http://schemas.microsoft.com/office/drawing/2014/main" id="{0C9A2CEA-D8C6-C803-3833-4BC950A17F82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95564751"/>
              </p:ext>
            </p:extLst>
          </p:nvPr>
        </p:nvGraphicFramePr>
        <p:xfrm>
          <a:off x="0" y="920913"/>
          <a:ext cx="9144000" cy="35242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4" imgW="11963501" imgH="4610302" progId="Excel.Sheet.12">
                  <p:link updateAutomatic="1"/>
                </p:oleObj>
              </mc:Choice>
              <mc:Fallback>
                <p:oleObj name="Worksheet" r:id="rId4" imgW="11963501" imgH="4610302" progId="Excel.Sheet.12">
                  <p:link updateAutomatic="1"/>
                  <p:pic>
                    <p:nvPicPr>
                      <p:cNvPr id="7" name="Object 6">
                        <a:extLst>
                          <a:ext uri="{FF2B5EF4-FFF2-40B4-BE49-F238E27FC236}">
                            <a16:creationId xmlns:a16="http://schemas.microsoft.com/office/drawing/2014/main" id="{0C9A2CEA-D8C6-C803-3833-4BC950A17F8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0" y="920913"/>
                        <a:ext cx="9144000" cy="35242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45572990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C350BC-D5CB-6662-9FF7-23F37F0829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A203F26-9D4C-BA8A-0D85-C8DE4AF1ACFE}"/>
              </a:ext>
            </a:extLst>
          </p:cNvPr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897B68D2-811E-6AFD-362C-9BE51437763E}"/>
              </a:ext>
            </a:extLst>
          </p:cNvPr>
          <p:cNvSpPr/>
          <p:nvPr/>
        </p:nvSpPr>
        <p:spPr>
          <a:xfrm>
            <a:off x="0" y="475488"/>
            <a:ext cx="9144000" cy="45720"/>
          </a:xfrm>
          <a:prstGeom prst="rect">
            <a:avLst/>
          </a:prstGeom>
          <a:solidFill>
            <a:srgbClr val="0064FF"/>
          </a:solidFill>
          <a:ln w="12700">
            <a:solidFill>
              <a:srgbClr val="0064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85061A8-90E8-44AD-C5C6-23BC2265466C}"/>
              </a:ext>
            </a:extLst>
          </p:cNvPr>
          <p:cNvSpPr/>
          <p:nvPr/>
        </p:nvSpPr>
        <p:spPr>
          <a:xfrm>
            <a:off x="320040" y="0"/>
            <a:ext cx="8503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Composite PMI</a:t>
            </a:r>
            <a:endParaRPr lang="en-US" sz="14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617D21B5-2500-7D9E-0901-02ECA4903539}"/>
              </a:ext>
            </a:extLst>
          </p:cNvPr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60D1E"/>
          </a:solidFill>
          <a:ln w="12700">
            <a:solidFill>
              <a:srgbClr val="060D1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ED9F54E4-93C7-EC92-77D3-245D7B64E5FE}"/>
              </a:ext>
            </a:extLst>
          </p:cNvPr>
          <p:cNvSpPr/>
          <p:nvPr/>
        </p:nvSpPr>
        <p:spPr>
          <a:xfrm>
            <a:off x="365760" y="868680"/>
            <a:ext cx="841248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0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1E6614F-BC75-D32F-B3A8-38874D3BAC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2863" y="-137808"/>
            <a:ext cx="1947849" cy="751104"/>
          </a:xfrm>
          <a:prstGeom prst="rect">
            <a:avLst/>
          </a:prstGeom>
        </p:spPr>
      </p:pic>
      <p:graphicFrame>
        <p:nvGraphicFramePr>
          <p:cNvPr id="7" name="Object 6">
            <a:extLst>
              <a:ext uri="{FF2B5EF4-FFF2-40B4-BE49-F238E27FC236}">
                <a16:creationId xmlns:a16="http://schemas.microsoft.com/office/drawing/2014/main" id="{2C82321B-D198-7BAC-8DF4-210F1E2E69D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78642887"/>
              </p:ext>
            </p:extLst>
          </p:nvPr>
        </p:nvGraphicFramePr>
        <p:xfrm>
          <a:off x="921884" y="562896"/>
          <a:ext cx="7300232" cy="430755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4" imgW="7791576" imgH="4597400" progId="Excel.Sheet.12">
                  <p:link updateAutomatic="1"/>
                </p:oleObj>
              </mc:Choice>
              <mc:Fallback>
                <p:oleObj name="Worksheet" r:id="rId4" imgW="7791576" imgH="4597400" progId="Excel.Sheet.12">
                  <p:link updateAutomatic="1"/>
                  <p:pic>
                    <p:nvPicPr>
                      <p:cNvPr id="7" name="Object 6">
                        <a:extLst>
                          <a:ext uri="{FF2B5EF4-FFF2-40B4-BE49-F238E27FC236}">
                            <a16:creationId xmlns:a16="http://schemas.microsoft.com/office/drawing/2014/main" id="{2C82321B-D198-7BAC-8DF4-210F1E2E69D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921884" y="562896"/>
                        <a:ext cx="7300232" cy="430755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4">
            <a:extLst>
              <a:ext uri="{FF2B5EF4-FFF2-40B4-BE49-F238E27FC236}">
                <a16:creationId xmlns:a16="http://schemas.microsoft.com/office/drawing/2014/main" id="{793C10EA-3C6B-CBAC-5455-CDF987B4C3F2}"/>
              </a:ext>
            </a:extLst>
          </p:cNvPr>
          <p:cNvSpPr/>
          <p:nvPr/>
        </p:nvSpPr>
        <p:spPr>
          <a:xfrm>
            <a:off x="274320" y="4892040"/>
            <a:ext cx="859536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5566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Bloomberg</a:t>
            </a:r>
            <a:endParaRPr lang="en-US" sz="780" dirty="0"/>
          </a:p>
        </p:txBody>
      </p:sp>
    </p:spTree>
    <p:extLst>
      <p:ext uri="{BB962C8B-B14F-4D97-AF65-F5344CB8AC3E}">
        <p14:creationId xmlns:p14="http://schemas.microsoft.com/office/powerpoint/2010/main" val="216328498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FE186E-7C35-39A0-3156-D89B29BBDB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B17E559-C4E1-E425-DFFA-811E6BCB19B6}"/>
              </a:ext>
            </a:extLst>
          </p:cNvPr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866D8D11-25A7-400B-94D5-B9BF293539F8}"/>
              </a:ext>
            </a:extLst>
          </p:cNvPr>
          <p:cNvSpPr/>
          <p:nvPr/>
        </p:nvSpPr>
        <p:spPr>
          <a:xfrm>
            <a:off x="0" y="475488"/>
            <a:ext cx="9144000" cy="45720"/>
          </a:xfrm>
          <a:prstGeom prst="rect">
            <a:avLst/>
          </a:prstGeom>
          <a:solidFill>
            <a:srgbClr val="0064FF"/>
          </a:solidFill>
          <a:ln w="12700">
            <a:solidFill>
              <a:srgbClr val="0064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0BFD0F87-F446-C290-D35D-145F146BD31C}"/>
              </a:ext>
            </a:extLst>
          </p:cNvPr>
          <p:cNvSpPr/>
          <p:nvPr/>
        </p:nvSpPr>
        <p:spPr>
          <a:xfrm>
            <a:off x="320040" y="0"/>
            <a:ext cx="8503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Manufacturing PMI</a:t>
            </a:r>
            <a:endParaRPr lang="en-US" sz="14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651915E2-85A7-7DDB-662C-6AFE0BFF94E5}"/>
              </a:ext>
            </a:extLst>
          </p:cNvPr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60D1E"/>
          </a:solidFill>
          <a:ln w="12700">
            <a:solidFill>
              <a:srgbClr val="060D1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2CDB2370-C737-2864-5DBF-229519DE15B2}"/>
              </a:ext>
            </a:extLst>
          </p:cNvPr>
          <p:cNvSpPr/>
          <p:nvPr/>
        </p:nvSpPr>
        <p:spPr>
          <a:xfrm>
            <a:off x="365760" y="868680"/>
            <a:ext cx="841248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0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180001D-B199-C6CA-1D39-9F1829E0DA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2863" y="-137808"/>
            <a:ext cx="1947849" cy="751104"/>
          </a:xfrm>
          <a:prstGeom prst="rect">
            <a:avLst/>
          </a:prstGeom>
        </p:spPr>
      </p:pic>
      <p:graphicFrame>
        <p:nvGraphicFramePr>
          <p:cNvPr id="11" name="Object 10">
            <a:extLst>
              <a:ext uri="{FF2B5EF4-FFF2-40B4-BE49-F238E27FC236}">
                <a16:creationId xmlns:a16="http://schemas.microsoft.com/office/drawing/2014/main" id="{26E6AC28-ABAB-BCA9-03D8-A16E868871E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39848101"/>
              </p:ext>
            </p:extLst>
          </p:nvPr>
        </p:nvGraphicFramePr>
        <p:xfrm>
          <a:off x="922502" y="555824"/>
          <a:ext cx="7298996" cy="430682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4" imgW="7791576" imgH="4597400" progId="Excel.Sheet.12">
                  <p:link updateAutomatic="1"/>
                </p:oleObj>
              </mc:Choice>
              <mc:Fallback>
                <p:oleObj name="Worksheet" r:id="rId4" imgW="7791576" imgH="4597400" progId="Excel.Sheet.12">
                  <p:link updateAutomatic="1"/>
                  <p:pic>
                    <p:nvPicPr>
                      <p:cNvPr id="11" name="Object 10">
                        <a:extLst>
                          <a:ext uri="{FF2B5EF4-FFF2-40B4-BE49-F238E27FC236}">
                            <a16:creationId xmlns:a16="http://schemas.microsoft.com/office/drawing/2014/main" id="{26E6AC28-ABAB-BCA9-03D8-A16E868871E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922502" y="555824"/>
                        <a:ext cx="7298996" cy="4306824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Text 4">
            <a:extLst>
              <a:ext uri="{FF2B5EF4-FFF2-40B4-BE49-F238E27FC236}">
                <a16:creationId xmlns:a16="http://schemas.microsoft.com/office/drawing/2014/main" id="{D1ACA0B3-48B9-EB80-B79D-9B8E77F8769D}"/>
              </a:ext>
            </a:extLst>
          </p:cNvPr>
          <p:cNvSpPr/>
          <p:nvPr/>
        </p:nvSpPr>
        <p:spPr>
          <a:xfrm>
            <a:off x="274320" y="4892040"/>
            <a:ext cx="859536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5566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Bloomberg</a:t>
            </a:r>
            <a:endParaRPr lang="en-US" sz="780" dirty="0"/>
          </a:p>
        </p:txBody>
      </p:sp>
    </p:spTree>
    <p:extLst>
      <p:ext uri="{BB962C8B-B14F-4D97-AF65-F5344CB8AC3E}">
        <p14:creationId xmlns:p14="http://schemas.microsoft.com/office/powerpoint/2010/main" val="379119276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C4C385-0F48-FC24-FD9C-A3AB5BBF7A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9BAB48F-14B8-0DA2-C3A0-1CC4B8648D48}"/>
              </a:ext>
            </a:extLst>
          </p:cNvPr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F2B97696-7674-6984-61BA-CBCDB7669B8D}"/>
              </a:ext>
            </a:extLst>
          </p:cNvPr>
          <p:cNvSpPr/>
          <p:nvPr/>
        </p:nvSpPr>
        <p:spPr>
          <a:xfrm>
            <a:off x="0" y="475488"/>
            <a:ext cx="9144000" cy="45720"/>
          </a:xfrm>
          <a:prstGeom prst="rect">
            <a:avLst/>
          </a:prstGeom>
          <a:solidFill>
            <a:srgbClr val="0064FF"/>
          </a:solidFill>
          <a:ln w="12700">
            <a:solidFill>
              <a:srgbClr val="0064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6DAAC12-7C6A-1B5E-F822-74A8A8B43708}"/>
              </a:ext>
            </a:extLst>
          </p:cNvPr>
          <p:cNvSpPr/>
          <p:nvPr/>
        </p:nvSpPr>
        <p:spPr>
          <a:xfrm>
            <a:off x="320040" y="0"/>
            <a:ext cx="8503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PMI</a:t>
            </a:r>
            <a:endParaRPr lang="en-US" sz="14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ABB7AE3-AE27-BDAC-8070-A3D9532880EC}"/>
              </a:ext>
            </a:extLst>
          </p:cNvPr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60D1E"/>
          </a:solidFill>
          <a:ln w="12700">
            <a:solidFill>
              <a:srgbClr val="060D1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C05D3B26-1176-B59E-CA6B-E53DF96B31F4}"/>
              </a:ext>
            </a:extLst>
          </p:cNvPr>
          <p:cNvSpPr/>
          <p:nvPr/>
        </p:nvSpPr>
        <p:spPr>
          <a:xfrm>
            <a:off x="365760" y="868680"/>
            <a:ext cx="841248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0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56EA85C-5341-9293-D01F-8812BECA81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2863" y="-137808"/>
            <a:ext cx="1947849" cy="751104"/>
          </a:xfrm>
          <a:prstGeom prst="rect">
            <a:avLst/>
          </a:prstGeom>
        </p:spPr>
      </p:pic>
      <p:graphicFrame>
        <p:nvGraphicFramePr>
          <p:cNvPr id="7" name="Object 6">
            <a:extLst>
              <a:ext uri="{FF2B5EF4-FFF2-40B4-BE49-F238E27FC236}">
                <a16:creationId xmlns:a16="http://schemas.microsoft.com/office/drawing/2014/main" id="{C1F06B60-459F-D49A-BC4B-94B20778A9AC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12541302"/>
              </p:ext>
            </p:extLst>
          </p:nvPr>
        </p:nvGraphicFramePr>
        <p:xfrm>
          <a:off x="922502" y="553212"/>
          <a:ext cx="7298996" cy="430682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4" imgW="7791576" imgH="4597400" progId="Excel.Sheet.12">
                  <p:link updateAutomatic="1"/>
                </p:oleObj>
              </mc:Choice>
              <mc:Fallback>
                <p:oleObj name="Worksheet" r:id="rId4" imgW="7791576" imgH="4597400" progId="Excel.Sheet.12">
                  <p:link updateAutomatic="1"/>
                  <p:pic>
                    <p:nvPicPr>
                      <p:cNvPr id="7" name="Object 6">
                        <a:extLst>
                          <a:ext uri="{FF2B5EF4-FFF2-40B4-BE49-F238E27FC236}">
                            <a16:creationId xmlns:a16="http://schemas.microsoft.com/office/drawing/2014/main" id="{C1F06B60-459F-D49A-BC4B-94B20778A9A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922502" y="553212"/>
                        <a:ext cx="7298996" cy="4306824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Text 4">
            <a:extLst>
              <a:ext uri="{FF2B5EF4-FFF2-40B4-BE49-F238E27FC236}">
                <a16:creationId xmlns:a16="http://schemas.microsoft.com/office/drawing/2014/main" id="{776FB59E-5E1A-C178-71FB-B31052838509}"/>
              </a:ext>
            </a:extLst>
          </p:cNvPr>
          <p:cNvSpPr/>
          <p:nvPr/>
        </p:nvSpPr>
        <p:spPr>
          <a:xfrm>
            <a:off x="274320" y="4892040"/>
            <a:ext cx="859536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5566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Bloomberg</a:t>
            </a:r>
            <a:endParaRPr lang="en-US" sz="780" dirty="0"/>
          </a:p>
        </p:txBody>
      </p:sp>
    </p:spTree>
    <p:extLst>
      <p:ext uri="{BB962C8B-B14F-4D97-AF65-F5344CB8AC3E}">
        <p14:creationId xmlns:p14="http://schemas.microsoft.com/office/powerpoint/2010/main" val="398442588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0B7F3F-8D1D-86EB-4811-B303384E8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95AFA96-B923-53C9-E0C7-D1F944C5F1CE}"/>
              </a:ext>
            </a:extLst>
          </p:cNvPr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320AA028-44C6-4236-9BC1-420B2D2D4DE6}"/>
              </a:ext>
            </a:extLst>
          </p:cNvPr>
          <p:cNvSpPr/>
          <p:nvPr/>
        </p:nvSpPr>
        <p:spPr>
          <a:xfrm>
            <a:off x="0" y="475488"/>
            <a:ext cx="9144000" cy="45720"/>
          </a:xfrm>
          <a:prstGeom prst="rect">
            <a:avLst/>
          </a:prstGeom>
          <a:solidFill>
            <a:srgbClr val="0064FF"/>
          </a:solidFill>
          <a:ln w="12700">
            <a:solidFill>
              <a:srgbClr val="0064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A5705A7E-22D7-033B-80D2-DF8D6D2ADDB4}"/>
              </a:ext>
            </a:extLst>
          </p:cNvPr>
          <p:cNvSpPr/>
          <p:nvPr/>
        </p:nvSpPr>
        <p:spPr>
          <a:xfrm>
            <a:off x="320040" y="0"/>
            <a:ext cx="8503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Growth</a:t>
            </a:r>
            <a:endParaRPr lang="en-US" sz="14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00C95D62-165F-B68D-C58E-2189A7F1EE45}"/>
              </a:ext>
            </a:extLst>
          </p:cNvPr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60D1E"/>
          </a:solidFill>
          <a:ln w="12700">
            <a:solidFill>
              <a:srgbClr val="060D1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2DAACCB8-D59A-117B-5BC1-E490F27D3CBA}"/>
              </a:ext>
            </a:extLst>
          </p:cNvPr>
          <p:cNvSpPr/>
          <p:nvPr/>
        </p:nvSpPr>
        <p:spPr>
          <a:xfrm>
            <a:off x="365760" y="868680"/>
            <a:ext cx="841248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0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2DB7D66-86AB-06C4-167F-56C0BFEC53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2863" y="-137808"/>
            <a:ext cx="1947849" cy="751104"/>
          </a:xfrm>
          <a:prstGeom prst="rect">
            <a:avLst/>
          </a:prstGeom>
        </p:spPr>
      </p:pic>
      <p:graphicFrame>
        <p:nvGraphicFramePr>
          <p:cNvPr id="9" name="Object 8">
            <a:extLst>
              <a:ext uri="{FF2B5EF4-FFF2-40B4-BE49-F238E27FC236}">
                <a16:creationId xmlns:a16="http://schemas.microsoft.com/office/drawing/2014/main" id="{552569F0-DBA8-9AB7-BAAA-E847BB9C315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68832802"/>
              </p:ext>
            </p:extLst>
          </p:nvPr>
        </p:nvGraphicFramePr>
        <p:xfrm>
          <a:off x="0" y="803672"/>
          <a:ext cx="9144000" cy="353615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4" imgW="11461691" imgH="4432502" progId="Excel.Sheet.12">
                  <p:link updateAutomatic="1"/>
                </p:oleObj>
              </mc:Choice>
              <mc:Fallback>
                <p:oleObj name="Worksheet" r:id="rId4" imgW="11461691" imgH="4432502" progId="Excel.Sheet.12">
                  <p:link updateAutomatic="1"/>
                  <p:pic>
                    <p:nvPicPr>
                      <p:cNvPr id="9" name="Object 8">
                        <a:extLst>
                          <a:ext uri="{FF2B5EF4-FFF2-40B4-BE49-F238E27FC236}">
                            <a16:creationId xmlns:a16="http://schemas.microsoft.com/office/drawing/2014/main" id="{552569F0-DBA8-9AB7-BAAA-E847BB9C315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0" y="803672"/>
                        <a:ext cx="9144000" cy="3536156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4">
            <a:extLst>
              <a:ext uri="{FF2B5EF4-FFF2-40B4-BE49-F238E27FC236}">
                <a16:creationId xmlns:a16="http://schemas.microsoft.com/office/drawing/2014/main" id="{B37B90F7-9FE1-AD3C-4992-5B9A975AB619}"/>
              </a:ext>
            </a:extLst>
          </p:cNvPr>
          <p:cNvSpPr/>
          <p:nvPr/>
        </p:nvSpPr>
        <p:spPr>
          <a:xfrm>
            <a:off x="274320" y="4892040"/>
            <a:ext cx="859536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5566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Bloomberg</a:t>
            </a:r>
            <a:endParaRPr lang="en-US" sz="780" dirty="0"/>
          </a:p>
        </p:txBody>
      </p:sp>
    </p:spTree>
    <p:extLst>
      <p:ext uri="{BB962C8B-B14F-4D97-AF65-F5344CB8AC3E}">
        <p14:creationId xmlns:p14="http://schemas.microsoft.com/office/powerpoint/2010/main" val="42789579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100</TotalTime>
  <Words>3003</Words>
  <Application>Microsoft Office PowerPoint</Application>
  <PresentationFormat>On-screen Show (16:9)</PresentationFormat>
  <Paragraphs>432</Paragraphs>
  <Slides>20</Slides>
  <Notes>20</Notes>
  <HiddenSlides>0</HiddenSlides>
  <MMClips>0</MMClips>
  <ScaleCrop>false</ScaleCrop>
  <HeadingPairs>
    <vt:vector size="8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Links</vt:lpstr>
      </vt:variant>
      <vt:variant>
        <vt:i4>7</vt:i4>
      </vt:variant>
      <vt:variant>
        <vt:lpstr>Slide Titles</vt:lpstr>
      </vt:variant>
      <vt:variant>
        <vt:i4>20</vt:i4>
      </vt:variant>
    </vt:vector>
  </HeadingPairs>
  <TitlesOfParts>
    <vt:vector size="30" baseType="lpstr">
      <vt:lpstr>Arial</vt:lpstr>
      <vt:lpstr>Calibri</vt:lpstr>
      <vt:lpstr>Office Theme</vt:lpstr>
      <vt:lpstr>https://d.docs.live.net/51761b2db79a49e1/ACER/Desktop/18052020%20USB%20Drive/BBLAM/Database/2019%20Database/20230102%20MSCI%20World%20Cross%20Country%20Cross%20Sector.xlsx!CHG%20PCT%202026%20YTD!R20C2:R36C14</vt:lpstr>
      <vt:lpstr>https://d.docs.live.net/51761b2db79a49e1/ACER/Desktop/18052020%20USB%20Drive/BBLAM/Database/2019%20Database/ASEAN%20Data%20Base/20260127%20For%20ASEAN_%20C-Overview_Revamp.xlsx!GDP%20Revamp!R43C4:R74C20</vt:lpstr>
      <vt:lpstr>https://d.docs.live.net/51761b2db79a49e1/ACER/Desktop/18052020%20USB%20Drive/BBLAM/Database/2019%20Database/ASEAN%20Data%20Base/20260127%20For%20ASEAN_%20C-Overview_Revamp.xlsx!Inflation_PMI!Print_Area</vt:lpstr>
      <vt:lpstr>https://d.docs.live.net/51761b2db79a49e1/ACER/Desktop/18052020%20USB%20Drive/BBLAM/Database/2019%20Database/ASEAN%20Data%20Base/20260127%20For%20ASEAN_%20C-Overview_Revamp.xlsx!Inflation_PMI!R94C4:R117C17</vt:lpstr>
      <vt:lpstr>https://d.docs.live.net/51761b2db79a49e1/ACER/Desktop/18052020%20USB%20Drive/BBLAM/Database/2019%20Database/ASEAN%20Data%20Base/20260127%20For%20ASEAN_%20C-Overview_Revamp.xlsx!Inflation_PMI!R145C4:R168C17</vt:lpstr>
      <vt:lpstr>https://d.docs.live.net/51761b2db79a49e1/ACER/Desktop/18052020%20USB%20Drive/BBLAM/Database/2019%20Database/ASEAN%20Data%20Base/20260127%20For%20ASEAN_%20C-Overview_Revamp.xlsx!Inflation_PMI!R195C4:R218C17</vt:lpstr>
      <vt:lpstr>https://d.docs.live.net/51761b2db79a49e1/ACER/Desktop/18052020%20USB%20Drive/BBLAM/Database/2019%20Database/ASEAN%20Data%20Base/20260127%20For%20ASEAN_%20C-Overview_Revamp.xlsx!Exports!Print_Area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US Geopolitical Tensions &amp; Investment Strategy 2025–2026</dc:title>
  <dc:subject>PptxGenJS Presentation</dc:subject>
  <dc:creator>PptxGenJS</dc:creator>
  <cp:lastModifiedBy>MT 295</cp:lastModifiedBy>
  <cp:revision>4</cp:revision>
  <cp:lastPrinted>2026-04-01T08:43:44Z</cp:lastPrinted>
  <dcterms:created xsi:type="dcterms:W3CDTF">2026-04-01T03:10:08Z</dcterms:created>
  <dcterms:modified xsi:type="dcterms:W3CDTF">2026-04-01T08:46:18Z</dcterms:modified>
</cp:coreProperties>
</file>