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C67"/>
    <a:srgbClr val="61D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EB71A-3988-481E-9E7C-4D8F94B165B4}" v="12" dt="2026-04-01T08:15:44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404" autoAdjust="0"/>
  </p:normalViewPr>
  <p:slideViewPr>
    <p:cSldViewPr snapToGrid="0" snapToObjects="1">
      <p:cViewPr varScale="1">
        <p:scale>
          <a:sx n="78" d="100"/>
          <a:sy n="78" d="100"/>
        </p:scale>
        <p:origin x="70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T 295" userId="51761b2db79a49e1" providerId="LiveId" clId="{A7EDF262-5755-4CED-AE35-4458901E824D}"/>
    <pc:docChg chg="undo custSel modSld">
      <pc:chgData name="MT 295" userId="51761b2db79a49e1" providerId="LiveId" clId="{A7EDF262-5755-4CED-AE35-4458901E824D}" dt="2026-04-01T08:15:44.907" v="43"/>
      <pc:docMkLst>
        <pc:docMk/>
      </pc:docMkLst>
      <pc:sldChg chg="modSp mod">
        <pc:chgData name="MT 295" userId="51761b2db79a49e1" providerId="LiveId" clId="{A7EDF262-5755-4CED-AE35-4458901E824D}" dt="2026-04-01T08:14:26.377" v="8" actId="14100"/>
        <pc:sldMkLst>
          <pc:docMk/>
          <pc:sldMk cId="0" sldId="257"/>
        </pc:sldMkLst>
        <pc:spChg chg="mod">
          <ac:chgData name="MT 295" userId="51761b2db79a49e1" providerId="LiveId" clId="{A7EDF262-5755-4CED-AE35-4458901E824D}" dt="2026-04-01T08:14:12.371" v="4" actId="1036"/>
          <ac:spMkLst>
            <pc:docMk/>
            <pc:sldMk cId="0" sldId="257"/>
            <ac:spMk id="5" creationId="{00000000-0000-0000-0000-000000000000}"/>
          </ac:spMkLst>
        </pc:spChg>
        <pc:graphicFrameChg chg="modGraphic">
          <ac:chgData name="MT 295" userId="51761b2db79a49e1" providerId="LiveId" clId="{A7EDF262-5755-4CED-AE35-4458901E824D}" dt="2026-04-01T08:14:26.377" v="8" actId="14100"/>
          <ac:graphicFrameMkLst>
            <pc:docMk/>
            <pc:sldMk cId="0" sldId="257"/>
            <ac:graphicFrameMk id="7" creationId="{00000000-0000-0000-0000-000000000000}"/>
          </ac:graphicFrameMkLst>
        </pc:graphicFrameChg>
      </pc:sldChg>
      <pc:sldChg chg="addSp modSp mod">
        <pc:chgData name="MT 295" userId="51761b2db79a49e1" providerId="LiveId" clId="{A7EDF262-5755-4CED-AE35-4458901E824D}" dt="2026-04-01T08:14:59.384" v="19" actId="20577"/>
        <pc:sldMkLst>
          <pc:docMk/>
          <pc:sldMk cId="0" sldId="259"/>
        </pc:sldMkLst>
        <pc:spChg chg="add mod">
          <ac:chgData name="MT 295" userId="51761b2db79a49e1" providerId="LiveId" clId="{A7EDF262-5755-4CED-AE35-4458901E824D}" dt="2026-04-01T08:14:40.124" v="9"/>
          <ac:spMkLst>
            <pc:docMk/>
            <pc:sldMk cId="0" sldId="259"/>
            <ac:spMk id="12" creationId="{6D2E7EE4-B570-10D6-112A-89FCF2AFB0B2}"/>
          </ac:spMkLst>
        </pc:spChg>
        <pc:spChg chg="add mod">
          <ac:chgData name="MT 295" userId="51761b2db79a49e1" providerId="LiveId" clId="{A7EDF262-5755-4CED-AE35-4458901E824D}" dt="2026-04-01T08:14:59.384" v="19" actId="20577"/>
          <ac:spMkLst>
            <pc:docMk/>
            <pc:sldMk cId="0" sldId="259"/>
            <ac:spMk id="13" creationId="{210C2E43-1099-1978-E0C7-007478D9EE2C}"/>
          </ac:spMkLst>
        </pc:spChg>
      </pc:sldChg>
      <pc:sldChg chg="modSp mod">
        <pc:chgData name="MT 295" userId="51761b2db79a49e1" providerId="LiveId" clId="{A7EDF262-5755-4CED-AE35-4458901E824D}" dt="2026-04-01T08:14:12.645" v="5" actId="1076"/>
        <pc:sldMkLst>
          <pc:docMk/>
          <pc:sldMk cId="0" sldId="261"/>
        </pc:sldMkLst>
        <pc:spChg chg="mod">
          <ac:chgData name="MT 295" userId="51761b2db79a49e1" providerId="LiveId" clId="{A7EDF262-5755-4CED-AE35-4458901E824D}" dt="2026-04-01T08:14:12.645" v="5" actId="1076"/>
          <ac:spMkLst>
            <pc:docMk/>
            <pc:sldMk cId="0" sldId="261"/>
            <ac:spMk id="37" creationId="{00000000-0000-0000-0000-000000000000}"/>
          </ac:spMkLst>
        </pc:spChg>
      </pc:sldChg>
      <pc:sldChg chg="addSp modSp">
        <pc:chgData name="MT 295" userId="51761b2db79a49e1" providerId="LiveId" clId="{A7EDF262-5755-4CED-AE35-4458901E824D}" dt="2026-04-01T08:15:26.387" v="21"/>
        <pc:sldMkLst>
          <pc:docMk/>
          <pc:sldMk cId="1772737228" sldId="271"/>
        </pc:sldMkLst>
        <pc:spChg chg="add mod">
          <ac:chgData name="MT 295" userId="51761b2db79a49e1" providerId="LiveId" clId="{A7EDF262-5755-4CED-AE35-4458901E824D}" dt="2026-04-01T08:15:14.964" v="20"/>
          <ac:spMkLst>
            <pc:docMk/>
            <pc:sldMk cId="1772737228" sldId="271"/>
            <ac:spMk id="12" creationId="{D3FE81F8-F0FB-39F6-91D0-FFB5B3919B81}"/>
          </ac:spMkLst>
        </pc:spChg>
        <pc:spChg chg="add mod">
          <ac:chgData name="MT 295" userId="51761b2db79a49e1" providerId="LiveId" clId="{A7EDF262-5755-4CED-AE35-4458901E824D}" dt="2026-04-01T08:15:26.387" v="21"/>
          <ac:spMkLst>
            <pc:docMk/>
            <pc:sldMk cId="1772737228" sldId="271"/>
            <ac:spMk id="13" creationId="{B362E8E1-0A9A-99AD-2092-A57F70D45DF2}"/>
          </ac:spMkLst>
        </pc:spChg>
      </pc:sldChg>
      <pc:sldChg chg="addSp modSp mod">
        <pc:chgData name="MT 295" userId="51761b2db79a49e1" providerId="LiveId" clId="{A7EDF262-5755-4CED-AE35-4458901E824D}" dt="2026-04-01T08:15:36.791" v="39" actId="20577"/>
        <pc:sldMkLst>
          <pc:docMk/>
          <pc:sldMk cId="455729904" sldId="272"/>
        </pc:sldMkLst>
        <pc:spChg chg="mod">
          <ac:chgData name="MT 295" userId="51761b2db79a49e1" providerId="LiveId" clId="{A7EDF262-5755-4CED-AE35-4458901E824D}" dt="2026-04-01T08:15:36.791" v="39" actId="20577"/>
          <ac:spMkLst>
            <pc:docMk/>
            <pc:sldMk cId="455729904" sldId="272"/>
            <ac:spMk id="6" creationId="{70D2BCED-2F76-3E46-75CC-D249A520FDA5}"/>
          </ac:spMkLst>
        </pc:spChg>
        <pc:spChg chg="add mod">
          <ac:chgData name="MT 295" userId="51761b2db79a49e1" providerId="LiveId" clId="{A7EDF262-5755-4CED-AE35-4458901E824D}" dt="2026-04-01T08:15:27.575" v="22"/>
          <ac:spMkLst>
            <pc:docMk/>
            <pc:sldMk cId="455729904" sldId="272"/>
            <ac:spMk id="9" creationId="{9E9BB50F-A58D-35EF-C1A6-8035D3862E59}"/>
          </ac:spMkLst>
        </pc:spChg>
      </pc:sldChg>
      <pc:sldChg chg="addSp modSp">
        <pc:chgData name="MT 295" userId="51761b2db79a49e1" providerId="LiveId" clId="{A7EDF262-5755-4CED-AE35-4458901E824D}" dt="2026-04-01T08:15:42.466" v="41"/>
        <pc:sldMkLst>
          <pc:docMk/>
          <pc:sldMk cId="3791192765" sldId="273"/>
        </pc:sldMkLst>
        <pc:spChg chg="add mod">
          <ac:chgData name="MT 295" userId="51761b2db79a49e1" providerId="LiveId" clId="{A7EDF262-5755-4CED-AE35-4458901E824D}" dt="2026-04-01T08:15:42.466" v="41"/>
          <ac:spMkLst>
            <pc:docMk/>
            <pc:sldMk cId="3791192765" sldId="273"/>
            <ac:spMk id="12" creationId="{D1ACA0B3-48B9-EB80-B79D-9B8E77F8769D}"/>
          </ac:spMkLst>
        </pc:spChg>
      </pc:sldChg>
      <pc:sldChg chg="addSp modSp">
        <pc:chgData name="MT 295" userId="51761b2db79a49e1" providerId="LiveId" clId="{A7EDF262-5755-4CED-AE35-4458901E824D}" dt="2026-04-01T08:15:40.686" v="40"/>
        <pc:sldMkLst>
          <pc:docMk/>
          <pc:sldMk cId="2163284980" sldId="274"/>
        </pc:sldMkLst>
        <pc:spChg chg="add mod">
          <ac:chgData name="MT 295" userId="51761b2db79a49e1" providerId="LiveId" clId="{A7EDF262-5755-4CED-AE35-4458901E824D}" dt="2026-04-01T08:15:40.686" v="40"/>
          <ac:spMkLst>
            <pc:docMk/>
            <pc:sldMk cId="2163284980" sldId="274"/>
            <ac:spMk id="11" creationId="{793C10EA-3C6B-CBAC-5455-CDF987B4C3F2}"/>
          </ac:spMkLst>
        </pc:spChg>
      </pc:sldChg>
      <pc:sldChg chg="addSp modSp">
        <pc:chgData name="MT 295" userId="51761b2db79a49e1" providerId="LiveId" clId="{A7EDF262-5755-4CED-AE35-4458901E824D}" dt="2026-04-01T08:15:43.607" v="42"/>
        <pc:sldMkLst>
          <pc:docMk/>
          <pc:sldMk cId="3984425889" sldId="275"/>
        </pc:sldMkLst>
        <pc:spChg chg="add mod">
          <ac:chgData name="MT 295" userId="51761b2db79a49e1" providerId="LiveId" clId="{A7EDF262-5755-4CED-AE35-4458901E824D}" dt="2026-04-01T08:15:43.607" v="42"/>
          <ac:spMkLst>
            <pc:docMk/>
            <pc:sldMk cId="3984425889" sldId="275"/>
            <ac:spMk id="9" creationId="{776FB59E-5E1A-C178-71FB-B31052838509}"/>
          </ac:spMkLst>
        </pc:spChg>
      </pc:sldChg>
      <pc:sldChg chg="addSp modSp">
        <pc:chgData name="MT 295" userId="51761b2db79a49e1" providerId="LiveId" clId="{A7EDF262-5755-4CED-AE35-4458901E824D}" dt="2026-04-01T08:15:44.907" v="43"/>
        <pc:sldMkLst>
          <pc:docMk/>
          <pc:sldMk cId="4278957976" sldId="276"/>
        </pc:sldMkLst>
        <pc:spChg chg="add mod">
          <ac:chgData name="MT 295" userId="51761b2db79a49e1" providerId="LiveId" clId="{A7EDF262-5755-4CED-AE35-4458901E824D}" dt="2026-04-01T08:15:44.907" v="43"/>
          <ac:spMkLst>
            <pc:docMk/>
            <pc:sldMk cId="4278957976" sldId="276"/>
            <ac:spMk id="11" creationId="{B37B90F7-9FE1-AD3C-4992-5B9A975AB6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33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3073-49EB-79A9-FF88-98ED58D8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6E847-AAA6-AC77-89D3-CAB684298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4B9CB-F64A-3E7F-AF15-340862F25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88CD4-15B5-F8EF-7B07-207195422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94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A671-9524-6A20-1284-76B999F7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D95D-9556-8A2F-47EF-F27140D87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FEBF0-A4FA-F5AD-A797-F37B48AE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321C4-132C-6765-9015-481EEF29C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81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75CD-84D5-8AAB-969E-181D0BCB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3DB51-7F8F-81CA-818C-91465EC3A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6D1C8-E6F9-8B18-5C51-EA80649E2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37309-4607-E17E-880E-9BD657379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7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3D8-9927-85DE-442A-E62B8F42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FC6FD-F723-66E4-7251-48812BE25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FB3A3-A39A-6DFB-0DC1-9DA65E886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D9BB7-9996-349A-BD15-DE53940BA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1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DF24-925C-4461-881B-0A54BE5A4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49D69-05D5-2C53-5C34-4A57C7200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F43A2-5FCF-E387-490D-51B576DE6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8C75F-564F-474F-EB9C-1C5967D39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86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353B-89B8-D4F7-EBA0-01969C12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B4DB3-9778-2A4A-19D7-6BDBCFE4E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F987E-436D-9E5E-527B-81EB839BC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7EBF5-2FDD-CE26-5032-DF9D91D4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oleObject" Target="https://d.docs.live.net/51761b2db79a49e1/ACER/Desktop/18052020%20USB%20Drive/BBLAM/Database/2019%20Database/20230102%20MSCI%20World%20Cross%20Country%20Cross%20Sector.xlsx!CHG%20PCT%202026%20YTD!R20C2:R36C1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GDP%20Revamp!R43C4:R74C20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Inflation_PMI!Print_Area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Inflation_PMI!R94C4:R117C1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Inflation_PMI!R145C4:R168C17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Inflation_PMI!R195C4:R218C1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oleObject" Target="https://d.docs.live.net/51761b2db79a49e1/ACER/Desktop/18052020%20USB%20Drive/BBLAM/Database/2019%20Database/ASEAN%20Data%20Base/20260127%20For%20ASEAN_%20C-Overview_Revamp.xlsx!Exports!Print_Are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64FF">
              <a:alpha val="20000"/>
            </a:srgbClr>
          </a:solidFill>
          <a:ln w="12700">
            <a:solidFill>
              <a:srgbClr val="006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7A0334">
              <a:alpha val="25000"/>
            </a:srgbClr>
          </a:solidFill>
          <a:ln w="12700">
            <a:solidFill>
              <a:srgbClr val="7A033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STORM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US-Originated Geopolitical Tensions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A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Investment Strategy 2025–2026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645920" cy="54864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Venezuela · Greenland · Iran · Tariffs · Market Outlook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0064FF">
              <a:alpha val="70000"/>
            </a:srgbClr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93192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7A0334">
              <a:alpha val="70000"/>
            </a:srgbClr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Insights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9E50CC">
              <a:alpha val="70000"/>
            </a:srgbClr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931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Barbell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 &amp; Institutional Clients Only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DBFD89-DA35-5942-657B-FF1C9CB89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37932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US-Originated Tensions  |  Dec 2025 – Mar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Brookings, CNN, Reuters, WEF, Wikipedia (2026)</a:t>
            </a:r>
            <a:endParaRPr lang="en-US" sz="78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82641"/>
              </p:ext>
            </p:extLst>
          </p:nvPr>
        </p:nvGraphicFramePr>
        <p:xfrm>
          <a:off x="1" y="521208"/>
          <a:ext cx="9143999" cy="4434840"/>
        </p:xfrm>
        <a:graphic>
          <a:graphicData uri="http://schemas.openxmlformats.org/drawingml/2006/table">
            <a:tbl>
              <a:tblPr/>
              <a:tblGrid>
                <a:gridCol w="1036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6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Dec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Protests Erupt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protests begin at Tehran's Grand Bazaar after rial collapses past 1.4M/USD; inflation &gt;40%. Protests spread nationally — calls for regime change intensify.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Dec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Naval Buildup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launches largest military buildup in the southern Caribbean in decades. Naval task force deployed near Venezuela begins intercepting boats alleged to traffic narcotics.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Jan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Trump warns Iran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Trump posts on Truth Social: Iran is 'locked and loaded' warning — 'if Iran violently kills peaceful protesters, the US will come to their rescue.' Threatens military intervention.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Jan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Absolute Resolve — Venezuela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special forces strike Venezuelan military bases and extract President Nicolás Maduro from a Caracas safe house. Maduro faces narco-terrorism charges from 2020 US DOJ indictment. VP Delcy Rodríguez installed as interim leader.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Jan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Greenland Escalation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Trump revives annexation push: 'We need Greenland — we need it for defense.' Denmark deploys military to Greenland; Danish PM warns 'a US invasion would mean the end of NATO.' NATO allies deploy to Arctic.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 Jan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Crackdown / US Threats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government crackdown on protests — human rights groups estimate 2,500–12,000 killed in two nights. Trump: 'help is on the way.' G7 foreign ministers warn of 'additional restrictive measures.'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Jan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Tariff Threat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Trump announces 25% secondary tariff on all countries that do business with Iran. Sanctions executive order signed Feb 9. Primarily impacts Iraq and Iran; China / UAE / Turkey seen as better able to pivot.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Feb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US–Indonesia Trade Deal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&amp; Indonesia finalize deal at 19% reciprocal tariff (down from threatened 32%) — signals selective US trade engagement amid broader geopolitical posture.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Epic Fury — Iran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US-Israeli airstrikes on Iranian leadership and military infrastructure. Supreme Leader Khamenei killed. Iran retaliates by disrupting Strait of Hormuz traffic. Brent crude surges 15% overnight.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 Mar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Market Shock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reaches $119 WTI before settling ~$100. KOSPI drops 12% in one day (circuit breaker triggered). Thai SET drops 8%. Strait of Hormuz effectively impaired. Flights grounded from Dubai. Gold surges.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 (ongoing)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Stagflation Risk Rises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up ~50% YTD. Fed holds rates; Yellen warns tariffs push inflation to ≥3%. ECB in 'genuine dilemma.' Goldman Sachs: gasoline could reach $3.50/gal in US if Hormuz stays shut &gt;weeks.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A1E0337-A7C6-7FC3-D529-313414BDF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Equity Return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C5280C-4D24-D614-A887-9A2A42EC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FD7F735-2921-1825-93AC-484CF937B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725358"/>
              </p:ext>
            </p:extLst>
          </p:nvPr>
        </p:nvGraphicFramePr>
        <p:xfrm>
          <a:off x="267377" y="613296"/>
          <a:ext cx="8556583" cy="4166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880741" imgH="5784749" progId="Excel.Sheet.12">
                  <p:link updateAutomatic="1"/>
                </p:oleObj>
              </mc:Choice>
              <mc:Fallback>
                <p:oleObj name="Worksheet" r:id="rId4" imgW="11880741" imgH="5784749" progId="Excel.Sheet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FD7F735-2921-1825-93AC-484CF937BB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377" y="613296"/>
                        <a:ext cx="8556583" cy="4166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4">
            <a:extLst>
              <a:ext uri="{FF2B5EF4-FFF2-40B4-BE49-F238E27FC236}">
                <a16:creationId xmlns:a16="http://schemas.microsoft.com/office/drawing/2014/main" id="{210C2E43-1099-1978-E0C7-007478D9EE2C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Bloomberg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OBSERVATIONS TO PORTFOLIO ACTION  |  The Full Logical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F22"/>
          </a:solidFill>
          <a:ln w="12700">
            <a:solidFill>
              <a:srgbClr val="070F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| Confidential — For Professional Clients Only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" y="521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WHAT HAPPENED?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731520"/>
            <a:ext cx="8814816" cy="475488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315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US-Originated Geopolitical Shocks  (Dec 2025 – Mar 2026)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813816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47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07408" y="813816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🇻🇪  Venezuela Invasion  (Jan 3)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61888" y="813816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47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0176" y="813816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Greenland Annexation Push  (Jan 5–8)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534656" y="813816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47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52944" y="813816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🇮🇷  Iran Strikes + Hormuz  (Feb 28)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4592" y="1481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HOW DO WE READ THE SITUATION?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673352"/>
            <a:ext cx="4315968" cy="1316736"/>
          </a:xfrm>
          <a:prstGeom prst="rect">
            <a:avLst/>
          </a:prstGeom>
          <a:solidFill>
            <a:srgbClr val="0A1535"/>
          </a:solidFill>
          <a:ln w="19050">
            <a:solidFill>
              <a:srgbClr val="006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673352"/>
            <a:ext cx="4315968" cy="310896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16733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TOP-DOWN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" y="2066544"/>
            <a:ext cx="45720" cy="18288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20299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Macro Data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837944" y="20299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GDP, CPI, trade deficit, rates — lagged; doesn't fully reflect tension yet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56032" y="2359152"/>
            <a:ext cx="45720" cy="1828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" y="232257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Geopolitical Risk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837944" y="23225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Depends on ONE person (US President) — scenario-based, not modelable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56032" y="2651760"/>
            <a:ext cx="45720" cy="182880"/>
          </a:xfrm>
          <a:prstGeom prst="rect">
            <a:avLst/>
          </a:prstGeom>
          <a:solidFill>
            <a:srgbClr val="F47C99"/>
          </a:solidFill>
          <a:ln w="12700">
            <a:solidFill>
              <a:srgbClr val="F47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26151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4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Market Expectations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837944" y="26151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is market pricing? What does market fear?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663440" y="1673352"/>
            <a:ext cx="4315968" cy="1316736"/>
          </a:xfrm>
          <a:prstGeom prst="rect">
            <a:avLst/>
          </a:prstGeom>
          <a:solidFill>
            <a:srgbClr val="0A1535"/>
          </a:solidFill>
          <a:ln w="19050">
            <a:solidFill>
              <a:srgbClr val="FF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1673352"/>
            <a:ext cx="4315968" cy="31089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6733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BOTTOM-UP ANALYSIS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2066544"/>
            <a:ext cx="45720" cy="1828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02996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Sectors / Companies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428232" y="20299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Pricing power? Cost pass-through? Inventory buffers? Policy tailwinds?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754880" y="2359152"/>
            <a:ext cx="45720" cy="182880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232257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Country Selection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428232" y="232257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Currency stable? Current acct surplus? FX reserves adequate? Own resources?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754880" y="2651760"/>
            <a:ext cx="45720" cy="182880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261518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Hidden Gems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428232" y="261518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B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Undervalued by macro noise — fundamentally strong amid disruption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164592" y="339242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HOW DO WE GET TO RESULTS?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4592" y="3566160"/>
            <a:ext cx="4315968" cy="1078992"/>
          </a:xfrm>
          <a:prstGeom prst="rect">
            <a:avLst/>
          </a:prstGeom>
          <a:solidFill>
            <a:srgbClr val="0A1535"/>
          </a:solidFill>
          <a:ln w="19050">
            <a:solidFill>
              <a:srgbClr val="EF3C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64592" y="3566160"/>
            <a:ext cx="4315968" cy="310896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56032" y="35661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SHORT-TERM  |  ใจกลางความขัดแย้ง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" y="3950208"/>
            <a:ext cx="45720" cy="20116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/ Companies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1709928" y="393192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Pricing power · Pass-through ability · Large inventory buffers · Policy tailwinds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6032" y="4242816"/>
            <a:ext cx="45720" cy="20116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4048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1709928" y="422452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Currency stability · Current account surplus · Sound FX reserves · Own resources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6032" y="4544568"/>
            <a:ext cx="406908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Baskets:  B-Basic  ·  B-Short Term Plus  ·  B-China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663440" y="3566160"/>
            <a:ext cx="4315968" cy="1078992"/>
          </a:xfrm>
          <a:prstGeom prst="rect">
            <a:avLst/>
          </a:prstGeom>
          <a:solidFill>
            <a:srgbClr val="0A1535"/>
          </a:solidFill>
          <a:ln w="19050">
            <a:solidFill>
              <a:srgbClr val="9E50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663440" y="3566160"/>
            <a:ext cx="4315968" cy="310896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54880" y="35661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LONG-TERM  |  After the Storm Clears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754880" y="3950208"/>
            <a:ext cx="45720" cy="201168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82896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Lingers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6199632" y="3931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 consumes capital → supply chain disruption → structural inflation floor rises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54880" y="4242816"/>
            <a:ext cx="45720" cy="201168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82896" y="4224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Stay Higher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6199632" y="42245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Fed on hold · New governor (May 2026) inherits the stagflation complexity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54880" y="4544568"/>
            <a:ext cx="406908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7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Baskets:  B-CNnext  ·  B-USAlpha  ·  B-Innotech  ·  B-Gold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224528" y="3749040"/>
            <a:ext cx="694944" cy="530352"/>
          </a:xfrm>
          <a:prstGeom prst="ellipse">
            <a:avLst/>
          </a:prstGeom>
          <a:solidFill>
            <a:srgbClr val="101E3A"/>
          </a:solidFill>
          <a:ln w="15240">
            <a:solidFill>
              <a:srgbClr val="445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224528" y="377647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BARBELL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251960" y="39684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000" dirty="0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E1B79CD9-C06F-8133-AA8E-173A0FCE5EC1}"/>
              </a:ext>
            </a:extLst>
          </p:cNvPr>
          <p:cNvSpPr/>
          <p:nvPr/>
        </p:nvSpPr>
        <p:spPr>
          <a:xfrm rot="10800000">
            <a:off x="4273598" y="3106168"/>
            <a:ext cx="557784" cy="24053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7C8B2F01-BCA6-B447-CC13-F96F653A9E38}"/>
              </a:ext>
            </a:extLst>
          </p:cNvPr>
          <p:cNvSpPr/>
          <p:nvPr/>
        </p:nvSpPr>
        <p:spPr>
          <a:xfrm rot="10800000">
            <a:off x="4293108" y="1320529"/>
            <a:ext cx="557784" cy="24053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9CBCECA0-31D7-4763-B119-1561C33D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Analysis  |  Macroeconomic Data — Not Yet Fully Reflecting Tension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BEA, Fed, IMF, WEF Global Trade Update (Feb 2026)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GDP Growth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actual — tariff drag not yet fully in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914400"/>
            <a:ext cx="2743200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Inflation (CPI)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2984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64408" y="1901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2026; above Fed 2% target; tariff risk adds pressure on inflation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17336" y="91440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17336" y="914400"/>
            <a:ext cx="2743200" cy="34747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08776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 YTD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12984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08776" y="1901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Post-Iran strikes (Mar 2026); structural supply shock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2834640"/>
            <a:ext cx="2743200" cy="347472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PMI Composite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20040" y="38221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/>
              <a:t>Manufacturing 52.4</a:t>
            </a:r>
          </a:p>
          <a:p>
            <a:pPr marL="0" indent="0">
              <a:buNone/>
            </a:pPr>
            <a:r>
              <a:rPr lang="en-US" sz="950" dirty="0"/>
              <a:t>Service 51.1 </a:t>
            </a:r>
          </a:p>
        </p:txBody>
      </p:sp>
      <p:sp>
        <p:nvSpPr>
          <p:cNvPr id="27" name="Shape 25"/>
          <p:cNvSpPr/>
          <p:nvPr/>
        </p:nvSpPr>
        <p:spPr>
          <a:xfrm>
            <a:off x="3172968" y="283464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72968" y="2834640"/>
            <a:ext cx="2743200" cy="347472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64408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3.5-3.75% </a:t>
            </a:r>
            <a:r>
              <a:rPr lang="en-US" sz="120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264408" y="38221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conflict + inflation = rates not moving soon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17336" y="2834640"/>
            <a:ext cx="27432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EB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17336" y="2834640"/>
            <a:ext cx="2743200" cy="347472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08776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 Oil (Peak)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3218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208776" y="38221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disruption; settled ~$100; $150 tail-risk remains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8600" y="4608576"/>
            <a:ext cx="9144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Lagged data means official macro figures do not yet capture the full Iran war shock. Forward-looking market signals are more informative than backward-looking statistics.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0574EF3-8776-DA9F-0617-2E93BAF2C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Analysis  |  Geopolitical Risk — The One-Person Variable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| Confidential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4114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4114800" cy="38404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201168" cy="201168"/>
          </a:xfrm>
          <a:prstGeom prst="ellipse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originates from a single decision-maker — the US President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201168" cy="201168"/>
          </a:xfrm>
          <a:prstGeom prst="ellipse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unpredictable, non-linear, and not bound by historical precedent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201168" cy="201168"/>
          </a:xfrm>
          <a:prstGeom prst="ellipse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4688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Venezuela → Greenland → Iran escalation happened in under 90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01168" cy="201168"/>
          </a:xfrm>
          <a:prstGeom prst="ellipse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0175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cannot price a one-person variable with standard models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201168" cy="201168"/>
          </a:xfrm>
          <a:prstGeom prst="ellipse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geopolitical risk frameworks assume institutional constraints — these are now weakened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868680"/>
            <a:ext cx="43434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343400" cy="384048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FRAMEWORK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023360" cy="685800"/>
          </a:xfrm>
          <a:prstGeom prst="rect">
            <a:avLst/>
          </a:prstGeom>
          <a:solidFill>
            <a:srgbClr val="EF3C67">
              <a:alpha val="12000"/>
            </a:srgbClr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1408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14081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35%*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7007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stays shut &gt;4 weeks; oil &gt;$130; hard landing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176272"/>
            <a:ext cx="4023360" cy="685800"/>
          </a:xfrm>
          <a:prstGeom prst="rect">
            <a:avLst/>
          </a:prstGeom>
          <a:solidFill>
            <a:srgbClr val="61D09C">
              <a:alpha val="12000"/>
            </a:srgbClr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212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22128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40%*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505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ceasefire within 6–8 weeks; oil normalizes to $85–90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980944"/>
            <a:ext cx="4023360" cy="685800"/>
          </a:xfrm>
          <a:prstGeom prst="rect">
            <a:avLst/>
          </a:prstGeom>
          <a:solidFill>
            <a:srgbClr val="7A0334">
              <a:alpha val="12000"/>
            </a:srgbClr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15%*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310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spreads to GCC bases; systemic shock; gold &gt;$3,500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785616"/>
            <a:ext cx="4023360" cy="685800"/>
          </a:xfrm>
          <a:prstGeom prst="rect">
            <a:avLst/>
          </a:prstGeom>
          <a:solidFill>
            <a:srgbClr val="FF6600">
              <a:alpha val="12000"/>
            </a:srgbClr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3822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38221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10%*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pause, no resolution; elevated uncertainty persists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C4BF6CA-08BA-D49E-A7E3-13A2B6092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F3FEE38-C70D-62A6-5065-95E3ED86D5F5}"/>
              </a:ext>
            </a:extLst>
          </p:cNvPr>
          <p:cNvSpPr txBox="1"/>
          <p:nvPr/>
        </p:nvSpPr>
        <p:spPr>
          <a:xfrm>
            <a:off x="4617720" y="4447550"/>
            <a:ext cx="434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+mj-lt"/>
              </a:rPr>
              <a:t>Note: * For illustrative purpose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Analysis  |  Market Expectations &amp; Market Fears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Goldman Sachs, Nomura, Bank of America, CNBC (Mar 2026)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4114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868680"/>
            <a:ext cx="411480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IS PRICING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371600"/>
            <a:ext cx="164592" cy="1645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350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Supply Shock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5179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+50% YTD; Hormuz risk premium embedded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938528"/>
            <a:ext cx="164592" cy="1645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190195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Higher-for-Longer Rates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0848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on hold; Iran war + tariff = persistent inflation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505456"/>
            <a:ext cx="164592" cy="1645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4688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Energy Premium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Aerospace/Defense + Energy outperforming sharply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072384"/>
            <a:ext cx="164592" cy="1645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0358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Safe-Haven Demand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elevated; risk-off flows into USD &amp; Treasuries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639312"/>
            <a:ext cx="164592" cy="1645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6027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as Hedge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7856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surging; disruptions to Dubai gold flows reported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868680"/>
            <a:ext cx="43434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868680"/>
            <a:ext cx="4343400" cy="38404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FEARS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1371600"/>
            <a:ext cx="164592" cy="1645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13350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Closure &gt;4 Weeks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1517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&gt;$150; global stagflation scenario materializes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1938528"/>
            <a:ext cx="164592" cy="1645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19019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(Gulf Cooperation Council) Retaliation Spreads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Saudi/UAE bases targeted → oil infrastructure hits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2505456"/>
            <a:ext cx="164592" cy="1645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Forced Rate Hike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inflation accelerates above 4%; growth collapses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3072384"/>
            <a:ext cx="164592" cy="1645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30358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Opportunism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action if US overextended; tech supply disruption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3639312"/>
            <a:ext cx="164592" cy="164592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36027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Recession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3785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spending squeeze from energy + tariff double shock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9C753A8-1DCA-4160-EB3A-4ECEFCEE5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Analysis  |  Finding Hidden Gems in the Noise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| Confidential — For Discussion Purposes Only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278892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278892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868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Resources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3258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oil majors (pricing power intact)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1828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 exporters (Hormuz avoidance premium)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2331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minerals / rare earths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28346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&amp; nuclear as backup baseload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45536" y="868680"/>
            <a:ext cx="278892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45536" y="868680"/>
            <a:ext cx="2788920" cy="384048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36976" y="868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Aerospace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3258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ramp-up beneficiaries (EU defense spend)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1828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prime contractors (policy tailwind)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2331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surveillance tech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8346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0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state-sponsored threat surge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868680"/>
            <a:ext cx="278892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868680"/>
            <a:ext cx="2788920" cy="384048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81344" y="868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Hard Assets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132588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miners (leverage to gold &gt;$3,000)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7064" y="1828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supply chain relocation plays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27064" y="23317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credit (higher-for-longer beneficiary)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28346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— geopolitical risk repricing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4005072"/>
            <a:ext cx="873252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4005072"/>
            <a:ext cx="8732520" cy="32004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" y="4005072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OPPORTUNITY — Resilient Fundamentals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" y="4343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Singapore  ·  Current acct surplus, strong FX, trade hub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4343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Indonesia  ·  19% tariff deal done; own resources; young population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45152" y="4343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Saudi Arabia  ·  Oil windfall; Vision 2030; FX reserves $460Bn+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21424" y="4343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China  · Strong government; own resources; BRICS alliance; stable CNY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F229F25-67A5-71DF-D85E-FC86A8597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View — Navigating Conflict Period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VIEW  |  ใจกลางความขัดแย้ง — Eye of the Storm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640080"/>
            <a:ext cx="4206240" cy="4251960"/>
          </a:xfrm>
          <a:prstGeom prst="rect">
            <a:avLst/>
          </a:prstGeom>
          <a:solidFill>
            <a:srgbClr val="141E3A"/>
          </a:solidFill>
          <a:ln w="15240">
            <a:solidFill>
              <a:srgbClr val="EF3C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640080"/>
            <a:ext cx="4206240" cy="38404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40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/ COMPANY LENS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15568"/>
            <a:ext cx="54864" cy="56692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1155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135331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can raise prices without losing volume — essential goods, tolls, energy utilities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020824"/>
            <a:ext cx="54864" cy="56692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202082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Pass-Through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2585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inflation-linked contracts — REITs, regulated utilities, infrastructure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926080"/>
            <a:ext cx="54864" cy="56692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" y="29260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Old Stocks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316382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inventory buffers that can weather supply disruption without margin collapse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831336"/>
            <a:ext cx="54864" cy="566928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383133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Tailwind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406908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contractors, domestic energy producers, strategic mineral processors — directly supported by current US policy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640080"/>
            <a:ext cx="4261104" cy="4251960"/>
          </a:xfrm>
          <a:prstGeom prst="rect">
            <a:avLst/>
          </a:prstGeom>
          <a:solidFill>
            <a:srgbClr val="141E3A"/>
          </a:solidFill>
          <a:ln w="15240">
            <a:solidFill>
              <a:srgbClr val="61D0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640080"/>
            <a:ext cx="4261104" cy="384048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64008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SELECTION LENS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1115568"/>
            <a:ext cx="54864" cy="566928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92624" y="1115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Stability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92624" y="13533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managed or pegged FX, low inflation pass-through, and deep central bank reserves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2020824"/>
            <a:ext cx="54864" cy="566928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92624" y="2020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Surplus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92624" y="22585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Self-financing economies: Singapore, Norway, Saudi Arabia, Indonesia, UAE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926080"/>
            <a:ext cx="54864" cy="566928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92624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Reserve Adequacy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92624" y="31638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import cover; capable of defending currency during risk-off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3831336"/>
            <a:ext cx="54864" cy="566928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2624" y="3831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Resources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92624" y="40690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commodity exporters shielded from oil price shock — and even benefiting from it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4C54603-E80B-F67F-FBD3-C818FD846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View  |  After the Storm — What's Left Standing?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Goldman Sachs, Nomura, Bank of America, WEF (2026)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 consume capital. The conflict will eventually resolve — but the economic backdrop it leaves behind matters for long-term positioning.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298448"/>
            <a:ext cx="425196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298448"/>
            <a:ext cx="4251960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2984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Lingering Inflation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" y="170078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 disrupted. Energy costs structurally higher. Commodity prices reset upward. Expect 2–3% inflation to become the floor, not the ceiling, even post-conflict.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4414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Bonds face headwinds; real assets win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25196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251960" cy="34747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2984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Rates Not Declining Soon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170078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Yellen warns tariffs push inflation ≥3%. Iran war keeps Fed on hold. New Fed Governor (May 2026) inherits a complex mandate — expect caution over cuts for 12–18 months.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4414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Private credit &gt; IG bonds; dividend yield attractive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035808"/>
            <a:ext cx="425196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" y="3035808"/>
            <a:ext cx="4251960" cy="347472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3035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 Still Attractive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" y="343814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tension accelerates defense tech, AI for intelligence, semiconductor sovereignty push. Long-term demand for innovation does not diminish — it shifts toward national security use cases.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417880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Selective tech: defense-AI, semiconductors, cybersec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35808"/>
            <a:ext cx="4251960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035808"/>
            <a:ext cx="4251960" cy="347472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035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Gold Structural Bid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43814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gold buying accelerated since 2022. Sanctions weaponization of USD drives EM reserve diversification. Gold is a hedge against both geopolitical risk AND fiat debasement.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17880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Gold as core long-term portfolio anchor (5–10%)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C162F8-1523-B5CF-58D2-4E2A99DF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Portfolio Baskets  |  BBASIC · BTK · B-ST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ผลการดำเนินงานในอดีตมิได้เป็นสิ่งยืนยันผลการดำเนินงานในอนาคต | Past performance is not indicative of future results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01168" y="566928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สั้น — Defensive Income + Tactical Thai + Liquidity Buffer  |  ข้อมูล ณ ต้นปี 2569 / Early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" y="768096"/>
            <a:ext cx="2852928" cy="3200400"/>
          </a:xfrm>
          <a:prstGeom prst="rect">
            <a:avLst/>
          </a:prstGeom>
          <a:solidFill>
            <a:srgbClr val="0F1E3C"/>
          </a:solidFill>
          <a:ln w="19050">
            <a:solidFill>
              <a:srgbClr val="006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5448" y="768096"/>
            <a:ext cx="2852928" cy="34747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" y="77724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" y="11338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บัวหลวงปัจจัย 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" y="1353312"/>
            <a:ext cx="132588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" y="13807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Return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" y="15453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-4.25%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64208" y="1353312"/>
            <a:ext cx="123444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64208" y="138074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64208" y="154533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+2.69%</a:t>
            </a:r>
            <a:endParaRPr lang="en-US" sz="2000" dirty="0">
              <a:solidFill>
                <a:srgbClr val="61D09C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90088" y="138988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5176" y="2029968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" y="21031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5256" y="210312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Value / Quality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5176" y="2313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2688" y="23134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Thai equities (Necessities sectors)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" y="2743200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5176" y="2816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นโยบาย: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5176" y="297180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Invests ≥80% NAV in Thai equities of companies in 4 essential sectors: Food, Housing, Clothing, Medicine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" y="3419856"/>
            <a:ext cx="2633472" cy="36576"/>
          </a:xfrm>
          <a:prstGeom prst="rect">
            <a:avLst/>
          </a:prstGeom>
          <a:solidFill>
            <a:srgbClr val="0064FF">
              <a:alpha val="30000"/>
            </a:srgbClr>
          </a:solidFill>
          <a:ln w="12700">
            <a:solidFill>
              <a:srgbClr val="006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5176" y="349300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Defensive staples focus — low sensitivity to geopolitical shock; pricing power embedded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768096"/>
            <a:ext cx="2852928" cy="3200400"/>
          </a:xfrm>
          <a:prstGeom prst="rect">
            <a:avLst/>
          </a:prstGeom>
          <a:solidFill>
            <a:srgbClr val="0F1E3C"/>
          </a:solidFill>
          <a:ln w="19050">
            <a:solidFill>
              <a:srgbClr val="FF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45536" y="768096"/>
            <a:ext cx="2852928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55264" y="77724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55264" y="11338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บัวหลวงหุ้นไทย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55264" y="1353312"/>
            <a:ext cx="132588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55264" y="13807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Return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55264" y="15453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+23.96%</a:t>
            </a:r>
            <a:endParaRPr lang="en-US" sz="2000" dirty="0">
              <a:solidFill>
                <a:srgbClr val="61D09C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54296" y="1353312"/>
            <a:ext cx="123444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54296" y="138074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54296" y="154533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+9.11%</a:t>
            </a:r>
            <a:endParaRPr lang="en-US" sz="2000" dirty="0">
              <a:solidFill>
                <a:srgbClr val="61D09C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980176" y="138988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 flipH="1">
            <a:off x="4005072" y="1028700"/>
            <a:ext cx="2459736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Equity — Broad Market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55264" y="2029968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55264" y="21031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95344" y="210312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Growth / Thai Market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55264" y="2313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922776" y="23134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Thai large-cap growth equities (SET)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55264" y="2743200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55264" y="2816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นโยบาย: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55264" y="297180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Invests in Thai listed equities; benchmark-beating Active management vs. SET TRI index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55264" y="3419856"/>
            <a:ext cx="2633472" cy="36576"/>
          </a:xfrm>
          <a:prstGeom prst="rect">
            <a:avLst/>
          </a:prstGeom>
          <a:solidFill>
            <a:srgbClr val="FF6600">
              <a:alpha val="30000"/>
            </a:srgbClr>
          </a:solidFill>
          <a:ln w="12700">
            <a:solidFill>
              <a:srgbClr val="FF66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55264" y="349300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Tactical Thai market exposure — benefits from domestic policy stimulus and SET recovery play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35624" y="768096"/>
            <a:ext cx="2852928" cy="3200400"/>
          </a:xfrm>
          <a:prstGeom prst="rect">
            <a:avLst/>
          </a:prstGeom>
          <a:solidFill>
            <a:srgbClr val="0F1E3C"/>
          </a:solidFill>
          <a:ln w="1905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35624" y="768096"/>
            <a:ext cx="2852928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45352" y="77724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B-ST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245352" y="11338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บัวหลวงตราสารหนี้ระยะสั้น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45352" y="1353312"/>
            <a:ext cx="132588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45352" y="13807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Return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45352" y="15453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+1.36%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7644384" y="1353312"/>
            <a:ext cx="1234440" cy="64008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644384" y="138074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44384" y="154533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 flipH="1">
            <a:off x="7551964" y="1056132"/>
            <a:ext cx="1669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 — Short Duration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245352" y="2029968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45352" y="21031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885432" y="210312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Passive/Conservative — Short Duration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45352" y="23134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912864" y="23134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Thai government &amp; high-grade corporate short-term bonds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45352" y="2743200"/>
            <a:ext cx="2633472" cy="36576"/>
          </a:xfrm>
          <a:prstGeom prst="rect">
            <a:avLst/>
          </a:prstGeom>
          <a:solidFill>
            <a:srgbClr val="1E2F50"/>
          </a:solidFill>
          <a:ln w="12700">
            <a:solidFill>
              <a:srgbClr val="1E2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245352" y="2816352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นโยบาย: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245352" y="297180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Thai govt/corporate bonds; high liquidity; suitable as cash parking / capital preservation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245352" y="3419856"/>
            <a:ext cx="2633472" cy="36576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33333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245352" y="3493008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Capital preservation anchor; rates on hold = stable yield; liquidity buffer in volatile environment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55448" y="4023360"/>
            <a:ext cx="8833104" cy="749808"/>
          </a:xfrm>
          <a:prstGeom prst="rect">
            <a:avLst/>
          </a:prstGeom>
          <a:solidFill>
            <a:srgbClr val="0A152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74320" y="40599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Suggestion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4320" y="4279392"/>
            <a:ext cx="2743200" cy="438912"/>
          </a:xfrm>
          <a:prstGeom prst="rect">
            <a:avLst/>
          </a:prstGeom>
          <a:solidFill>
            <a:srgbClr val="0064FF">
              <a:alpha val="12000"/>
            </a:srgbClr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5760" y="42976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BBASIC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65760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68680" y="4325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defensive — necessities, stable cash flow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00400" y="4279392"/>
            <a:ext cx="2743200" cy="438912"/>
          </a:xfrm>
          <a:prstGeom prst="rect">
            <a:avLst/>
          </a:prstGeom>
          <a:solidFill>
            <a:srgbClr val="FF6600">
              <a:alpha val="12000"/>
            </a:srgbClr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291840" y="42976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291840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794760" y="4325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market recovery play — domestic policy upside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126480" y="4279392"/>
            <a:ext cx="2743200" cy="438912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17920" y="42976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9" name="Text 87"/>
          <p:cNvSpPr/>
          <p:nvPr/>
        </p:nvSpPr>
        <p:spPr>
          <a:xfrm>
            <a:off x="6217920" y="4462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6720840" y="4325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anchor — capital preservation, rates on hold</a:t>
            </a:r>
            <a:endParaRPr lang="en-US" sz="800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81157D2-E9F1-0B18-7BBF-81B8BF8E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sp>
        <p:nvSpPr>
          <p:cNvPr id="20" name="Text 18"/>
          <p:cNvSpPr/>
          <p:nvPr/>
        </p:nvSpPr>
        <p:spPr>
          <a:xfrm flipH="1">
            <a:off x="982980" y="1078992"/>
            <a:ext cx="18562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Equity — Defensive Sector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Portfolio Baskets  |  B-CNNEXT · B-INNOTECH · BGOLD · B-SENIOR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ผลการดำเนินงานในอดีตมิได้เป็นสิ่งยืนยันผลการดำเนินงานในอนาคต | Past performance is not indicative of future results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01168" y="566928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ยาว — China Next-Gen · Global Tech · Gold · Conservative Income  |  ข้อมูล ณ ต้นปี 2569 / Early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" y="768096"/>
            <a:ext cx="4315968" cy="1865376"/>
          </a:xfrm>
          <a:prstGeom prst="rect">
            <a:avLst/>
          </a:prstGeom>
          <a:solidFill>
            <a:srgbClr val="0F1E3C"/>
          </a:solidFill>
          <a:ln w="19050">
            <a:solidFill>
              <a:srgbClr val="EF3C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5448" y="768096"/>
            <a:ext cx="4315968" cy="310896"/>
          </a:xfrm>
          <a:prstGeom prst="rect">
            <a:avLst/>
          </a:prstGeom>
          <a:solidFill>
            <a:srgbClr val="EF3C67"/>
          </a:solidFill>
          <a:ln w="12700">
            <a:solidFill>
              <a:srgbClr val="EF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" y="7772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B-CNNEXT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" y="109728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 China Next Economy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" y="1289304"/>
            <a:ext cx="118872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" y="13075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" y="14630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1D09C"/>
                </a:solidFill>
              </a:rPr>
              <a:t>-</a:t>
            </a:r>
          </a:p>
        </p:txBody>
      </p:sp>
      <p:sp>
        <p:nvSpPr>
          <p:cNvPr id="15" name="Shape 13"/>
          <p:cNvSpPr/>
          <p:nvPr/>
        </p:nvSpPr>
        <p:spPr>
          <a:xfrm>
            <a:off x="1545336" y="1289304"/>
            <a:ext cx="105156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45336" y="13075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45336" y="146304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+12.99%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1335024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  ·  China Equity — New Economy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883664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Active — China Thematic Growth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" y="20574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 Master Fund: </a:t>
            </a:r>
            <a:r>
              <a:rPr lang="th-TH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บริหารโดย </a:t>
            </a: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Fund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5176" y="2258568"/>
            <a:ext cx="4096512" cy="27432"/>
          </a:xfrm>
          <a:prstGeom prst="rect">
            <a:avLst/>
          </a:prstGeom>
          <a:solidFill>
            <a:srgbClr val="EF3C67">
              <a:alpha val="40000"/>
            </a:srgbClr>
          </a:solidFill>
          <a:ln w="12700">
            <a:solidFill>
              <a:srgbClr val="EF3C6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" y="230428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China 15th Five-Year Plan beneficiary; domestic consumption recovery; de-coupled from US-Iran conflict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36008" y="768096"/>
            <a:ext cx="4315968" cy="1865376"/>
          </a:xfrm>
          <a:prstGeom prst="rect">
            <a:avLst/>
          </a:prstGeom>
          <a:solidFill>
            <a:srgbClr val="0F1E3C"/>
          </a:solidFill>
          <a:ln w="19050">
            <a:solidFill>
              <a:srgbClr val="9E50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36008" y="768096"/>
            <a:ext cx="4315968" cy="310896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45736" y="77724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B-INNOTECH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81544" y="813816"/>
            <a:ext cx="1051560" cy="219456"/>
          </a:xfrm>
          <a:prstGeom prst="roundRect">
            <a:avLst>
              <a:gd name="adj" fmla="val 25000"/>
            </a:avLst>
          </a:prstGeom>
          <a:solidFill>
            <a:srgbClr val="FFD700"/>
          </a:solidFill>
          <a:ln w="12700">
            <a:solidFill>
              <a:srgbClr val="CC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81544" y="8138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HoF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45736" y="109728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บัวหลวงโกลบอลอินโนเวชั่นและเทคโนโลยี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45736" y="1289304"/>
            <a:ext cx="118872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45736" y="13075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45736" y="14630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-5.75</a:t>
            </a:r>
            <a:r>
              <a:rPr lang="en-US" sz="1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>
              <a:solidFill>
                <a:srgbClr val="EF3C67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25896" y="1289304"/>
            <a:ext cx="105156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25896" y="130759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25896" y="146304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-8.02%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1335024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  ·  Global Equity — Technology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45736" y="1883664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Active — Global Technology / Quality Growth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45736" y="205740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 Master Fund: Fidelity Global Technology Fund — Active, Quality Growth style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45736" y="2258568"/>
            <a:ext cx="4096512" cy="27432"/>
          </a:xfrm>
          <a:prstGeom prst="rect">
            <a:avLst/>
          </a:prstGeom>
          <a:solidFill>
            <a:srgbClr val="9E50CC">
              <a:alpha val="40000"/>
            </a:srgbClr>
          </a:solidFill>
          <a:ln w="12700">
            <a:solidFill>
              <a:srgbClr val="9E5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45736" y="2304288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 of Fame winner — proven long-term compounder; geopolitical tension accelerating defense-AI and semiconductor demand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55448" y="2724912"/>
            <a:ext cx="4315968" cy="1865376"/>
          </a:xfrm>
          <a:prstGeom prst="rect">
            <a:avLst/>
          </a:prstGeom>
          <a:solidFill>
            <a:srgbClr val="0F1E3C"/>
          </a:solidFill>
          <a:ln w="1905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55448" y="2724912"/>
            <a:ext cx="4315968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65176" y="273405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BGOLD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5176" y="30540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บัวหลวงโกลด์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65176" y="3246120"/>
            <a:ext cx="118872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5176" y="326440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65176" y="34198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+41.51%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45336" y="3246120"/>
            <a:ext cx="105156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545336" y="326440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45336" y="341985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+7.93%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697480" y="3291840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6  ·  Commodity — Gold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5176" y="38404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Passive — Gold Price Tracking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5176" y="4014216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 Master: SPDR Gold Shares (GLD ETF) — tracks spot gold price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65176" y="4215384"/>
            <a:ext cx="4096512" cy="2743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65176" y="426110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 YTD performer in the deck; Iran war + USD debasement + central bank buying = structural gold bull run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636008" y="2724912"/>
            <a:ext cx="4315968" cy="1865376"/>
          </a:xfrm>
          <a:prstGeom prst="rect">
            <a:avLst/>
          </a:prstGeom>
          <a:solidFill>
            <a:srgbClr val="0F1E3C"/>
          </a:solidFill>
          <a:ln w="19050">
            <a:solidFill>
              <a:srgbClr val="61D0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36008" y="2724912"/>
            <a:ext cx="4315968" cy="310896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45736" y="273405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B-SENIOR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781544" y="2770632"/>
            <a:ext cx="1051560" cy="219456"/>
          </a:xfrm>
          <a:prstGeom prst="roundRect">
            <a:avLst>
              <a:gd name="adj" fmla="val 25000"/>
            </a:avLst>
          </a:prstGeom>
          <a:solidFill>
            <a:srgbClr val="FFD700"/>
          </a:solidFill>
          <a:ln w="12700">
            <a:solidFill>
              <a:srgbClr val="CC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81544" y="277063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HoF 2025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745736" y="30540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บัวหลวงผสมบีซีเนียร์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45736" y="3246120"/>
            <a:ext cx="118872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45736" y="326440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745736" y="34198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6.41</a:t>
            </a: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6025896" y="3246120"/>
            <a:ext cx="1051560" cy="548640"/>
          </a:xfrm>
          <a:prstGeom prst="rect">
            <a:avLst/>
          </a:prstGeom>
          <a:solidFill>
            <a:srgbClr val="182840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25896" y="326440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025896" y="341985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178040" y="3291840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5  ·  Mixed Asset — Conservative Income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45736" y="384048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Active Balanced — Conservative Mixed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45736" y="4014216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กองแม่: Direct multi-asset: ≥70% bonds/deposits + ≤30% equities. Managed for retirement income.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45736" y="4215384"/>
            <a:ext cx="4096512" cy="27432"/>
          </a:xfrm>
          <a:prstGeom prst="rect">
            <a:avLst/>
          </a:prstGeom>
          <a:solidFill>
            <a:srgbClr val="61D09C">
              <a:alpha val="40000"/>
            </a:srgbClr>
          </a:solidFill>
          <a:ln w="12700">
            <a:solidFill>
              <a:srgbClr val="61D0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45736" y="4261104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 of Fame winner — ideal barbell income anchor; higher yield than pure bond fund with small equity kicker</a:t>
            </a:r>
            <a:endParaRPr lang="en-US" sz="85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703A6D1F-F32C-5EAC-9635-9410281A5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Finnomena Hall of Funds 2025  |  Barbell Strategy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ผลการดำเนินงานในอดีตมิได้เป็นสิ่งยืนยันผลการดำเนินงานในอนาคต | Past performance is not indicative of future results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55448" y="594360"/>
            <a:ext cx="4315968" cy="2029968"/>
          </a:xfrm>
          <a:prstGeom prst="rect">
            <a:avLst/>
          </a:prstGeom>
          <a:solidFill>
            <a:srgbClr val="12172A"/>
          </a:solidFill>
          <a:ln w="22860">
            <a:solidFill>
              <a:srgbClr val="9E50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" y="594360"/>
            <a:ext cx="4315968" cy="365760"/>
          </a:xfrm>
          <a:prstGeom prst="rect">
            <a:avLst/>
          </a:prstGeom>
          <a:solidFill>
            <a:srgbClr val="9E50CC"/>
          </a:solidFill>
          <a:ln w="12700">
            <a:solidFill>
              <a:srgbClr val="9E5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59436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B-INNOTECH  |  Hall of Funds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987552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B9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Technology Equity Fund Award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188720"/>
            <a:ext cx="4133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Funds – Global Technology Fund (Master Fund)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Quality Growth · Risk Level 7 · Global Tech Exposure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664208"/>
            <a:ext cx="1371600" cy="658368"/>
          </a:xfrm>
          <a:prstGeom prst="rect">
            <a:avLst/>
          </a:prstGeom>
          <a:solidFill>
            <a:srgbClr val="1E2F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Return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" y="18653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-5.75%</a:t>
            </a:r>
            <a:endParaRPr lang="en-US" sz="2000" dirty="0">
              <a:solidFill>
                <a:srgbClr val="EF3C67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19072" y="1664208"/>
            <a:ext cx="1188720" cy="658368"/>
          </a:xfrm>
          <a:prstGeom prst="rect">
            <a:avLst/>
          </a:prstGeom>
          <a:solidFill>
            <a:srgbClr val="1E2F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19072" y="16916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9072" y="18653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032" y="2359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YTD negative reflects Iran war / tech sector pullback — not fund quality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584" y="594360"/>
            <a:ext cx="4315968" cy="2029968"/>
          </a:xfrm>
          <a:prstGeom prst="rect">
            <a:avLst/>
          </a:prstGeom>
          <a:solidFill>
            <a:srgbClr val="12172A"/>
          </a:solidFill>
          <a:ln w="22860">
            <a:solidFill>
              <a:srgbClr val="61D0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72584" y="594360"/>
            <a:ext cx="4315968" cy="365760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59436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B-SENIOR  |  Hall of Funds 2025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987552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Conservative Mixed Fund — Retirement Category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1188720"/>
            <a:ext cx="4133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Multi-Asset: ≥70% TH Bonds/Deposits + ≤30% Equity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retirement — conservative income with stability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1664208"/>
            <a:ext cx="1371600" cy="658368"/>
          </a:xfrm>
          <a:prstGeom prst="rect">
            <a:avLst/>
          </a:prstGeom>
          <a:solidFill>
            <a:srgbClr val="1E2F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Return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18653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+6.41%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36208" y="1664208"/>
            <a:ext cx="1188720" cy="658368"/>
          </a:xfrm>
          <a:prstGeom prst="rect">
            <a:avLst/>
          </a:prstGeom>
          <a:solidFill>
            <a:srgbClr val="1E2F50"/>
          </a:solidFill>
          <a:ln w="1270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16916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36208" y="18653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73168" y="2359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Positive YTD — bond-heavy structure provides cushion amid equity selloff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5448" y="2743200"/>
            <a:ext cx="8833104" cy="310896"/>
          </a:xfrm>
          <a:prstGeom prst="rect">
            <a:avLst/>
          </a:prstGeom>
          <a:solidFill>
            <a:srgbClr val="7A0334"/>
          </a:solidFill>
          <a:ln w="12700">
            <a:solidFill>
              <a:srgbClr val="7A0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2743200"/>
            <a:ext cx="865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BARBELL PORTFOLIO SUMMARY  |  All 7 Funds at a Glance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5448" y="3054096"/>
            <a:ext cx="658368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2024" y="305409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3816" y="3054096"/>
            <a:ext cx="685800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0392" y="3054096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99616" y="3054096"/>
            <a:ext cx="960120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36192" y="3054096"/>
            <a:ext cx="905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59736" y="3054096"/>
            <a:ext cx="2651760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96312" y="305409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กองแม่ / Master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11496" y="3054096"/>
            <a:ext cx="566928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8072" y="3054096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78424" y="3054096"/>
            <a:ext cx="566928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15000" y="3054096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45352" y="3054096"/>
            <a:ext cx="475488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81928" y="305409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20840" y="3054096"/>
            <a:ext cx="512064" cy="256032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57416" y="30540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55448" y="3310128"/>
            <a:ext cx="65836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92024" y="3310128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BBASIC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3816" y="3310128"/>
            <a:ext cx="68580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0392" y="3310128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499616" y="3310128"/>
            <a:ext cx="96012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536192" y="331012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Thai Value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459736" y="3310128"/>
            <a:ext cx="265176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496312" y="331012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Thai Equities (Sector)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11496" y="3310128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5148072" y="331012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-4.25%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678424" y="3310128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5715000" y="331012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+2.69%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45352" y="3310128"/>
            <a:ext cx="47548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81928" y="3310128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20840" y="3310128"/>
            <a:ext cx="512064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757416" y="331012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55448" y="3547872"/>
            <a:ext cx="65836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92024" y="35478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13816" y="3547872"/>
            <a:ext cx="68580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50392" y="3547872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499616" y="3547872"/>
            <a:ext cx="96012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536192" y="3547872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Thai Growth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459736" y="3547872"/>
            <a:ext cx="265176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496312" y="354787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Thai Large-cap (SET TRI)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111496" y="3547872"/>
            <a:ext cx="905256" cy="251460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148072" y="354787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+23.9 %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78424" y="3547872"/>
            <a:ext cx="56692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715000" y="354787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+9.11%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245352" y="3547872"/>
            <a:ext cx="47548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281928" y="354787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20840" y="3547872"/>
            <a:ext cx="512064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757416" y="354787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55448" y="3785616"/>
            <a:ext cx="65836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92024" y="3785616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13816" y="3785616"/>
            <a:ext cx="68580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50392" y="3785616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99616" y="3785616"/>
            <a:ext cx="96012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536192" y="3785616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/ Liquidity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459736" y="3785616"/>
            <a:ext cx="265176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496312" y="3785616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Govt/Corp Short-term Bonds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111496" y="3785616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148072" y="378561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+1.36%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678424" y="3785616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715000" y="378561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45352" y="3785616"/>
            <a:ext cx="47548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281928" y="3785616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720840" y="3785616"/>
            <a:ext cx="512064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757416" y="378561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55447" y="4023360"/>
            <a:ext cx="897745" cy="251460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92024" y="4069080"/>
            <a:ext cx="8611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B-CNNEXT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13816" y="4023360"/>
            <a:ext cx="68580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50392" y="4023360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499616" y="4023360"/>
            <a:ext cx="96012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536192" y="402336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China Thematic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459736" y="4023360"/>
            <a:ext cx="265176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496312" y="40233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China A-Share Opp Fund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111496" y="4023360"/>
            <a:ext cx="56692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5148072" y="402336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678424" y="4023360"/>
            <a:ext cx="56692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715000" y="401421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+12.99%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245352" y="4023360"/>
            <a:ext cx="47548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281928" y="4023360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720840" y="4023360"/>
            <a:ext cx="512064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757416" y="40233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55448" y="4251960"/>
            <a:ext cx="1159002" cy="246888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92024" y="4261104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E5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B-INNOTECH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813816" y="4261104"/>
            <a:ext cx="68580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850392" y="4261104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499616" y="4261104"/>
            <a:ext cx="96012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536192" y="4261104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Quality Growth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459736" y="4261104"/>
            <a:ext cx="265176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496312" y="426110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Global Technology Fund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111496" y="4261104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148072" y="426110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-5.75%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678424" y="4261104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5715000" y="426110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3C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-8.02%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245352" y="4261104"/>
            <a:ext cx="47548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281928" y="4261104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720840" y="4261104"/>
            <a:ext cx="512064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757416" y="426110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155448" y="4498848"/>
            <a:ext cx="65836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92024" y="4498848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BGOLD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13816" y="4498848"/>
            <a:ext cx="68580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850392" y="4498848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499616" y="4498848"/>
            <a:ext cx="96012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1536192" y="4498848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/ Gold Tracking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2459736" y="4498848"/>
            <a:ext cx="2651760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2496312" y="449884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SPDR Gold Shares ETF (GLD)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5111496" y="4498848"/>
            <a:ext cx="56692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5148072" y="449884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+41.51%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5678424" y="4498848"/>
            <a:ext cx="56692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5715000" y="449884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+7.93%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6245352" y="4498848"/>
            <a:ext cx="475488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6281928" y="4498848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720840" y="4498848"/>
            <a:ext cx="512064" cy="237744"/>
          </a:xfrm>
          <a:prstGeom prst="rect">
            <a:avLst/>
          </a:prstGeom>
          <a:solidFill>
            <a:srgbClr val="0A1525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757416" y="449884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155448" y="4736592"/>
            <a:ext cx="65836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192024" y="473659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B-SENIOR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13816" y="4736592"/>
            <a:ext cx="68580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850392" y="4736592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499616" y="4736592"/>
            <a:ext cx="96012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1536192" y="4736592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Balanced / Income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2459736" y="4736592"/>
            <a:ext cx="2651760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2496312" y="4736592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Multi-Asset (Bond ≥70%)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5111496" y="4736592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5148072" y="473659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+6.41%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5678424" y="4736592"/>
            <a:ext cx="56692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5715000" y="473659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+2.3%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6245352" y="4736592"/>
            <a:ext cx="475488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6281928" y="4736592"/>
            <a:ext cx="420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6720840" y="4736592"/>
            <a:ext cx="512064" cy="237744"/>
          </a:xfrm>
          <a:prstGeom prst="rect">
            <a:avLst/>
          </a:prstGeom>
          <a:solidFill>
            <a:srgbClr val="0D1830"/>
          </a:solidFill>
          <a:ln w="12700">
            <a:solidFill>
              <a:srgbClr val="18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6757416" y="47365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800" dirty="0"/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9DD29C62-7FFF-F0CB-536E-E9DF0790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to Watch — Next Catalysts for Portfolio Review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1D09C"/>
          </a:solidFill>
          <a:ln w="12700">
            <a:solidFill>
              <a:srgbClr val="61D0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CATALYSTS TO WATCH  |  Dates That Set the Tone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" y="658368"/>
            <a:ext cx="8732520" cy="1993392"/>
          </a:xfrm>
          <a:prstGeom prst="rect">
            <a:avLst/>
          </a:prstGeom>
          <a:solidFill>
            <a:srgbClr val="141E3A"/>
          </a:solidFill>
          <a:ln w="15240">
            <a:solidFill>
              <a:srgbClr val="006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658368"/>
            <a:ext cx="8732520" cy="384048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April 2026  |  IMF World Economic Outlook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6583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WEO GDP Projections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IMF's April 2026 WEO will be the first official global GDP baseline incorporating the Iran war shock, Hormuz disruption, and escalating tariff regime. Key to watch: IMF growth downgrades for Middle East, energy importers (India, Europe), and global trade volume revisions. Will set the narrative for Q2 GDP expectations and EM fund flows.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2834640"/>
            <a:ext cx="8732520" cy="1993392"/>
          </a:xfrm>
          <a:prstGeom prst="rect">
            <a:avLst/>
          </a:prstGeom>
          <a:solidFill>
            <a:srgbClr val="141E3A"/>
          </a:solidFill>
          <a:ln w="15240">
            <a:solidFill>
              <a:srgbClr val="FF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2834640"/>
            <a:ext cx="873252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May 2026  |  New Fed Governor Appointment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&amp; DXY Tone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310128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Fed Chair takes over from Powell — the appointment's political independence signal will be critical. Markets will price: (1) hawkish appointment = USD strength, rate expectations up, EM outflows; (2) dovish appointment = USD weakens, rate cut path re-opens, EM inflow opportunity. The new governor will also set the tone for how Fed communicates the inflation-growth tradeoff under tariff + energy shock simultaneously.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4663440"/>
            <a:ext cx="8732520" cy="347472"/>
          </a:xfrm>
          <a:prstGeom prst="rect">
            <a:avLst/>
          </a:prstGeom>
          <a:solidFill>
            <a:srgbClr val="1A2A4A"/>
          </a:solidFill>
          <a:ln w="15240">
            <a:solidFill>
              <a:srgbClr val="61D0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1D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Review all baskets post-WEO (April) and recalibrate after Fed Governor confirmation (May). These two events are the clearest triggers for portfolio rebalancing.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FD23-85C1-B3F7-7AEA-6F032D44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9E5AA3-4B38-8C2B-2645-18AEA65F0B96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940F16-45AD-C7F0-6436-3D665C6F1DFB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15E9FD-80C7-57C6-28F6-6767E5CD0E2B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817407-A5E8-3010-A3AC-2CEB9A7C332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206ABF-FCC7-1750-1940-B914C3A1E28F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9CBF64-EA70-E669-25EC-C8F88D86B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9C00392-6A4C-34A5-0983-3E51C9681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871762"/>
              </p:ext>
            </p:extLst>
          </p:nvPr>
        </p:nvGraphicFramePr>
        <p:xfrm>
          <a:off x="0" y="730526"/>
          <a:ext cx="9144000" cy="421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652242" imgH="5365851" progId="Excel.Sheet.12">
                  <p:link updateAutomatic="1"/>
                </p:oleObj>
              </mc:Choice>
              <mc:Fallback>
                <p:oleObj name="Worksheet" r:id="rId4" imgW="11652242" imgH="5365851" progId="Excel.Sheet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9C00392-6A4C-34A5-0983-3E51C9681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730526"/>
                        <a:ext cx="9144000" cy="4210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4">
            <a:extLst>
              <a:ext uri="{FF2B5EF4-FFF2-40B4-BE49-F238E27FC236}">
                <a16:creationId xmlns:a16="http://schemas.microsoft.com/office/drawing/2014/main" id="{B362E8E1-0A9A-99AD-2092-A57F70D45DF2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Bloomberg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1772737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BF135-6A8D-168A-0AAC-4137724D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89F7-AE22-0035-D7BE-FA0F495C5D0F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2CABB6-DF91-FF8A-C144-1AAF4281E4BD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5AE848-A346-C950-5CAC-6A428747AC25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81348A-3385-3019-23B1-261A638830C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D2BCED-2F76-3E46-75CC-D249A520FDA5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</a:t>
            </a:r>
            <a:endParaRPr lang="en-US" sz="78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39257E-DDAA-9371-FFF3-56BC4FB46739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062AD-DCDA-2C7F-4A46-6D317ADAC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C9A2CEA-D8C6-C803-3833-4BC950A17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64751"/>
              </p:ext>
            </p:extLst>
          </p:nvPr>
        </p:nvGraphicFramePr>
        <p:xfrm>
          <a:off x="0" y="920913"/>
          <a:ext cx="91440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963501" imgH="4610302" progId="Excel.Sheet.12">
                  <p:link updateAutomatic="1"/>
                </p:oleObj>
              </mc:Choice>
              <mc:Fallback>
                <p:oleObj name="Worksheet" r:id="rId4" imgW="11963501" imgH="4610302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C9A2CEA-D8C6-C803-3833-4BC950A17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920913"/>
                        <a:ext cx="9144000" cy="35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572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350BC-D5CB-6662-9FF7-23F37F08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203F26-9D4C-BA8A-0D85-C8DE4AF1ACFE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7B68D2-811E-6AFD-362C-9BE51437763E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5061A8-90E8-44AD-C5C6-23BC2265466C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PMI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7D21B5-2500-7D9E-0901-02ECA4903539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9F54E4-93C7-EC92-77D3-245D7B64E5FE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E6614F-BC75-D32F-B3A8-38874D3B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82321B-D198-7BAC-8DF4-210F1E2E6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642887"/>
              </p:ext>
            </p:extLst>
          </p:nvPr>
        </p:nvGraphicFramePr>
        <p:xfrm>
          <a:off x="921884" y="562896"/>
          <a:ext cx="7300232" cy="4307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791576" imgH="4597400" progId="Excel.Sheet.12">
                  <p:link updateAutomatic="1"/>
                </p:oleObj>
              </mc:Choice>
              <mc:Fallback>
                <p:oleObj name="Worksheet" r:id="rId4" imgW="7791576" imgH="4597400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C82321B-D198-7BAC-8DF4-210F1E2E6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1884" y="562896"/>
                        <a:ext cx="7300232" cy="4307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4">
            <a:extLst>
              <a:ext uri="{FF2B5EF4-FFF2-40B4-BE49-F238E27FC236}">
                <a16:creationId xmlns:a16="http://schemas.microsoft.com/office/drawing/2014/main" id="{793C10EA-3C6B-CBAC-5455-CDF987B4C3F2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2163284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186E-7C35-39A0-3156-D89B29BB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17E559-C4E1-E425-DFFA-811E6BCB19B6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6D8D11-25A7-400B-94D5-B9BF293539F8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FD0F87-F446-C290-D35D-145F146BD31C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PMI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1915E2-85A7-7DDB-662C-6AFE0BFF94E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DB2370-C737-2864-5DBF-229519DE15B2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80001D-B199-C6CA-1D39-9F1829E0D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6E6AC28-ABAB-BCA9-03D8-A16E868871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848101"/>
              </p:ext>
            </p:extLst>
          </p:nvPr>
        </p:nvGraphicFramePr>
        <p:xfrm>
          <a:off x="922502" y="555824"/>
          <a:ext cx="7298996" cy="4306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791576" imgH="4597400" progId="Excel.Sheet.12">
                  <p:link updateAutomatic="1"/>
                </p:oleObj>
              </mc:Choice>
              <mc:Fallback>
                <p:oleObj name="Worksheet" r:id="rId4" imgW="7791576" imgH="4597400" progId="Excel.Sheet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6E6AC28-ABAB-BCA9-03D8-A16E868871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502" y="555824"/>
                        <a:ext cx="7298996" cy="4306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4">
            <a:extLst>
              <a:ext uri="{FF2B5EF4-FFF2-40B4-BE49-F238E27FC236}">
                <a16:creationId xmlns:a16="http://schemas.microsoft.com/office/drawing/2014/main" id="{D1ACA0B3-48B9-EB80-B79D-9B8E77F8769D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791192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C385-0F48-FC24-FD9C-A3AB5BBF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BAB48F-14B8-0DA2-C3A0-1CC4B8648D48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B97696-7674-6984-61BA-CBCDB7669B8D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DAAC12-7C6A-1B5E-F822-74A8A8B43708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PMI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BB7AE3-AE27-BDAC-8070-A3D9532880E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5D3B26-1176-B59E-CA6B-E53DF96B31F4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EA85C-5341-9293-D01F-8812BECA8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1F06B60-459F-D49A-BC4B-94B20778A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541302"/>
              </p:ext>
            </p:extLst>
          </p:nvPr>
        </p:nvGraphicFramePr>
        <p:xfrm>
          <a:off x="922502" y="553212"/>
          <a:ext cx="7298996" cy="4306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791576" imgH="4597400" progId="Excel.Sheet.12">
                  <p:link updateAutomatic="1"/>
                </p:oleObj>
              </mc:Choice>
              <mc:Fallback>
                <p:oleObj name="Worksheet" r:id="rId4" imgW="7791576" imgH="4597400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1F06B60-459F-D49A-BC4B-94B20778A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502" y="553212"/>
                        <a:ext cx="7298996" cy="4306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4">
            <a:extLst>
              <a:ext uri="{FF2B5EF4-FFF2-40B4-BE49-F238E27FC236}">
                <a16:creationId xmlns:a16="http://schemas.microsoft.com/office/drawing/2014/main" id="{776FB59E-5E1A-C178-71FB-B31052838509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984425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B7F3F-8D1D-86EB-4811-B303384E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5AFA96-B923-53C9-E0C7-D1F944C5F1CE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0AA028-44C6-4236-9BC1-420B2D2D4DE6}"/>
              </a:ext>
            </a:extLst>
          </p:cNvPr>
          <p:cNvSpPr/>
          <p:nvPr/>
        </p:nvSpPr>
        <p:spPr>
          <a:xfrm>
            <a:off x="0" y="475488"/>
            <a:ext cx="9144000" cy="45720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705A7E-22D7-033B-80D2-DF8D6D2ADDB4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Growth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C95D62-165F-B68D-C58E-2189A7F1EE4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E"/>
          </a:solidFill>
          <a:ln w="12700">
            <a:solidFill>
              <a:srgbClr val="060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AACCB8-D59A-117B-5BC1-E490F27D3CBA}"/>
              </a:ext>
            </a:extLst>
          </p:cNvPr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DB7D66-86AB-06C4-167F-56C0BFEC5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863" y="-137808"/>
            <a:ext cx="1947849" cy="751104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52569F0-DBA8-9AB7-BAAA-E847BB9C3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32802"/>
              </p:ext>
            </p:extLst>
          </p:nvPr>
        </p:nvGraphicFramePr>
        <p:xfrm>
          <a:off x="0" y="803672"/>
          <a:ext cx="9144000" cy="3536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461691" imgH="4432502" progId="Excel.Sheet.12">
                  <p:link updateAutomatic="1"/>
                </p:oleObj>
              </mc:Choice>
              <mc:Fallback>
                <p:oleObj name="Worksheet" r:id="rId4" imgW="11461691" imgH="4432502" progId="Excel.Sheet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52569F0-DBA8-9AB7-BAAA-E847BB9C31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803672"/>
                        <a:ext cx="9144000" cy="3536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4">
            <a:extLst>
              <a:ext uri="{FF2B5EF4-FFF2-40B4-BE49-F238E27FC236}">
                <a16:creationId xmlns:a16="http://schemas.microsoft.com/office/drawing/2014/main" id="{B37B90F7-9FE1-AD3C-4992-5B9A975AB619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Bloomberg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427895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3007</Words>
  <Application>Microsoft Office PowerPoint</Application>
  <PresentationFormat>On-screen Show (16:9)</PresentationFormat>
  <Paragraphs>432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Links</vt:lpstr>
      </vt:variant>
      <vt:variant>
        <vt:i4>7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Office Theme</vt:lpstr>
      <vt:lpstr>https://d.docs.live.net/51761b2db79a49e1/ACER/Desktop/18052020 USB Drive/BBLAM/Database/2019 Database/20230102 MSCI World Cross Country Cross Sector.xlsx!CHG PCT 2026 YTD!R20C2:R36C14</vt:lpstr>
      <vt:lpstr>https://d.docs.live.net/51761b2db79a49e1/ACER/Desktop/18052020 USB Drive/BBLAM/Database/2019 Database/ASEAN Data Base/20260127 For ASEAN_ C-Overview_Revamp.xlsx!GDP Revamp!R43C4:R74C20</vt:lpstr>
      <vt:lpstr>https://d.docs.live.net/51761b2db79a49e1/ACER/Desktop/18052020 USB Drive/BBLAM/Database/2019 Database/ASEAN Data Base/20260127 For ASEAN_ C-Overview_Revamp.xlsx!Inflation_PMI!Print_Area</vt:lpstr>
      <vt:lpstr>https://d.docs.live.net/51761b2db79a49e1/ACER/Desktop/18052020 USB Drive/BBLAM/Database/2019 Database/ASEAN Data Base/20260127 For ASEAN_ C-Overview_Revamp.xlsx!Inflation_PMI!R94C4:R117C17</vt:lpstr>
      <vt:lpstr>https://d.docs.live.net/51761b2db79a49e1/ACER/Desktop/18052020 USB Drive/BBLAM/Database/2019 Database/ASEAN Data Base/20260127 For ASEAN_ C-Overview_Revamp.xlsx!Inflation_PMI!R145C4:R168C17</vt:lpstr>
      <vt:lpstr>https://d.docs.live.net/51761b2db79a49e1/ACER/Desktop/18052020 USB Drive/BBLAM/Database/2019 Database/ASEAN Data Base/20260127 For ASEAN_ C-Overview_Revamp.xlsx!Inflation_PMI!R195C4:R218C17</vt:lpstr>
      <vt:lpstr>https://d.docs.live.net/51761b2db79a49e1/ACER/Desktop/18052020 USB Drive/BBLAM/Database/2019 Database/ASEAN Data Base/20260127 For ASEAN_ C-Overview_Revamp.xlsx!Exports!Print_Area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Geopolitical Tensions &amp; Investment Strategy 2025–2026</dc:title>
  <dc:subject>PptxGenJS Presentation</dc:subject>
  <dc:creator>PptxGenJS</dc:creator>
  <cp:lastModifiedBy>MT 295</cp:lastModifiedBy>
  <cp:revision>4</cp:revision>
  <dcterms:created xsi:type="dcterms:W3CDTF">2026-04-01T03:10:08Z</dcterms:created>
  <dcterms:modified xsi:type="dcterms:W3CDTF">2026-04-01T08:15:47Z</dcterms:modified>
</cp:coreProperties>
</file>